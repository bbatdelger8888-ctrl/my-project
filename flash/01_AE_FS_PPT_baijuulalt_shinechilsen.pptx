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2.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13.xml" ContentType="application/vnd.openxmlformats-officedocument.theme+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xml" ContentType="application/vnd.openxmlformats-officedocument.presentationml.notesSlide+xml"/>
  <Override PartName="/ppt/charts/chart5.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6.xml" ContentType="application/vnd.openxmlformats-officedocument.drawingml.chart+xml"/>
  <Override PartName="/ppt/charts/style2.xml" ContentType="application/vnd.ms-office.chartstyle+xml"/>
  <Override PartName="/ppt/charts/colors2.xml" ContentType="application/vnd.ms-office.chartcolorstyle+xml"/>
  <Override PartName="/ppt/charts/chartEx1.xml" ContentType="application/vnd.ms-office.chartex+xml"/>
  <Override PartName="/ppt/charts/style3.xml" ContentType="application/vnd.ms-office.chartstyle+xml"/>
  <Override PartName="/ppt/charts/colors3.xml" ContentType="application/vnd.ms-office.chartcolorstyle+xml"/>
  <Override PartName="/ppt/notesSlides/notesSlide2.xml" ContentType="application/vnd.openxmlformats-officedocument.presentationml.notesSlide+xml"/>
  <Override PartName="/ppt/charts/chart7.xml" ContentType="application/vnd.openxmlformats-officedocument.drawingml.chart+xml"/>
  <Override PartName="/ppt/charts/chartEx2.xml" ContentType="application/vnd.ms-office.chartex+xml"/>
  <Override PartName="/ppt/charts/style4.xml" ContentType="application/vnd.ms-office.chartstyle+xml"/>
  <Override PartName="/ppt/charts/colors4.xml" ContentType="application/vnd.ms-office.chartcolorstyle+xml"/>
  <Override PartName="/ppt/theme/themeOverride2.xml" ContentType="application/vnd.openxmlformats-officedocument.themeOverride+xml"/>
  <Override PartName="/ppt/notesSlides/notesSlide3.xml" ContentType="application/vnd.openxmlformats-officedocument.presentationml.notesSlide+xml"/>
  <Override PartName="/ppt/charts/chart8.xml" ContentType="application/vnd.openxmlformats-officedocument.drawingml.chart+xml"/>
  <Override PartName="/ppt/charts/style5.xml" ContentType="application/vnd.ms-office.chartstyle+xml"/>
  <Override PartName="/ppt/charts/colors5.xml" ContentType="application/vnd.ms-office.chartcolorstyle+xml"/>
  <Override PartName="/ppt/charts/chart9.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3.xml" ContentType="application/vnd.openxmlformats-officedocument.themeOverride+xml"/>
  <Override PartName="/ppt/notesSlides/notesSlide4.xml" ContentType="application/vnd.openxmlformats-officedocument.presentationml.notesSlide+xml"/>
  <Override PartName="/ppt/charts/chart10.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 id="2147483672" r:id="rId6"/>
    <p:sldMasterId id="2147483684" r:id="rId7"/>
    <p:sldMasterId id="2147483696" r:id="rId8"/>
    <p:sldMasterId id="2147483708" r:id="rId9"/>
    <p:sldMasterId id="2147483720" r:id="rId10"/>
    <p:sldMasterId id="2147483732" r:id="rId11"/>
    <p:sldMasterId id="2147483744" r:id="rId12"/>
    <p:sldMasterId id="2147483756" r:id="rId13"/>
    <p:sldMasterId id="2147483768" r:id="rId14"/>
    <p:sldMasterId id="2147483780" r:id="rId15"/>
    <p:sldMasterId id="2147483792" r:id="rId16"/>
    <p:sldMasterId id="2147483804" r:id="rId17"/>
  </p:sldMasterIdLst>
  <p:notesMasterIdLst>
    <p:notesMasterId r:id="rId41"/>
  </p:notesMasterIdLst>
  <p:sldIdLst>
    <p:sldId id="335" r:id="rId18"/>
    <p:sldId id="501" r:id="rId19"/>
    <p:sldId id="429" r:id="rId20"/>
    <p:sldId id="508" r:id="rId21"/>
    <p:sldId id="495" r:id="rId22"/>
    <p:sldId id="502" r:id="rId23"/>
    <p:sldId id="518" r:id="rId24"/>
    <p:sldId id="479" r:id="rId25"/>
    <p:sldId id="497" r:id="rId26"/>
    <p:sldId id="498" r:id="rId27"/>
    <p:sldId id="527" r:id="rId28"/>
    <p:sldId id="529" r:id="rId29"/>
    <p:sldId id="507" r:id="rId30"/>
    <p:sldId id="474" r:id="rId31"/>
    <p:sldId id="475" r:id="rId32"/>
    <p:sldId id="476" r:id="rId33"/>
    <p:sldId id="477" r:id="rId34"/>
    <p:sldId id="486" r:id="rId35"/>
    <p:sldId id="487" r:id="rId36"/>
    <p:sldId id="488" r:id="rId37"/>
    <p:sldId id="490" r:id="rId38"/>
    <p:sldId id="492" r:id="rId39"/>
    <p:sldId id="49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2422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47"/>
  </p:normalViewPr>
  <p:slideViewPr>
    <p:cSldViewPr snapToGrid="0" snapToObjects="1">
      <p:cViewPr varScale="1">
        <p:scale>
          <a:sx n="99" d="100"/>
          <a:sy n="99" d="100"/>
        </p:scale>
        <p:origin x="90"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 Target="slides/slide1.xml"/><Relationship Id="rId26" Type="http://schemas.openxmlformats.org/officeDocument/2006/relationships/slide" Target="slides/slide9.xml"/><Relationship Id="rId39"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4.xml"/><Relationship Id="rId34" Type="http://schemas.openxmlformats.org/officeDocument/2006/relationships/slide" Target="slides/slide17.xml"/><Relationship Id="rId42"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8.xml"/><Relationship Id="rId33" Type="http://schemas.openxmlformats.org/officeDocument/2006/relationships/slide" Target="slides/slide16.xml"/><Relationship Id="rId38"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3.xml"/><Relationship Id="rId29" Type="http://schemas.openxmlformats.org/officeDocument/2006/relationships/slide" Target="slides/slide12.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7.xml"/><Relationship Id="rId32" Type="http://schemas.openxmlformats.org/officeDocument/2006/relationships/slide" Target="slides/slide15.xml"/><Relationship Id="rId37" Type="http://schemas.openxmlformats.org/officeDocument/2006/relationships/slide" Target="slides/slide20.xml"/><Relationship Id="rId40" Type="http://schemas.openxmlformats.org/officeDocument/2006/relationships/slide" Target="slides/slide23.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slide" Target="slides/slide19.xml"/><Relationship Id="rId10" Type="http://schemas.openxmlformats.org/officeDocument/2006/relationships/slideMaster" Target="slideMasters/slideMaster7.xml"/><Relationship Id="rId19" Type="http://schemas.openxmlformats.org/officeDocument/2006/relationships/slide" Target="slides/slide2.xml"/><Relationship Id="rId31" Type="http://schemas.openxmlformats.org/officeDocument/2006/relationships/slide" Target="slides/slide14.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slide" Target="slides/slide13.xml"/><Relationship Id="rId35" Type="http://schemas.openxmlformats.org/officeDocument/2006/relationships/slide" Target="slides/slide18.xml"/><Relationship Id="rId43" Type="http://schemas.openxmlformats.org/officeDocument/2006/relationships/viewProps" Target="viewProps.xm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AppData\Roaming\Microsoft\Excel\ALTANERDENE_BASECASE-2026.09%20(version%202).xlsb" TargetMode="External"/><Relationship Id="rId2" Type="http://schemas.microsoft.com/office/2011/relationships/chartColorStyle" Target="colors2.xml"/><Relationship Id="rId1" Type="http://schemas.microsoft.com/office/2011/relationships/chartStyle" Target="style2.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8.xml.rels><?xml version="1.0" encoding="UTF-8" standalone="yes"?>
<Relationships xmlns="http://schemas.openxmlformats.org/package/2006/relationships"><Relationship Id="rId3" Type="http://schemas.openxmlformats.org/officeDocument/2006/relationships/oleObject" Target="file:///C:\Users\User\AppData\Roaming\Microsoft\Excel\ALTANERDENE_BASECASE-2026.09%20(version%202).xlsb" TargetMode="External"/><Relationship Id="rId2" Type="http://schemas.microsoft.com/office/2011/relationships/chartColorStyle" Target="colors5.xml"/><Relationship Id="rId1" Type="http://schemas.microsoft.com/office/2011/relationships/chartStyle" Target="style5.xml"/></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file:///C:\Users\User\AppData\Roaming\Microsoft\Excel\ALTANERDENE_BASECASE-2026.09%20(version%202).xlsb" TargetMode="External"/></Relationships>
</file>

<file path=ppt/charts/_rels/chart10.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package" Target="../embeddings/Microsoft_Excel_Worksheet2.xlsx"/></Relationships>
</file>

<file path=ppt/charts/_rels/chartEx1.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Users\User\AppData\Roaming\Microsoft\Excel\ALTANERDENE_BASECASE-2026.09%20(version%202).xlsb"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C:\Users\User\AppData\Roaming\Microsoft\Excel\ALTANERDENE_BASECASE-2026.09%20(version%202).xlsb" TargetMode="External"/><Relationship Id="rId4"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title>
      <c:tx>
        <c:rich>
          <a:bodyPr/>
          <a:lstStyle/>
          <a:p>
            <a:pPr>
              <a:defRPr sz="1200" b="1">
                <a:solidFill>
                  <a:srgbClr val="F2F2F0"/>
                </a:solidFill>
                <a:latin typeface="Arial"/>
              </a:defRPr>
            </a:pPr>
            <a:r>
              <a:rPr lang="mn-MN" sz="1200" b="1">
                <a:solidFill>
                  <a:srgbClr val="F2F2F0"/>
                </a:solidFill>
                <a:latin typeface="Arial"/>
              </a:rPr>
              <a:t>Олборлох элсний хэмжээ, мян.м³</a:t>
            </a:r>
          </a:p>
        </c:rich>
      </c:tx>
      <c:overlay val="0"/>
    </c:title>
    <c:autoTitleDeleted val="0"/>
    <c:view3D>
      <c:rotX val="15"/>
      <c:rotY val="20"/>
      <c:depthPercent val="100"/>
      <c:rAngAx val="0"/>
    </c:view3D>
    <c:floor>
      <c:thickness val="0"/>
      <c:spPr>
        <a:noFill/>
        <a:ln>
          <a:noFill/>
        </a:ln>
      </c:spPr>
    </c:floor>
    <c:sideWall>
      <c:thickness val="0"/>
      <c:spPr>
        <a:noFill/>
        <a:ln>
          <a:noFill/>
        </a:ln>
      </c:spPr>
    </c:sideWall>
    <c:backWall>
      <c:thickness val="0"/>
      <c:spPr>
        <a:noFill/>
        <a:ln>
          <a:noFill/>
        </a:ln>
      </c:spPr>
    </c:backWall>
    <c:plotArea>
      <c:layout/>
      <c:line3DChart>
        <c:grouping val="standard"/>
        <c:varyColors val="0"/>
        <c:ser>
          <c:idx val="0"/>
          <c:order val="0"/>
          <c:tx>
            <c:v>Элс</c:v>
          </c:tx>
          <c:spPr>
            <a:solidFill>
              <a:srgbClr val="F5E614"/>
            </a:solidFill>
            <a:ln>
              <a:noFill/>
            </a:ln>
          </c:spPr>
          <c:dLbls>
            <c:numFmt formatCode="#,##0.0" sourceLinked="0"/>
            <c:spPr>
              <a:solidFill>
                <a:srgbClr val="1E1E22">
                  <a:alpha val="80000"/>
                </a:srgbClr>
              </a:solidFill>
              <a:ln>
                <a:noFill/>
              </a:ln>
            </c:spPr>
            <c:txPr>
              <a:bodyPr/>
              <a:lstStyle/>
              <a:p>
                <a:pPr>
                  <a:defRPr sz="900" b="1">
                    <a:solidFill>
                      <a:srgbClr val="F2F2F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1"/>
              <c:pt idx="0">
                <c:v>2-B′</c:v>
              </c:pt>
              <c:pt idx="1">
                <c:v>3-B′</c:v>
              </c:pt>
              <c:pt idx="2">
                <c:v>4-B′</c:v>
              </c:pt>
              <c:pt idx="3">
                <c:v>5-B′</c:v>
              </c:pt>
              <c:pt idx="4">
                <c:v>6-B′</c:v>
              </c:pt>
              <c:pt idx="5">
                <c:v>7-B′</c:v>
              </c:pt>
              <c:pt idx="6">
                <c:v>8-B′</c:v>
              </c:pt>
              <c:pt idx="7">
                <c:v>9-C′</c:v>
              </c:pt>
              <c:pt idx="8">
                <c:v>2-B</c:v>
              </c:pt>
              <c:pt idx="9">
                <c:v>3-B</c:v>
              </c:pt>
              <c:pt idx="10">
                <c:v>4-C</c:v>
              </c:pt>
            </c:strLit>
          </c:cat>
          <c:val>
            <c:numLit>
              <c:formatCode>#,##0.0</c:formatCode>
              <c:ptCount val="11"/>
              <c:pt idx="0">
                <c:v>176</c:v>
              </c:pt>
              <c:pt idx="1">
                <c:v>148.38</c:v>
              </c:pt>
              <c:pt idx="2">
                <c:v>67.671000000000006</c:v>
              </c:pt>
              <c:pt idx="3">
                <c:v>216.40299999999999</c:v>
              </c:pt>
              <c:pt idx="4">
                <c:v>70.459999999999994</c:v>
              </c:pt>
              <c:pt idx="5">
                <c:v>47.295999999999999</c:v>
              </c:pt>
              <c:pt idx="6">
                <c:v>32.231000000000002</c:v>
              </c:pt>
              <c:pt idx="7">
                <c:v>4.8000000000000001E-2</c:v>
              </c:pt>
              <c:pt idx="8">
                <c:v>551.14599999999996</c:v>
              </c:pt>
              <c:pt idx="9">
                <c:v>543.71500000000003</c:v>
              </c:pt>
              <c:pt idx="10">
                <c:v>49.56</c:v>
              </c:pt>
            </c:numLit>
          </c:val>
          <c:smooth val="1"/>
          <c:extLst>
            <c:ext xmlns:c16="http://schemas.microsoft.com/office/drawing/2014/chart" uri="{C3380CC4-5D6E-409C-BE32-E72D297353CC}">
              <c16:uniqueId val="{00000000-01AF-4E2E-B432-3FD63544138F}"/>
            </c:ext>
          </c:extLst>
        </c:ser>
        <c:dLbls>
          <c:showLegendKey val="0"/>
          <c:showVal val="1"/>
          <c:showCatName val="0"/>
          <c:showSerName val="0"/>
          <c:showPercent val="0"/>
          <c:showBubbleSize val="0"/>
        </c:dLbls>
        <c:axId val="11"/>
        <c:axId val="12"/>
        <c:axId val="13"/>
      </c:line3DChart>
      <c:catAx>
        <c:axId val="11"/>
        <c:scaling>
          <c:orientation val="minMax"/>
        </c:scaling>
        <c:delete val="0"/>
        <c:axPos val="b"/>
        <c:majorGridlines>
          <c:spPr>
            <a:ln w="6350">
              <a:solidFill>
                <a:srgbClr val="6A6A70"/>
              </a:solidFill>
            </a:ln>
          </c:spPr>
        </c:majorGridlines>
        <c:numFmt formatCode="General" sourceLinked="0"/>
        <c:majorTickMark val="none"/>
        <c:minorTickMark val="none"/>
        <c:tickLblPos val="nextTo"/>
        <c:spPr>
          <a:ln w="6350">
            <a:solidFill>
              <a:srgbClr val="6A6A70"/>
            </a:solidFill>
          </a:ln>
        </c:spPr>
        <c:txPr>
          <a:bodyPr/>
          <a:lstStyle/>
          <a:p>
            <a:pPr>
              <a:defRPr sz="900" b="0">
                <a:solidFill>
                  <a:srgbClr val="D6D6D8"/>
                </a:solidFill>
                <a:latin typeface="Arial"/>
              </a:defRPr>
            </a:pPr>
            <a:endParaRPr lang="en-US"/>
          </a:p>
        </c:txPr>
        <c:crossAx val="12"/>
        <c:crosses val="autoZero"/>
        <c:auto val="1"/>
        <c:lblAlgn val="ctr"/>
        <c:lblOffset val="100"/>
        <c:tickLblSkip val="1"/>
        <c:noMultiLvlLbl val="0"/>
      </c:catAx>
      <c:valAx>
        <c:axId val="12"/>
        <c:scaling>
          <c:orientation val="minMax"/>
          <c:max val="600"/>
          <c:min val="0"/>
        </c:scaling>
        <c:delete val="0"/>
        <c:axPos val="l"/>
        <c:majorGridlines>
          <c:spPr>
            <a:ln w="6350">
              <a:solidFill>
                <a:srgbClr val="6A6A70"/>
              </a:solidFill>
            </a:ln>
          </c:spPr>
        </c:majorGridlines>
        <c:numFmt formatCode="#,##0;;&quot;-&quot;" sourceLinked="0"/>
        <c:majorTickMark val="none"/>
        <c:minorTickMark val="none"/>
        <c:tickLblPos val="nextTo"/>
        <c:spPr>
          <a:ln>
            <a:noFill/>
          </a:ln>
        </c:spPr>
        <c:txPr>
          <a:bodyPr/>
          <a:lstStyle/>
          <a:p>
            <a:pPr>
              <a:defRPr sz="900" b="0">
                <a:solidFill>
                  <a:srgbClr val="D6D6D8"/>
                </a:solidFill>
                <a:latin typeface="Arial"/>
              </a:defRPr>
            </a:pPr>
            <a:endParaRPr lang="en-US"/>
          </a:p>
        </c:txPr>
        <c:crossAx val="11"/>
        <c:crosses val="autoZero"/>
        <c:crossBetween val="between"/>
        <c:majorUnit val="150"/>
      </c:valAx>
      <c:serAx>
        <c:axId val="13"/>
        <c:scaling>
          <c:orientation val="minMax"/>
        </c:scaling>
        <c:delete val="1"/>
        <c:axPos val="b"/>
        <c:majorTickMark val="none"/>
        <c:minorTickMark val="none"/>
        <c:tickLblPos val="nextTo"/>
        <c:crossAx val="12"/>
        <c:crosses val="autoZero"/>
      </c:serAx>
      <c:spPr>
        <a:noFill/>
        <a:ln>
          <a:noFill/>
        </a:ln>
      </c:spPr>
    </c:plotArea>
    <c:plotVisOnly val="1"/>
    <c:dispBlanksAs val="gap"/>
    <c:showDLblsOverMax val="1"/>
  </c:chart>
  <c:spPr>
    <a:noFill/>
    <a:ln>
      <a:noFill/>
    </a:ln>
  </c:spPr>
  <c:txPr>
    <a:bodyPr/>
    <a:lstStyle/>
    <a:p>
      <a:pPr>
        <a:defRPr>
          <a:latin typeface="Arial"/>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title>
      <c:tx>
        <c:rich>
          <a:bodyPr/>
          <a:lstStyle/>
          <a:p>
            <a:pPr>
              <a:defRPr sz="1200" b="1">
                <a:solidFill>
                  <a:srgbClr val="F2F2F0"/>
                </a:solidFill>
                <a:latin typeface="Arial"/>
              </a:defRPr>
            </a:pPr>
            <a:r>
              <a:rPr lang="mn-MN" sz="1200" b="1">
                <a:solidFill>
                  <a:srgbClr val="F2F2F0"/>
                </a:solidFill>
                <a:latin typeface="Arial"/>
              </a:rPr>
              <a:t>Хуулах хөрсний хэмжээ, мян.м³</a:t>
            </a:r>
          </a:p>
        </c:rich>
      </c:tx>
      <c:overlay val="0"/>
    </c:title>
    <c:autoTitleDeleted val="0"/>
    <c:view3D>
      <c:rotX val="15"/>
      <c:rotY val="20"/>
      <c:depthPercent val="100"/>
      <c:rAngAx val="0"/>
    </c:view3D>
    <c:floor>
      <c:thickness val="0"/>
      <c:spPr>
        <a:noFill/>
        <a:ln>
          <a:noFill/>
        </a:ln>
      </c:spPr>
    </c:floor>
    <c:sideWall>
      <c:thickness val="0"/>
      <c:spPr>
        <a:noFill/>
        <a:ln>
          <a:noFill/>
        </a:ln>
      </c:spPr>
    </c:sideWall>
    <c:backWall>
      <c:thickness val="0"/>
      <c:spPr>
        <a:noFill/>
        <a:ln>
          <a:noFill/>
        </a:ln>
      </c:spPr>
    </c:backWall>
    <c:plotArea>
      <c:layout/>
      <c:line3DChart>
        <c:grouping val="standard"/>
        <c:varyColors val="0"/>
        <c:ser>
          <c:idx val="0"/>
          <c:order val="0"/>
          <c:tx>
            <c:v>Хөрс</c:v>
          </c:tx>
          <c:spPr>
            <a:solidFill>
              <a:srgbClr val="92D050"/>
            </a:solidFill>
            <a:ln>
              <a:noFill/>
            </a:ln>
          </c:spPr>
          <c:dLbls>
            <c:numFmt formatCode="#,##0.0" sourceLinked="0"/>
            <c:spPr>
              <a:solidFill>
                <a:srgbClr val="1E1E22">
                  <a:alpha val="80000"/>
                </a:srgbClr>
              </a:solidFill>
              <a:ln>
                <a:noFill/>
              </a:ln>
            </c:spPr>
            <c:txPr>
              <a:bodyPr/>
              <a:lstStyle/>
              <a:p>
                <a:pPr>
                  <a:defRPr sz="900" b="1">
                    <a:solidFill>
                      <a:srgbClr val="F2F2F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1"/>
              <c:pt idx="0">
                <c:v>2-B′</c:v>
              </c:pt>
              <c:pt idx="1">
                <c:v>3-B′</c:v>
              </c:pt>
              <c:pt idx="2">
                <c:v>4-B′</c:v>
              </c:pt>
              <c:pt idx="3">
                <c:v>5-B′</c:v>
              </c:pt>
              <c:pt idx="4">
                <c:v>6-B′</c:v>
              </c:pt>
              <c:pt idx="5">
                <c:v>7-B′</c:v>
              </c:pt>
              <c:pt idx="6">
                <c:v>8-B′</c:v>
              </c:pt>
              <c:pt idx="7">
                <c:v>9-C′</c:v>
              </c:pt>
              <c:pt idx="8">
                <c:v>2-B</c:v>
              </c:pt>
              <c:pt idx="9">
                <c:v>3-B</c:v>
              </c:pt>
              <c:pt idx="10">
                <c:v>4-C</c:v>
              </c:pt>
            </c:strLit>
          </c:cat>
          <c:val>
            <c:numLit>
              <c:formatCode>#,##0.0</c:formatCode>
              <c:ptCount val="11"/>
              <c:pt idx="0">
                <c:v>97.885999999999996</c:v>
              </c:pt>
              <c:pt idx="1">
                <c:v>79.173000000000002</c:v>
              </c:pt>
              <c:pt idx="2">
                <c:v>20.834</c:v>
              </c:pt>
              <c:pt idx="3">
                <c:v>194.624</c:v>
              </c:pt>
              <c:pt idx="4">
                <c:v>155.624</c:v>
              </c:pt>
              <c:pt idx="5">
                <c:v>97.001000000000005</c:v>
              </c:pt>
              <c:pt idx="6">
                <c:v>69.528000000000006</c:v>
              </c:pt>
              <c:pt idx="7">
                <c:v>0.14899999999999999</c:v>
              </c:pt>
              <c:pt idx="8">
                <c:v>415.15600000000001</c:v>
              </c:pt>
              <c:pt idx="9">
                <c:v>643.79</c:v>
              </c:pt>
              <c:pt idx="10">
                <c:v>87.087000000000003</c:v>
              </c:pt>
            </c:numLit>
          </c:val>
          <c:smooth val="1"/>
          <c:extLst>
            <c:ext xmlns:c16="http://schemas.microsoft.com/office/drawing/2014/chart" uri="{C3380CC4-5D6E-409C-BE32-E72D297353CC}">
              <c16:uniqueId val="{00000000-F626-4F9E-97F3-F5E1D9852B08}"/>
            </c:ext>
          </c:extLst>
        </c:ser>
        <c:dLbls>
          <c:showLegendKey val="0"/>
          <c:showVal val="1"/>
          <c:showCatName val="0"/>
          <c:showSerName val="0"/>
          <c:showPercent val="0"/>
          <c:showBubbleSize val="0"/>
        </c:dLbls>
        <c:axId val="11"/>
        <c:axId val="12"/>
        <c:axId val="13"/>
      </c:line3DChart>
      <c:catAx>
        <c:axId val="11"/>
        <c:scaling>
          <c:orientation val="minMax"/>
        </c:scaling>
        <c:delete val="0"/>
        <c:axPos val="b"/>
        <c:majorGridlines>
          <c:spPr>
            <a:ln w="6350">
              <a:solidFill>
                <a:srgbClr val="6A6A70"/>
              </a:solidFill>
            </a:ln>
          </c:spPr>
        </c:majorGridlines>
        <c:numFmt formatCode="General" sourceLinked="0"/>
        <c:majorTickMark val="none"/>
        <c:minorTickMark val="none"/>
        <c:tickLblPos val="nextTo"/>
        <c:spPr>
          <a:ln w="6350">
            <a:solidFill>
              <a:srgbClr val="6A6A70"/>
            </a:solidFill>
          </a:ln>
        </c:spPr>
        <c:txPr>
          <a:bodyPr/>
          <a:lstStyle/>
          <a:p>
            <a:pPr>
              <a:defRPr sz="900" b="0">
                <a:solidFill>
                  <a:srgbClr val="D6D6D8"/>
                </a:solidFill>
                <a:latin typeface="Arial"/>
              </a:defRPr>
            </a:pPr>
            <a:endParaRPr lang="en-US"/>
          </a:p>
        </c:txPr>
        <c:crossAx val="12"/>
        <c:crosses val="autoZero"/>
        <c:auto val="1"/>
        <c:lblAlgn val="ctr"/>
        <c:lblOffset val="100"/>
        <c:tickLblSkip val="1"/>
        <c:noMultiLvlLbl val="0"/>
      </c:catAx>
      <c:valAx>
        <c:axId val="12"/>
        <c:scaling>
          <c:orientation val="minMax"/>
          <c:max val="800"/>
          <c:min val="0"/>
        </c:scaling>
        <c:delete val="0"/>
        <c:axPos val="l"/>
        <c:majorGridlines>
          <c:spPr>
            <a:ln w="6350">
              <a:solidFill>
                <a:srgbClr val="6A6A70"/>
              </a:solidFill>
            </a:ln>
          </c:spPr>
        </c:majorGridlines>
        <c:numFmt formatCode="#,##0;;&quot;-&quot;" sourceLinked="0"/>
        <c:majorTickMark val="none"/>
        <c:minorTickMark val="none"/>
        <c:tickLblPos val="nextTo"/>
        <c:spPr>
          <a:ln>
            <a:noFill/>
          </a:ln>
        </c:spPr>
        <c:txPr>
          <a:bodyPr/>
          <a:lstStyle/>
          <a:p>
            <a:pPr>
              <a:defRPr sz="900" b="0">
                <a:solidFill>
                  <a:srgbClr val="D6D6D8"/>
                </a:solidFill>
                <a:latin typeface="Arial"/>
              </a:defRPr>
            </a:pPr>
            <a:endParaRPr lang="en-US"/>
          </a:p>
        </c:txPr>
        <c:crossAx val="11"/>
        <c:crosses val="autoZero"/>
        <c:crossBetween val="between"/>
        <c:majorUnit val="200"/>
      </c:valAx>
      <c:serAx>
        <c:axId val="13"/>
        <c:scaling>
          <c:orientation val="minMax"/>
        </c:scaling>
        <c:delete val="1"/>
        <c:axPos val="b"/>
        <c:majorTickMark val="none"/>
        <c:minorTickMark val="none"/>
        <c:tickLblPos val="nextTo"/>
        <c:crossAx val="12"/>
        <c:crosses val="autoZero"/>
      </c:serAx>
      <c:spPr>
        <a:noFill/>
        <a:ln>
          <a:noFill/>
        </a:ln>
      </c:spPr>
    </c:plotArea>
    <c:plotVisOnly val="1"/>
    <c:dispBlanksAs val="gap"/>
    <c:showDLblsOverMax val="1"/>
  </c:chart>
  <c:spPr>
    <a:noFill/>
    <a:ln>
      <a:noFill/>
    </a:ln>
  </c:spPr>
  <c:txPr>
    <a:bodyPr/>
    <a:lstStyle/>
    <a:p>
      <a:pPr>
        <a:defRPr>
          <a:latin typeface="Arial"/>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Values</c:v>
          </c:tx>
          <c:spPr>
            <a:solidFill>
              <a:srgbClr val="5E5E66"/>
            </a:solidFill>
            <a:ln>
              <a:noFill/>
            </a:ln>
          </c:spPr>
          <c:invertIfNegative val="1"/>
          <c:dPt>
            <c:idx val="5"/>
            <c:invertIfNegative val="1"/>
            <c:bubble3D val="0"/>
            <c:spPr>
              <a:solidFill>
                <a:srgbClr val="F5E614"/>
              </a:solidFill>
              <a:ln>
                <a:noFill/>
              </a:ln>
            </c:spPr>
            <c:extLst>
              <c:ext xmlns:c16="http://schemas.microsoft.com/office/drawing/2014/chart" uri="{C3380CC4-5D6E-409C-BE32-E72D297353CC}">
                <c16:uniqueId val="{00000001-F8B4-4DA3-9D27-1EB2F0A5423C}"/>
              </c:ext>
            </c:extLst>
          </c:dPt>
          <c:dLbls>
            <c:numFmt formatCode="0.0&quot;%&quot;" sourceLinked="0"/>
            <c:spPr>
              <a:noFill/>
              <a:ln>
                <a:noFill/>
              </a:ln>
              <a:effectLst/>
            </c:spPr>
            <c:txPr>
              <a:bodyPr wrap="none"/>
              <a:lstStyle/>
              <a:p>
                <a:pPr>
                  <a:defRPr sz="1400" b="1">
                    <a:solidFill>
                      <a:srgbClr val="F2F2F0"/>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6"/>
              <c:pt idx="0">
                <c:v>Хяналт, мониторинг</c:v>
              </c:pt>
              <c:pt idx="1">
                <c:v>Бэлтгэл ажил</c:v>
              </c:pt>
              <c:pt idx="2">
                <c:v>Байгаль орчин хамгаалах</c:v>
              </c:pt>
              <c:pt idx="3">
                <c:v>Биологийн нөхөн сэргээлт</c:v>
              </c:pt>
              <c:pt idx="4">
                <c:v>Техникийн нөхөн сэргээлт</c:v>
              </c:pt>
              <c:pt idx="5">
                <c:v>Уурхайн хаалт</c:v>
              </c:pt>
            </c:strLit>
          </c:cat>
          <c:val>
            <c:numLit>
              <c:formatCode>0.0"%"</c:formatCode>
              <c:ptCount val="6"/>
              <c:pt idx="0">
                <c:v>2.7</c:v>
              </c:pt>
              <c:pt idx="1">
                <c:v>4.3</c:v>
              </c:pt>
              <c:pt idx="2">
                <c:v>11.5</c:v>
              </c:pt>
              <c:pt idx="3">
                <c:v>25.9</c:v>
              </c:pt>
              <c:pt idx="4">
                <c:v>27.6</c:v>
              </c:pt>
              <c:pt idx="5">
                <c:v>27.9</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F8B4-4DA3-9D27-1EB2F0A5423C}"/>
            </c:ext>
          </c:extLst>
        </c:ser>
        <c:dLbls>
          <c:showLegendKey val="0"/>
          <c:showVal val="0"/>
          <c:showCatName val="0"/>
          <c:showSerName val="0"/>
          <c:showPercent val="0"/>
          <c:showBubbleSize val="0"/>
        </c:dLbls>
        <c:gapWidth val="50"/>
        <c:axId val="1"/>
        <c:axId val="2"/>
      </c:barChart>
      <c:catAx>
        <c:axId val="1"/>
        <c:scaling>
          <c:orientation val="minMax"/>
        </c:scaling>
        <c:delete val="0"/>
        <c:axPos val="l"/>
        <c:numFmt formatCode="General" sourceLinked="0"/>
        <c:majorTickMark val="none"/>
        <c:minorTickMark val="none"/>
        <c:tickLblPos val="nextTo"/>
        <c:spPr>
          <a:ln w="9525">
            <a:solidFill>
              <a:srgbClr val="525253"/>
            </a:solidFill>
          </a:ln>
        </c:spPr>
        <c:txPr>
          <a:bodyPr rot="0" vert="horz"/>
          <a:lstStyle/>
          <a:p>
            <a:pPr>
              <a:defRPr sz="1400" b="0">
                <a:solidFill>
                  <a:srgbClr val="F2F2F0"/>
                </a:solidFill>
                <a:latin typeface="Arial"/>
              </a:defRPr>
            </a:pPr>
            <a:endParaRPr lang="en-US"/>
          </a:p>
        </c:txPr>
        <c:crossAx val="2"/>
        <c:crosses val="autoZero"/>
        <c:auto val="1"/>
        <c:lblAlgn val="ctr"/>
        <c:lblOffset val="100"/>
        <c:noMultiLvlLbl val="1"/>
      </c:catAx>
      <c:valAx>
        <c:axId val="2"/>
        <c:scaling>
          <c:orientation val="minMax"/>
          <c:max val="50"/>
          <c:min val="0"/>
        </c:scaling>
        <c:delete val="1"/>
        <c:axPos val="b"/>
        <c:numFmt formatCode="0.0&quot;%&quot;"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5E5E66"/>
            </a:solidFill>
            <a:ln>
              <a:noFill/>
            </a:ln>
          </c:spPr>
          <c:invertIfNegative val="1"/>
          <c:dPt>
            <c:idx val="0"/>
            <c:invertIfNegative val="1"/>
            <c:bubble3D val="0"/>
            <c:spPr>
              <a:solidFill>
                <a:srgbClr val="F5E614"/>
              </a:solidFill>
              <a:ln>
                <a:noFill/>
              </a:ln>
            </c:spPr>
            <c:extLst>
              <c:ext xmlns:c16="http://schemas.microsoft.com/office/drawing/2014/chart" uri="{C3380CC4-5D6E-409C-BE32-E72D297353CC}">
                <c16:uniqueId val="{00000001-DF96-4C58-ACBE-9CE7310BE01C}"/>
              </c:ext>
            </c:extLst>
          </c:dPt>
          <c:dLbls>
            <c:numFmt formatCode="0.0&quot; га&quot;" sourceLinked="0"/>
            <c:spPr>
              <a:noFill/>
              <a:ln>
                <a:noFill/>
              </a:ln>
              <a:effectLst/>
            </c:spPr>
            <c:txPr>
              <a:bodyPr wrap="none"/>
              <a:lstStyle/>
              <a:p>
                <a:pPr>
                  <a:defRPr sz="1400" b="1">
                    <a:solidFill>
                      <a:srgbClr val="F2F2F0"/>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7"/>
              <c:pt idx="0">
                <c:v>1</c:v>
              </c:pt>
              <c:pt idx="1">
                <c:v>2</c:v>
              </c:pt>
              <c:pt idx="2">
                <c:v>3</c:v>
              </c:pt>
              <c:pt idx="3">
                <c:v>4</c:v>
              </c:pt>
              <c:pt idx="4">
                <c:v>5</c:v>
              </c:pt>
              <c:pt idx="5">
                <c:v>6</c:v>
              </c:pt>
              <c:pt idx="6">
                <c:v>7</c:v>
              </c:pt>
            </c:strLit>
          </c:cat>
          <c:val>
            <c:numLit>
              <c:formatCode>General</c:formatCode>
              <c:ptCount val="7"/>
              <c:pt idx="0">
                <c:v>29.2</c:v>
              </c:pt>
              <c:pt idx="1">
                <c:v>8.3000000000000007</c:v>
              </c:pt>
              <c:pt idx="2">
                <c:v>9.5</c:v>
              </c:pt>
              <c:pt idx="3">
                <c:v>0.7</c:v>
              </c:pt>
              <c:pt idx="4">
                <c:v>0.8</c:v>
              </c:pt>
              <c:pt idx="5">
                <c:v>0.2</c:v>
              </c:pt>
              <c:pt idx="6">
                <c:v>0.2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DF96-4C58-ACBE-9CE7310BE01C}"/>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525253"/>
            </a:solidFill>
          </a:ln>
        </c:spPr>
        <c:txPr>
          <a:bodyPr rot="0" vert="horz"/>
          <a:lstStyle/>
          <a:p>
            <a:pPr>
              <a:defRPr sz="1400" b="0">
                <a:solidFill>
                  <a:srgbClr val="F2F2F0"/>
                </a:solidFill>
                <a:latin typeface="Arial"/>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cap="all" baseline="0">
                <a:solidFill>
                  <a:schemeClr val="tx1">
                    <a:lumMod val="65000"/>
                    <a:lumOff val="35000"/>
                  </a:schemeClr>
                </a:solidFill>
                <a:latin typeface="+mn-lt"/>
                <a:ea typeface="+mn-ea"/>
                <a:cs typeface="+mn-cs"/>
              </a:defRPr>
            </a:pPr>
            <a:endParaRPr lang="en-US" dirty="0"/>
          </a:p>
          <a:p>
            <a:pPr>
              <a:defRPr/>
            </a:pPr>
            <a:endParaRPr lang="en-US" dirty="0"/>
          </a:p>
        </c:rich>
      </c:tx>
      <c:overlay val="0"/>
      <c:spPr>
        <a:noFill/>
        <a:ln>
          <a:noFill/>
        </a:ln>
        <a:effectLst/>
      </c:spPr>
      <c:txPr>
        <a:bodyPr rot="0" spcFirstLastPara="1" vertOverflow="ellipsis" vert="horz" wrap="square" anchor="ctr" anchorCtr="1"/>
        <a:lstStyle/>
        <a:p>
          <a:pPr>
            <a:defRPr sz="1800" b="1" i="0" u="none" strike="noStrike" kern="1200" cap="all" baseline="0">
              <a:solidFill>
                <a:schemeClr val="tx1">
                  <a:lumMod val="65000"/>
                  <a:lumOff val="35000"/>
                </a:schemeClr>
              </a:solidFill>
              <a:latin typeface="+mn-lt"/>
              <a:ea typeface="+mn-ea"/>
              <a:cs typeface="+mn-cs"/>
            </a:defRPr>
          </a:pPr>
          <a:endParaRPr lang="en-US"/>
        </a:p>
      </c:txPr>
    </c:title>
    <c:autoTitleDeleted val="0"/>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
          <c:y val="0.14803258967629046"/>
          <c:w val="0.93888888888888888"/>
          <c:h val="0.75474518810148727"/>
        </c:manualLayout>
      </c:layout>
      <c:pie3DChart>
        <c:varyColors val="1"/>
        <c:ser>
          <c:idx val="0"/>
          <c:order val="0"/>
          <c:dPt>
            <c:idx val="0"/>
            <c:bubble3D val="0"/>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extLst>
              <c:ext xmlns:c16="http://schemas.microsoft.com/office/drawing/2014/chart" uri="{C3380CC4-5D6E-409C-BE32-E72D297353CC}">
                <c16:uniqueId val="{00000001-75B3-49C5-AC89-E58E341B6FB4}"/>
              </c:ext>
            </c:extLst>
          </c:dPt>
          <c:dPt>
            <c:idx val="1"/>
            <c:bubble3D val="0"/>
            <c:spPr>
              <a:solidFill>
                <a:schemeClr val="accent2">
                  <a:alpha val="90000"/>
                </a:schemeClr>
              </a:solidFill>
              <a:ln w="19050">
                <a:solidFill>
                  <a:schemeClr val="accent2">
                    <a:lumMod val="75000"/>
                  </a:schemeClr>
                </a:solidFill>
              </a:ln>
              <a:effectLst>
                <a:innerShdw blurRad="114300">
                  <a:schemeClr val="accent2">
                    <a:lumMod val="75000"/>
                  </a:schemeClr>
                </a:innerShdw>
              </a:effectLst>
              <a:scene3d>
                <a:camera prst="orthographicFront"/>
                <a:lightRig rig="threePt" dir="t"/>
              </a:scene3d>
              <a:sp3d contourW="19050" prstMaterial="flat">
                <a:contourClr>
                  <a:schemeClr val="accent2">
                    <a:lumMod val="75000"/>
                  </a:schemeClr>
                </a:contourClr>
              </a:sp3d>
            </c:spPr>
            <c:extLst>
              <c:ext xmlns:c16="http://schemas.microsoft.com/office/drawing/2014/chart" uri="{C3380CC4-5D6E-409C-BE32-E72D297353CC}">
                <c16:uniqueId val="{00000003-75B3-49C5-AC89-E58E341B6FB4}"/>
              </c:ext>
            </c:extLst>
          </c:dPt>
          <c:dPt>
            <c:idx val="2"/>
            <c:bubble3D val="0"/>
            <c:spPr>
              <a:solidFill>
                <a:schemeClr val="accent3">
                  <a:alpha val="90000"/>
                </a:schemeClr>
              </a:solidFill>
              <a:ln w="19050">
                <a:solidFill>
                  <a:schemeClr val="accent3">
                    <a:lumMod val="75000"/>
                  </a:schemeClr>
                </a:solidFill>
              </a:ln>
              <a:effectLst>
                <a:innerShdw blurRad="114300">
                  <a:schemeClr val="accent3">
                    <a:lumMod val="75000"/>
                  </a:schemeClr>
                </a:innerShdw>
              </a:effectLst>
              <a:scene3d>
                <a:camera prst="orthographicFront"/>
                <a:lightRig rig="threePt" dir="t"/>
              </a:scene3d>
              <a:sp3d contourW="19050" prstMaterial="flat">
                <a:contourClr>
                  <a:schemeClr val="accent3">
                    <a:lumMod val="75000"/>
                  </a:schemeClr>
                </a:contourClr>
              </a:sp3d>
            </c:spPr>
            <c:extLst>
              <c:ext xmlns:c16="http://schemas.microsoft.com/office/drawing/2014/chart" uri="{C3380CC4-5D6E-409C-BE32-E72D297353CC}">
                <c16:uniqueId val="{00000005-75B3-49C5-AC89-E58E341B6FB4}"/>
              </c:ext>
            </c:extLst>
          </c:dPt>
          <c:dPt>
            <c:idx val="3"/>
            <c:bubble3D val="0"/>
            <c:spPr>
              <a:solidFill>
                <a:schemeClr val="accent4">
                  <a:alpha val="90000"/>
                </a:schemeClr>
              </a:solidFill>
              <a:ln w="19050">
                <a:solidFill>
                  <a:schemeClr val="accent4">
                    <a:lumMod val="75000"/>
                  </a:schemeClr>
                </a:solidFill>
              </a:ln>
              <a:effectLst>
                <a:innerShdw blurRad="114300">
                  <a:schemeClr val="accent4">
                    <a:lumMod val="75000"/>
                  </a:schemeClr>
                </a:innerShdw>
              </a:effectLst>
              <a:scene3d>
                <a:camera prst="orthographicFront"/>
                <a:lightRig rig="threePt" dir="t"/>
              </a:scene3d>
              <a:sp3d contourW="19050" prstMaterial="flat">
                <a:contourClr>
                  <a:schemeClr val="accent4">
                    <a:lumMod val="75000"/>
                  </a:schemeClr>
                </a:contourClr>
              </a:sp3d>
            </c:spPr>
            <c:extLst>
              <c:ext xmlns:c16="http://schemas.microsoft.com/office/drawing/2014/chart" uri="{C3380CC4-5D6E-409C-BE32-E72D297353CC}">
                <c16:uniqueId val="{00000007-75B3-49C5-AC89-E58E341B6FB4}"/>
              </c:ext>
            </c:extLst>
          </c:dPt>
          <c:dPt>
            <c:idx val="4"/>
            <c:bubble3D val="0"/>
            <c:spPr>
              <a:solidFill>
                <a:schemeClr val="accent5">
                  <a:alpha val="90000"/>
                </a:schemeClr>
              </a:solidFill>
              <a:ln w="19050">
                <a:solidFill>
                  <a:schemeClr val="accent5">
                    <a:lumMod val="75000"/>
                  </a:schemeClr>
                </a:solidFill>
              </a:ln>
              <a:effectLst>
                <a:innerShdw blurRad="114300">
                  <a:schemeClr val="accent5">
                    <a:lumMod val="75000"/>
                  </a:schemeClr>
                </a:innerShdw>
              </a:effectLst>
              <a:scene3d>
                <a:camera prst="orthographicFront"/>
                <a:lightRig rig="threePt" dir="t"/>
              </a:scene3d>
              <a:sp3d contourW="19050" prstMaterial="flat">
                <a:contourClr>
                  <a:schemeClr val="accent5">
                    <a:lumMod val="75000"/>
                  </a:schemeClr>
                </a:contourClr>
              </a:sp3d>
            </c:spPr>
            <c:extLst>
              <c:ext xmlns:c16="http://schemas.microsoft.com/office/drawing/2014/chart" uri="{C3380CC4-5D6E-409C-BE32-E72D297353CC}">
                <c16:uniqueId val="{00000009-75B3-49C5-AC89-E58E341B6FB4}"/>
              </c:ext>
            </c:extLst>
          </c:dPt>
          <c:dPt>
            <c:idx val="5"/>
            <c:bubble3D val="0"/>
            <c:spPr>
              <a:solidFill>
                <a:schemeClr val="accent6">
                  <a:alpha val="90000"/>
                </a:schemeClr>
              </a:solidFill>
              <a:ln w="19050">
                <a:solidFill>
                  <a:schemeClr val="accent6">
                    <a:lumMod val="75000"/>
                  </a:schemeClr>
                </a:solidFill>
              </a:ln>
              <a:effectLst>
                <a:innerShdw blurRad="114300">
                  <a:schemeClr val="accent6">
                    <a:lumMod val="75000"/>
                  </a:schemeClr>
                </a:innerShdw>
              </a:effectLst>
              <a:scene3d>
                <a:camera prst="orthographicFront"/>
                <a:lightRig rig="threePt" dir="t"/>
              </a:scene3d>
              <a:sp3d contourW="19050" prstMaterial="flat">
                <a:contourClr>
                  <a:schemeClr val="accent6">
                    <a:lumMod val="75000"/>
                  </a:schemeClr>
                </a:contourClr>
              </a:sp3d>
            </c:spPr>
            <c:extLst>
              <c:ext xmlns:c16="http://schemas.microsoft.com/office/drawing/2014/chart" uri="{C3380CC4-5D6E-409C-BE32-E72D297353CC}">
                <c16:uniqueId val="{0000000B-75B3-49C5-AC89-E58E341B6FB4}"/>
              </c:ext>
            </c:extLst>
          </c:dPt>
          <c:dPt>
            <c:idx val="6"/>
            <c:bubble3D val="0"/>
            <c:spPr>
              <a:solidFill>
                <a:schemeClr val="accent1">
                  <a:lumMod val="60000"/>
                  <a:alpha val="90000"/>
                </a:schemeClr>
              </a:solidFill>
              <a:ln w="19050">
                <a:solidFill>
                  <a:schemeClr val="accent1">
                    <a:lumMod val="60000"/>
                    <a:lumMod val="75000"/>
                  </a:schemeClr>
                </a:solidFill>
              </a:ln>
              <a:effectLst>
                <a:innerShdw blurRad="114300">
                  <a:schemeClr val="accent1">
                    <a:lumMod val="60000"/>
                    <a:lumMod val="75000"/>
                  </a:schemeClr>
                </a:innerShdw>
              </a:effectLst>
              <a:scene3d>
                <a:camera prst="orthographicFront"/>
                <a:lightRig rig="threePt" dir="t"/>
              </a:scene3d>
              <a:sp3d contourW="19050" prstMaterial="flat">
                <a:contourClr>
                  <a:schemeClr val="accent1">
                    <a:lumMod val="60000"/>
                    <a:lumMod val="75000"/>
                  </a:schemeClr>
                </a:contourClr>
              </a:sp3d>
            </c:spPr>
            <c:extLst>
              <c:ext xmlns:c16="http://schemas.microsoft.com/office/drawing/2014/chart" uri="{C3380CC4-5D6E-409C-BE32-E72D297353CC}">
                <c16:uniqueId val="{0000000D-75B3-49C5-AC89-E58E341B6FB4}"/>
              </c:ext>
            </c:extLst>
          </c:dPt>
          <c:dLbls>
            <c:dLbl>
              <c:idx val="0"/>
              <c:layout>
                <c:manualLayout>
                  <c:x val="6.847962334353018E-2"/>
                  <c:y val="0.22294391226142077"/>
                </c:manualLayout>
              </c:layout>
              <c:spPr>
                <a:solidFill>
                  <a:schemeClr val="lt1">
                    <a:alpha val="90000"/>
                  </a:schemeClr>
                </a:solidFill>
                <a:ln w="12700" cap="flat" cmpd="sng" algn="ctr">
                  <a:solidFill>
                    <a:schemeClr val="accent1"/>
                  </a:solidFill>
                  <a:round/>
                </a:ln>
                <a:effectLst>
                  <a:outerShdw blurRad="50800" dist="38100" dir="2700000" algn="tl" rotWithShape="0">
                    <a:schemeClr val="accent1">
                      <a:lumMod val="75000"/>
                      <a:alpha val="40000"/>
                    </a:scheme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75B3-49C5-AC89-E58E341B6FB4}"/>
                </c:ext>
              </c:extLst>
            </c:dLbl>
            <c:dLbl>
              <c:idx val="1"/>
              <c:layout>
                <c:manualLayout>
                  <c:x val="5.7835712377788909E-2"/>
                  <c:y val="2.0623940757191438E-2"/>
                </c:manualLayout>
              </c:layout>
              <c:spPr>
                <a:solidFill>
                  <a:schemeClr val="lt1">
                    <a:alpha val="90000"/>
                  </a:schemeClr>
                </a:solidFill>
                <a:ln w="12700" cap="flat" cmpd="sng" algn="ctr">
                  <a:solidFill>
                    <a:schemeClr val="accent2"/>
                  </a:solidFill>
                  <a:round/>
                </a:ln>
                <a:effectLst>
                  <a:outerShdw blurRad="50800" dist="38100" dir="2700000" algn="tl" rotWithShape="0">
                    <a:schemeClr val="accent2">
                      <a:lumMod val="75000"/>
                      <a:alpha val="40000"/>
                    </a:scheme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2"/>
                      </a:solidFill>
                      <a:effectLst/>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75B3-49C5-AC89-E58E341B6FB4}"/>
                </c:ext>
              </c:extLst>
            </c:dLbl>
            <c:dLbl>
              <c:idx val="2"/>
              <c:spPr>
                <a:solidFill>
                  <a:schemeClr val="lt1">
                    <a:alpha val="90000"/>
                  </a:schemeClr>
                </a:solidFill>
                <a:ln w="12700" cap="flat" cmpd="sng" algn="ctr">
                  <a:solidFill>
                    <a:schemeClr val="accent3"/>
                  </a:solidFill>
                  <a:round/>
                </a:ln>
                <a:effectLst>
                  <a:outerShdw blurRad="50800" dist="38100" dir="2700000" algn="tl" rotWithShape="0">
                    <a:schemeClr val="accent3">
                      <a:lumMod val="75000"/>
                      <a:alpha val="40000"/>
                    </a:scheme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3"/>
                      </a:solidFill>
                      <a:effectLst/>
                      <a:latin typeface="+mn-lt"/>
                      <a:ea typeface="+mn-ea"/>
                      <a:cs typeface="+mn-cs"/>
                    </a:defRPr>
                  </a:pPr>
                  <a:endParaRPr lang="en-US"/>
                </a:p>
              </c:txPr>
              <c:dLblPos val="inEnd"/>
              <c:showLegendKey val="0"/>
              <c:showVal val="0"/>
              <c:showCatName val="1"/>
              <c:showSerName val="0"/>
              <c:showPercent val="1"/>
              <c:showBubbleSize val="0"/>
              <c:extLst>
                <c:ext xmlns:c16="http://schemas.microsoft.com/office/drawing/2014/chart" uri="{C3380CC4-5D6E-409C-BE32-E72D297353CC}">
                  <c16:uniqueId val="{00000005-75B3-49C5-AC89-E58E341B6FB4}"/>
                </c:ext>
              </c:extLst>
            </c:dLbl>
            <c:dLbl>
              <c:idx val="3"/>
              <c:layout>
                <c:manualLayout>
                  <c:x val="6.494621008439265E-2"/>
                  <c:y val="-0.10506759083555078"/>
                </c:manualLayout>
              </c:layout>
              <c:spPr>
                <a:solidFill>
                  <a:schemeClr val="lt1">
                    <a:alpha val="90000"/>
                  </a:schemeClr>
                </a:solidFill>
                <a:ln w="12700" cap="flat" cmpd="sng" algn="ctr">
                  <a:solidFill>
                    <a:schemeClr val="accent4"/>
                  </a:solidFill>
                  <a:round/>
                </a:ln>
                <a:effectLst>
                  <a:outerShdw blurRad="50800" dist="38100" dir="2700000" algn="tl" rotWithShape="0">
                    <a:schemeClr val="accent4">
                      <a:lumMod val="75000"/>
                      <a:alpha val="40000"/>
                    </a:scheme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4"/>
                      </a:solidFill>
                      <a:effectLst/>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75B3-49C5-AC89-E58E341B6FB4}"/>
                </c:ext>
              </c:extLst>
            </c:dLbl>
            <c:dLbl>
              <c:idx val="4"/>
              <c:spPr>
                <a:solidFill>
                  <a:schemeClr val="lt1">
                    <a:alpha val="90000"/>
                  </a:schemeClr>
                </a:solidFill>
                <a:ln w="12700" cap="flat" cmpd="sng" algn="ctr">
                  <a:solidFill>
                    <a:schemeClr val="accent5"/>
                  </a:solidFill>
                  <a:round/>
                </a:ln>
                <a:effectLst>
                  <a:outerShdw blurRad="50800" dist="38100" dir="2700000" algn="tl" rotWithShape="0">
                    <a:schemeClr val="accent5">
                      <a:lumMod val="75000"/>
                      <a:alpha val="40000"/>
                    </a:scheme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5"/>
                      </a:solidFill>
                      <a:effectLst/>
                      <a:latin typeface="+mn-lt"/>
                      <a:ea typeface="+mn-ea"/>
                      <a:cs typeface="+mn-cs"/>
                    </a:defRPr>
                  </a:pPr>
                  <a:endParaRPr lang="en-US"/>
                </a:p>
              </c:txPr>
              <c:dLblPos val="inEnd"/>
              <c:showLegendKey val="0"/>
              <c:showVal val="0"/>
              <c:showCatName val="1"/>
              <c:showSerName val="0"/>
              <c:showPercent val="1"/>
              <c:showBubbleSize val="0"/>
              <c:extLst>
                <c:ext xmlns:c16="http://schemas.microsoft.com/office/drawing/2014/chart" uri="{C3380CC4-5D6E-409C-BE32-E72D297353CC}">
                  <c16:uniqueId val="{00000009-75B3-49C5-AC89-E58E341B6FB4}"/>
                </c:ext>
              </c:extLst>
            </c:dLbl>
            <c:dLbl>
              <c:idx val="5"/>
              <c:spPr>
                <a:solidFill>
                  <a:schemeClr val="lt1">
                    <a:alpha val="90000"/>
                  </a:schemeClr>
                </a:solidFill>
                <a:ln w="12700" cap="flat" cmpd="sng" algn="ctr">
                  <a:solidFill>
                    <a:schemeClr val="accent6"/>
                  </a:solidFill>
                  <a:round/>
                </a:ln>
                <a:effectLst>
                  <a:outerShdw blurRad="50800" dist="38100" dir="2700000" algn="tl" rotWithShape="0">
                    <a:schemeClr val="accent6">
                      <a:lumMod val="75000"/>
                      <a:alpha val="40000"/>
                    </a:scheme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6"/>
                      </a:solidFill>
                      <a:effectLst/>
                      <a:latin typeface="+mn-lt"/>
                      <a:ea typeface="+mn-ea"/>
                      <a:cs typeface="+mn-cs"/>
                    </a:defRPr>
                  </a:pPr>
                  <a:endParaRPr lang="en-US"/>
                </a:p>
              </c:txPr>
              <c:dLblPos val="inEnd"/>
              <c:showLegendKey val="0"/>
              <c:showVal val="0"/>
              <c:showCatName val="1"/>
              <c:showSerName val="0"/>
              <c:showPercent val="1"/>
              <c:showBubbleSize val="0"/>
              <c:extLst>
                <c:ext xmlns:c16="http://schemas.microsoft.com/office/drawing/2014/chart" uri="{C3380CC4-5D6E-409C-BE32-E72D297353CC}">
                  <c16:uniqueId val="{0000000B-75B3-49C5-AC89-E58E341B6FB4}"/>
                </c:ext>
              </c:extLst>
            </c:dLbl>
            <c:dLbl>
              <c:idx val="6"/>
              <c:layout>
                <c:manualLayout>
                  <c:x val="3.3066995555891918E-2"/>
                  <c:y val="2.0123236602361042E-2"/>
                </c:manualLayout>
              </c:layout>
              <c:spPr>
                <a:solidFill>
                  <a:schemeClr val="lt1">
                    <a:alpha val="90000"/>
                  </a:schemeClr>
                </a:solidFill>
                <a:ln w="12700" cap="flat" cmpd="sng" algn="ctr">
                  <a:solidFill>
                    <a:schemeClr val="accent1">
                      <a:lumMod val="60000"/>
                    </a:schemeClr>
                  </a:solidFill>
                  <a:round/>
                </a:ln>
                <a:effectLst>
                  <a:outerShdw blurRad="50800" dist="38100" dir="2700000" algn="tl" rotWithShape="0">
                    <a:schemeClr val="accent1">
                      <a:lumMod val="60000"/>
                      <a:lumMod val="75000"/>
                      <a:alpha val="40000"/>
                    </a:scheme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lumMod val="60000"/>
                        </a:schemeClr>
                      </a:solidFill>
                      <a:effectLst/>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D-75B3-49C5-AC89-E58E341B6FB4}"/>
                </c:ext>
              </c:extLst>
            </c:dLbl>
            <c:spPr>
              <a:solidFill>
                <a:sysClr val="window" lastClr="FFFFFF">
                  <a:alpha val="90000"/>
                </a:sysClr>
              </a:solidFill>
              <a:ln w="12700" cap="flat" cmpd="sng" algn="ctr">
                <a:solidFill>
                  <a:srgbClr val="5B9BD5"/>
                </a:solidFill>
                <a:round/>
              </a:ln>
              <a:effectLst>
                <a:outerShdw blurRad="50800" dist="38100" dir="2700000" algn="tl" rotWithShape="0">
                  <a:srgbClr val="5B9BD5">
                    <a:lumMod val="75000"/>
                    <a:alpha val="40000"/>
                  </a:srgbClr>
                </a:outerShdw>
              </a:effectLst>
            </c:spPr>
            <c:dLblPos val="inEnd"/>
            <c:showLegendKey val="0"/>
            <c:showVal val="0"/>
            <c:showCatName val="1"/>
            <c:showSerName val="0"/>
            <c:showPercent val="1"/>
            <c:showBubbleSize val="0"/>
            <c:showLeaderLines val="1"/>
            <c:leaderLines>
              <c:spPr>
                <a:ln w="9525">
                  <a:solidFill>
                    <a:schemeClr val="tx1">
                      <a:lumMod val="35000"/>
                      <a:lumOff val="65000"/>
                    </a:schemeClr>
                  </a:solidFill>
                </a:ln>
                <a:effectLst/>
              </c:spPr>
            </c:leaderLines>
            <c:extLst>
              <c:ext xmlns:c15="http://schemas.microsoft.com/office/drawing/2012/chart" uri="{CE6537A1-D6FC-4f65-9D91-7224C49458BB}"/>
            </c:extLst>
          </c:dLbls>
          <c:cat>
            <c:strRef>
              <c:f>'I-Total'!$P$5:$P$11</c:f>
              <c:strCache>
                <c:ptCount val="7"/>
                <c:pt idx="0">
                  <c:v>Биет бус хөрөнгө</c:v>
                </c:pt>
                <c:pt idx="1">
                  <c:v>Удирдлага захиргаа</c:v>
                </c:pt>
                <c:pt idx="2">
                  <c:v>Ил уурхай</c:v>
                </c:pt>
                <c:pt idx="3">
                  <c:v>Баяжуулах цех</c:v>
                </c:pt>
                <c:pt idx="4">
                  <c:v>Засварын цех</c:v>
                </c:pt>
                <c:pt idx="5">
                  <c:v>Дэд бүтэц</c:v>
                </c:pt>
                <c:pt idx="6">
                  <c:v>Эргэлтийн хөрөнгө</c:v>
                </c:pt>
              </c:strCache>
            </c:strRef>
          </c:cat>
          <c:val>
            <c:numRef>
              <c:f>'I-Total'!$U$5:$U$11</c:f>
              <c:numCache>
                <c:formatCode>0.0%</c:formatCode>
                <c:ptCount val="7"/>
                <c:pt idx="0">
                  <c:v>1.5136761350227084E-2</c:v>
                </c:pt>
                <c:pt idx="1">
                  <c:v>8.1511187409268535E-2</c:v>
                </c:pt>
                <c:pt idx="2">
                  <c:v>0.35117286332526831</c:v>
                </c:pt>
                <c:pt idx="3">
                  <c:v>0.14470743850817089</c:v>
                </c:pt>
                <c:pt idx="4">
                  <c:v>1.2994909619169954E-2</c:v>
                </c:pt>
                <c:pt idx="5">
                  <c:v>0.30356774887880417</c:v>
                </c:pt>
                <c:pt idx="6">
                  <c:v>9.0909090909090912E-2</c:v>
                </c:pt>
              </c:numCache>
            </c:numRef>
          </c:val>
          <c:extLst>
            <c:ext xmlns:c16="http://schemas.microsoft.com/office/drawing/2014/chart" uri="{C3380CC4-5D6E-409C-BE32-E72D297353CC}">
              <c16:uniqueId val="{0000000E-75B3-49C5-AC89-E58E341B6FB4}"/>
            </c:ext>
          </c:extLst>
        </c:ser>
        <c:dLbls>
          <c:dLblPos val="inEnd"/>
          <c:showLegendKey val="0"/>
          <c:showVal val="0"/>
          <c:showCatName val="1"/>
          <c:showSerName val="0"/>
          <c:showPercent val="0"/>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4853698599325894E-2"/>
          <c:y val="0.15868644327433304"/>
          <c:w val="0.8959433774481893"/>
          <c:h val="0.691263250879248"/>
        </c:manualLayout>
      </c:layout>
      <c:barChart>
        <c:barDir val="col"/>
        <c:grouping val="clustered"/>
        <c:varyColors val="0"/>
        <c:ser>
          <c:idx val="0"/>
          <c:order val="0"/>
          <c:spPr>
            <a:solidFill>
              <a:srgbClr val="FFFF00"/>
            </a:solidFill>
            <a:ln>
              <a:noFill/>
            </a:ln>
            <a:effectLst/>
          </c:spPr>
          <c:invertIfNegative val="0"/>
          <c:dLbls>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3-B402-46BF-BD58-424A5CD89D10}"/>
                </c:ext>
              </c:extLst>
            </c:dLbl>
            <c:dLbl>
              <c:idx val="1"/>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4-B402-46BF-BD58-424A5CD89D10}"/>
                </c:ext>
              </c:extLst>
            </c:dLbl>
            <c:dLbl>
              <c:idx val="2"/>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5-B402-46BF-BD58-424A5CD89D10}"/>
                </c:ext>
              </c:extLst>
            </c:dLbl>
            <c:dLbl>
              <c:idx val="3"/>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6-B402-46BF-BD58-424A5CD89D10}"/>
                </c:ext>
              </c:extLst>
            </c:dLbl>
            <c:dLbl>
              <c:idx val="4"/>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2-B402-46BF-BD58-424A5CD89D10}"/>
                </c:ext>
              </c:extLst>
            </c:dLbl>
            <c:spPr>
              <a:noFill/>
              <a:ln>
                <a:solidFill>
                  <a:srgbClr val="FFFFFF"/>
                </a:solid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'C-Workforce'!$B$121:$B$125</c:f>
              <c:strCache>
                <c:ptCount val="5"/>
                <c:pt idx="0">
                  <c:v>Удирдлага захиргаа</c:v>
                </c:pt>
                <c:pt idx="1">
                  <c:v>Ил уурхай</c:v>
                </c:pt>
                <c:pt idx="2">
                  <c:v>Баяжуулах цех</c:v>
                </c:pt>
                <c:pt idx="3">
                  <c:v>Засварын цех</c:v>
                </c:pt>
                <c:pt idx="4">
                  <c:v>Хотхон</c:v>
                </c:pt>
              </c:strCache>
            </c:strRef>
          </c:cat>
          <c:val>
            <c:numRef>
              <c:f>'C-Workforce'!$C$121:$C$125</c:f>
              <c:numCache>
                <c:formatCode>0</c:formatCode>
                <c:ptCount val="5"/>
                <c:pt idx="0">
                  <c:v>6</c:v>
                </c:pt>
                <c:pt idx="1">
                  <c:v>47</c:v>
                </c:pt>
                <c:pt idx="2">
                  <c:v>32</c:v>
                </c:pt>
                <c:pt idx="3">
                  <c:v>20</c:v>
                </c:pt>
                <c:pt idx="4">
                  <c:v>20</c:v>
                </c:pt>
              </c:numCache>
            </c:numRef>
          </c:val>
          <c:extLst>
            <c:ext xmlns:c16="http://schemas.microsoft.com/office/drawing/2014/chart" uri="{C3380CC4-5D6E-409C-BE32-E72D297353CC}">
              <c16:uniqueId val="{00000000-B402-46BF-BD58-424A5CD89D10}"/>
            </c:ext>
          </c:extLst>
        </c:ser>
        <c:dLbls>
          <c:showLegendKey val="0"/>
          <c:showVal val="0"/>
          <c:showCatName val="0"/>
          <c:showSerName val="0"/>
          <c:showPercent val="0"/>
          <c:showBubbleSize val="0"/>
        </c:dLbls>
        <c:gapWidth val="219"/>
        <c:axId val="62595328"/>
        <c:axId val="2032032000"/>
      </c:barChart>
      <c:catAx>
        <c:axId val="62595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2032032000"/>
        <c:crosses val="autoZero"/>
        <c:auto val="1"/>
        <c:lblAlgn val="ctr"/>
        <c:lblOffset val="100"/>
        <c:noMultiLvlLbl val="0"/>
      </c:catAx>
      <c:valAx>
        <c:axId val="203203200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625953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solidFill>
            <a:schemeClr val="tx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rgbClr val="FFFF00"/>
            </a:solidFill>
            <a:ln>
              <a:solidFill>
                <a:srgbClr val="FFFF00"/>
              </a:solid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Sheet1!$A$2:$A$29</c:f>
              <c:strCache>
                <c:ptCount val="28"/>
                <c:pt idx="0">
                  <c:v>Цалин</c:v>
                </c:pt>
                <c:pt idx="1">
                  <c:v>Түлш</c:v>
                </c:pt>
                <c:pt idx="2">
                  <c:v>Дугуй</c:v>
                </c:pt>
                <c:pt idx="3">
                  <c:v>ШТМ</c:v>
                </c:pt>
                <c:pt idx="4">
                  <c:v>Сэлбэг</c:v>
                </c:pt>
                <c:pt idx="5">
                  <c:v>Бүтээгдэхүүн тээвэр</c:v>
                </c:pt>
                <c:pt idx="6">
                  <c:v>Хүн тээврийн зардал</c:v>
                </c:pt>
                <c:pt idx="7">
                  <c:v>Хоол хүнс</c:v>
                </c:pt>
                <c:pt idx="8">
                  <c:v>Бичиг хэрэг</c:v>
                </c:pt>
                <c:pt idx="9">
                  <c:v>Оффис түрээс</c:v>
                </c:pt>
                <c:pt idx="10">
                  <c:v>Удирдлагын зардал</c:v>
                </c:pt>
                <c:pt idx="11">
                  <c:v>ХАБ</c:v>
                </c:pt>
                <c:pt idx="12">
                  <c:v>Эрүүл ахуй</c:v>
                </c:pt>
                <c:pt idx="13">
                  <c:v>ИТА болон ХАБ сургалт</c:v>
                </c:pt>
                <c:pt idx="14">
                  <c:v>Аваариас урьдчилан сэргийлэх, устгах</c:v>
                </c:pt>
                <c:pt idx="15">
                  <c:v>Цахилгаан</c:v>
                </c:pt>
                <c:pt idx="16">
                  <c:v>Магадалшгүй</c:v>
                </c:pt>
                <c:pt idx="17">
                  <c:v>Байгаль орчны нөхөн сэргээлт</c:v>
                </c:pt>
                <c:pt idx="18">
                  <c:v>АМНАТ-Цагаан тугалга (5%+4%)</c:v>
                </c:pt>
                <c:pt idx="19">
                  <c:v>АМНАТ-Гянтболд (5%+0%)</c:v>
                </c:pt>
                <c:pt idx="20">
                  <c:v>Усны төлбөр</c:v>
                </c:pt>
                <c:pt idx="21">
                  <c:v>Тусгай зөвшөөрлийн төлбөр</c:v>
                </c:pt>
                <c:pt idx="22">
                  <c:v>Газар ашигласны төлбөр</c:v>
                </c:pt>
                <c:pt idx="23">
                  <c:v>АТБӨЯХ-ийн агаарын бохирдлын төлбөр</c:v>
                </c:pt>
                <c:pt idx="24">
                  <c:v>АТБӨЯХАТ</c:v>
                </c:pt>
                <c:pt idx="25">
                  <c:v>НДШ-байгууллага</c:v>
                </c:pt>
                <c:pt idx="26">
                  <c:v>Бэлтгэл ажлын шимтгэлийн сан</c:v>
                </c:pt>
                <c:pt idx="27">
                  <c:v>Үндсэн хөрөнгийн элэгдэл</c:v>
                </c:pt>
              </c:strCache>
            </c:strRef>
          </c:cat>
          <c:val>
            <c:numRef>
              <c:f>Sheet1!$B$2:$B$29</c:f>
              <c:numCache>
                <c:formatCode>#,##0.0</c:formatCode>
                <c:ptCount val="28"/>
                <c:pt idx="0">
                  <c:v>18563.2</c:v>
                </c:pt>
                <c:pt idx="1">
                  <c:v>25022.400000000001</c:v>
                </c:pt>
                <c:pt idx="2">
                  <c:v>689.5</c:v>
                </c:pt>
                <c:pt idx="3">
                  <c:v>2502.1999999999998</c:v>
                </c:pt>
                <c:pt idx="4">
                  <c:v>1434.6</c:v>
                </c:pt>
                <c:pt idx="5">
                  <c:v>1269.5</c:v>
                </c:pt>
                <c:pt idx="6">
                  <c:v>249.9</c:v>
                </c:pt>
                <c:pt idx="7">
                  <c:v>209.3</c:v>
                </c:pt>
                <c:pt idx="8">
                  <c:v>210</c:v>
                </c:pt>
                <c:pt idx="9">
                  <c:v>578</c:v>
                </c:pt>
                <c:pt idx="10">
                  <c:v>175</c:v>
                </c:pt>
                <c:pt idx="11">
                  <c:v>504.6</c:v>
                </c:pt>
                <c:pt idx="12">
                  <c:v>726.7</c:v>
                </c:pt>
                <c:pt idx="13">
                  <c:v>223.1</c:v>
                </c:pt>
                <c:pt idx="14">
                  <c:v>67.099999999999994</c:v>
                </c:pt>
                <c:pt idx="15">
                  <c:v>5449.2</c:v>
                </c:pt>
                <c:pt idx="16">
                  <c:v>1858.7</c:v>
                </c:pt>
                <c:pt idx="17">
                  <c:v>4506.8999999999996</c:v>
                </c:pt>
                <c:pt idx="18">
                  <c:v>10511.2</c:v>
                </c:pt>
                <c:pt idx="19">
                  <c:v>883.6</c:v>
                </c:pt>
                <c:pt idx="20">
                  <c:v>2661.5</c:v>
                </c:pt>
                <c:pt idx="21">
                  <c:v>64.900000000000006</c:v>
                </c:pt>
                <c:pt idx="22">
                  <c:v>954.9</c:v>
                </c:pt>
                <c:pt idx="23">
                  <c:v>2.2000000000000002</c:v>
                </c:pt>
                <c:pt idx="24">
                  <c:v>37.4</c:v>
                </c:pt>
                <c:pt idx="25">
                  <c:v>2691.7</c:v>
                </c:pt>
                <c:pt idx="26">
                  <c:v>975</c:v>
                </c:pt>
                <c:pt idx="27">
                  <c:v>4275.1000000000004</c:v>
                </c:pt>
              </c:numCache>
            </c:numRef>
          </c:val>
          <c:extLst>
            <c:ext xmlns:c16="http://schemas.microsoft.com/office/drawing/2014/chart" uri="{C3380CC4-5D6E-409C-BE32-E72D297353CC}">
              <c16:uniqueId val="{00000000-2DCD-445C-83D7-B0C20033EEA5}"/>
            </c:ext>
          </c:extLst>
        </c:ser>
        <c:dLbls>
          <c:dLblPos val="outEnd"/>
          <c:showLegendKey val="0"/>
          <c:showVal val="1"/>
          <c:showCatName val="0"/>
          <c:showSerName val="0"/>
          <c:showPercent val="0"/>
          <c:showBubbleSize val="0"/>
        </c:dLbls>
        <c:gapWidth val="182"/>
        <c:axId val="744592232"/>
        <c:axId val="744591512"/>
      </c:barChart>
      <c:catAx>
        <c:axId val="74459223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744591512"/>
        <c:crosses val="autoZero"/>
        <c:auto val="1"/>
        <c:lblAlgn val="ctr"/>
        <c:lblOffset val="100"/>
        <c:tickLblSkip val="1"/>
        <c:noMultiLvlLbl val="0"/>
      </c:catAx>
      <c:valAx>
        <c:axId val="744591512"/>
        <c:scaling>
          <c:orientation val="minMax"/>
        </c:scaling>
        <c:delete val="0"/>
        <c:axPos val="b"/>
        <c:title>
          <c:tx>
            <c:rich>
              <a:bodyPr rot="0" spcFirstLastPara="1" vertOverflow="ellipsis" vert="horz" wrap="square" anchor="ctr" anchorCtr="1"/>
              <a:lstStyle/>
              <a:p>
                <a:pPr>
                  <a:defRPr sz="800" b="0" i="0" u="none" strike="noStrike" kern="1200" baseline="0">
                    <a:solidFill>
                      <a:schemeClr val="bg1"/>
                    </a:solidFill>
                    <a:latin typeface="Arial" panose="020B0604020202020204" pitchFamily="34" charset="0"/>
                    <a:ea typeface="+mn-ea"/>
                    <a:cs typeface="Arial" panose="020B0604020202020204" pitchFamily="34" charset="0"/>
                  </a:defRPr>
                </a:pPr>
                <a:r>
                  <a:rPr lang="mn-MN"/>
                  <a:t>сая төгрөг</a:t>
                </a:r>
                <a:endParaRPr lang="en-US"/>
              </a:p>
            </c:rich>
          </c:tx>
          <c:layout>
            <c:manualLayout>
              <c:xMode val="edge"/>
              <c:yMode val="edge"/>
              <c:x val="0.85472307018354865"/>
              <c:y val="0.96606800481522581"/>
            </c:manualLayout>
          </c:layout>
          <c:overlay val="0"/>
          <c:spPr>
            <a:noFill/>
            <a:ln>
              <a:noFill/>
            </a:ln>
            <a:effectLst/>
          </c:sp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744592232"/>
        <c:crosses val="autoZero"/>
        <c:crossBetween val="between"/>
      </c:valAx>
      <c:spPr>
        <a:noFill/>
        <a:ln>
          <a:noFill/>
        </a:ln>
        <a:effectLst/>
      </c:spPr>
    </c:plotArea>
    <c:plotVisOnly val="1"/>
    <c:dispBlanksAs val="gap"/>
    <c:showDLblsOverMax val="0"/>
  </c:chart>
  <c:spPr>
    <a:noFill/>
    <a:ln>
      <a:noFill/>
    </a:ln>
    <a:effectLst/>
  </c:spPr>
  <c:txPr>
    <a:bodyPr/>
    <a:lstStyle/>
    <a:p>
      <a:pPr>
        <a:defRPr sz="800">
          <a:solidFill>
            <a:schemeClr val="bg1"/>
          </a:solidFill>
          <a:latin typeface="Arial" panose="020B0604020202020204" pitchFamily="34" charset="0"/>
          <a:cs typeface="Arial" panose="020B0604020202020204" pitchFamily="34" charset="0"/>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0696609798775154"/>
          <c:y val="0.13458442694663167"/>
          <c:w val="0.40829002624671917"/>
          <c:h val="0.68048337707786521"/>
        </c:manualLayout>
      </c:layout>
      <c:doughnutChart>
        <c:varyColors val="1"/>
        <c:ser>
          <c:idx val="0"/>
          <c:order val="0"/>
          <c:spPr>
            <a:solidFill>
              <a:srgbClr val="92D050"/>
            </a:solidFill>
          </c:spPr>
          <c:dPt>
            <c:idx val="0"/>
            <c:bubble3D val="0"/>
            <c:spPr>
              <a:solidFill>
                <a:srgbClr val="FFFF00"/>
              </a:solidFill>
              <a:ln w="19050">
                <a:solidFill>
                  <a:schemeClr val="tx1"/>
                </a:solidFill>
              </a:ln>
              <a:effectLst/>
            </c:spPr>
            <c:extLst>
              <c:ext xmlns:c16="http://schemas.microsoft.com/office/drawing/2014/chart" uri="{C3380CC4-5D6E-409C-BE32-E72D297353CC}">
                <c16:uniqueId val="{00000001-0892-4806-B13D-758E6DE234F4}"/>
              </c:ext>
            </c:extLst>
          </c:dPt>
          <c:dPt>
            <c:idx val="1"/>
            <c:bubble3D val="0"/>
            <c:spPr>
              <a:solidFill>
                <a:srgbClr val="FFC000"/>
              </a:solidFill>
              <a:ln w="19050">
                <a:solidFill>
                  <a:schemeClr val="lt1"/>
                </a:solid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0892-4806-B13D-758E6DE234F4}"/>
              </c:ext>
            </c:extLst>
          </c:dPt>
          <c:dLbls>
            <c:dLbl>
              <c:idx val="0"/>
              <c:layout>
                <c:manualLayout>
                  <c:x val="9.7222222222222224E-2"/>
                  <c:y val="-9.259259259259343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892-4806-B13D-758E6DE234F4}"/>
                </c:ext>
              </c:extLst>
            </c:dLbl>
            <c:dLbl>
              <c:idx val="1"/>
              <c:layout>
                <c:manualLayout>
                  <c:x val="-9.444444444444447E-2"/>
                  <c:y val="-6.48148148148148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892-4806-B13D-758E6DE234F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'C-Tax'!$M$4:$N$5</c:f>
              <c:strCache>
                <c:ptCount val="2"/>
                <c:pt idx="0">
                  <c:v>Улсын төсөвт</c:v>
                </c:pt>
                <c:pt idx="1">
                  <c:v>Орон нутгийн төсөвт</c:v>
                </c:pt>
              </c:strCache>
            </c:strRef>
          </c:cat>
          <c:val>
            <c:numRef>
              <c:f>'C-Tax'!$M$18:$N$18</c:f>
              <c:numCache>
                <c:formatCode>0.0%</c:formatCode>
                <c:ptCount val="2"/>
                <c:pt idx="0">
                  <c:v>0.6801831093856654</c:v>
                </c:pt>
                <c:pt idx="1">
                  <c:v>0.31981689061433449</c:v>
                </c:pt>
              </c:numCache>
            </c:numRef>
          </c:val>
          <c:extLst>
            <c:ext xmlns:c16="http://schemas.microsoft.com/office/drawing/2014/chart" uri="{C3380CC4-5D6E-409C-BE32-E72D297353CC}">
              <c16:uniqueId val="{00000004-0892-4806-B13D-758E6DE234F4}"/>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rtl="0">
            <a:defRPr sz="9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FFFF00"/>
            </a:solidFill>
            <a:ln>
              <a:noFill/>
            </a:ln>
            <a:effectLst/>
          </c:spPr>
          <c:invertIfNegative val="0"/>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271-47D2-BA3B-24F90A9C4C04}"/>
                </c:ext>
              </c:extLst>
            </c:dLbl>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271-47D2-BA3B-24F90A9C4C04}"/>
                </c:ext>
              </c:extLst>
            </c:dLbl>
            <c:dLbl>
              <c:idx val="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271-47D2-BA3B-24F90A9C4C04}"/>
                </c:ext>
              </c:extLst>
            </c:dLbl>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271-47D2-BA3B-24F90A9C4C04}"/>
                </c:ext>
              </c:extLst>
            </c:dLbl>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271-47D2-BA3B-24F90A9C4C04}"/>
                </c:ext>
              </c:extLst>
            </c:dLbl>
            <c:dLbl>
              <c:idx val="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271-47D2-BA3B-24F90A9C4C04}"/>
                </c:ext>
              </c:extLst>
            </c:dLbl>
            <c:dLbl>
              <c:idx val="9"/>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271-47D2-BA3B-24F90A9C4C04}"/>
                </c:ext>
              </c:extLst>
            </c:dLbl>
            <c:dLbl>
              <c:idx val="1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271-47D2-BA3B-24F90A9C4C0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'C-Tax'!$Z$6:$Z$16</c:f>
              <c:strCache>
                <c:ptCount val="11"/>
                <c:pt idx="0">
                  <c:v>АМНАТ-Цагаан тугалга (5%+4%)</c:v>
                </c:pt>
                <c:pt idx="1">
                  <c:v>АМНАТ-Гянтболд (5%+0%)</c:v>
                </c:pt>
                <c:pt idx="2">
                  <c:v>ААНОАТ</c:v>
                </c:pt>
                <c:pt idx="3">
                  <c:v>Усны төлбөр</c:v>
                </c:pt>
                <c:pt idx="4">
                  <c:v>Тусгай зөвшөөрлийн төлбөр</c:v>
                </c:pt>
                <c:pt idx="5">
                  <c:v>Газар ашигласны төлбөр</c:v>
                </c:pt>
                <c:pt idx="6">
                  <c:v>АТБӨЯХ-ийн агаарын бохирдлын төлбөр</c:v>
                </c:pt>
                <c:pt idx="7">
                  <c:v>АТБӨЯХАТ</c:v>
                </c:pt>
                <c:pt idx="8">
                  <c:v>НДШ-хувь хүн</c:v>
                </c:pt>
                <c:pt idx="9">
                  <c:v>НДШ-байгууллага</c:v>
                </c:pt>
                <c:pt idx="10">
                  <c:v>ХХОАТ</c:v>
                </c:pt>
              </c:strCache>
            </c:strRef>
          </c:cat>
          <c:val>
            <c:numRef>
              <c:f>'C-Tax'!$AC$6:$AC$16</c:f>
              <c:numCache>
                <c:formatCode>0.0%</c:formatCode>
                <c:ptCount val="11"/>
                <c:pt idx="0">
                  <c:v>0.39479675559241978</c:v>
                </c:pt>
                <c:pt idx="1">
                  <c:v>3.3188695903164214E-2</c:v>
                </c:pt>
                <c:pt idx="2">
                  <c:v>0.19085173186280363</c:v>
                </c:pt>
                <c:pt idx="3">
                  <c:v>9.9966932568632053E-2</c:v>
                </c:pt>
                <c:pt idx="4">
                  <c:v>2.4378365150472458E-3</c:v>
                </c:pt>
                <c:pt idx="5">
                  <c:v>3.5867019991499702E-2</c:v>
                </c:pt>
                <c:pt idx="6">
                  <c:v>8.1031229924968066E-5</c:v>
                </c:pt>
                <c:pt idx="7">
                  <c:v>1.4041907617886751E-3</c:v>
                </c:pt>
                <c:pt idx="8">
                  <c:v>8.0181006721427042E-2</c:v>
                </c:pt>
                <c:pt idx="9">
                  <c:v>0.10109779108353843</c:v>
                </c:pt>
                <c:pt idx="10">
                  <c:v>6.0127007769754222E-2</c:v>
                </c:pt>
              </c:numCache>
            </c:numRef>
          </c:val>
          <c:extLst>
            <c:ext xmlns:c16="http://schemas.microsoft.com/office/drawing/2014/chart" uri="{C3380CC4-5D6E-409C-BE32-E72D297353CC}">
              <c16:uniqueId val="{00000008-5271-47D2-BA3B-24F90A9C4C04}"/>
            </c:ext>
          </c:extLst>
        </c:ser>
        <c:dLbls>
          <c:showLegendKey val="0"/>
          <c:showVal val="0"/>
          <c:showCatName val="0"/>
          <c:showSerName val="0"/>
          <c:showPercent val="0"/>
          <c:showBubbleSize val="0"/>
        </c:dLbls>
        <c:gapWidth val="219"/>
        <c:overlap val="-27"/>
        <c:axId val="1348253343"/>
        <c:axId val="1348247935"/>
      </c:barChart>
      <c:catAx>
        <c:axId val="1348253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348247935"/>
        <c:crosses val="autoZero"/>
        <c:auto val="0"/>
        <c:lblAlgn val="ctr"/>
        <c:lblOffset val="100"/>
        <c:noMultiLvlLbl val="0"/>
      </c:catAx>
      <c:valAx>
        <c:axId val="1348247935"/>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348253343"/>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080" b="1" i="0" u="none" strike="noStrike" kern="1200" spc="0" baseline="0">
                <a:solidFill>
                  <a:schemeClr val="bg1"/>
                </a:solidFill>
                <a:latin typeface="Arial" panose="020B0604020202020204" pitchFamily="34" charset="0"/>
                <a:ea typeface="+mn-ea"/>
                <a:cs typeface="Arial" panose="020B0604020202020204" pitchFamily="34" charset="0"/>
              </a:defRPr>
            </a:pPr>
            <a:r>
              <a:rPr lang="mn-MN" b="1" baseline="0">
                <a:solidFill>
                  <a:schemeClr val="bg1"/>
                </a:solidFill>
              </a:rPr>
              <a:t>Ашигт ажиллагаа</a:t>
            </a:r>
            <a:r>
              <a:rPr lang="en-US" b="1" baseline="0">
                <a:solidFill>
                  <a:schemeClr val="bg1"/>
                </a:solidFill>
              </a:rPr>
              <a:t>, (</a:t>
            </a:r>
            <a:r>
              <a:rPr lang="mn-MN" b="1" baseline="0">
                <a:solidFill>
                  <a:schemeClr val="bg1"/>
                </a:solidFill>
              </a:rPr>
              <a:t>ЦА/БО</a:t>
            </a:r>
            <a:r>
              <a:rPr lang="en-US" b="1" baseline="0">
                <a:solidFill>
                  <a:schemeClr val="bg1"/>
                </a:solidFill>
              </a:rPr>
              <a:t>)</a:t>
            </a:r>
          </a:p>
        </c:rich>
      </c:tx>
      <c:overlay val="0"/>
      <c:spPr>
        <a:noFill/>
        <a:ln>
          <a:noFill/>
        </a:ln>
        <a:effectLst/>
      </c:spPr>
      <c:txPr>
        <a:bodyPr rot="0" spcFirstLastPara="1" vertOverflow="ellipsis" vert="horz" wrap="square" anchor="ctr" anchorCtr="1"/>
        <a:lstStyle/>
        <a:p>
          <a:pPr>
            <a:defRPr sz="1080" b="1" i="0" u="none" strike="noStrike" kern="1200" spc="0" baseline="0">
              <a:solidFill>
                <a:schemeClr val="bg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0552715431026091"/>
          <c:y val="0.18805297070630952"/>
          <c:w val="0.84984298028337391"/>
          <c:h val="0.5766065521423086"/>
        </c:manualLayout>
      </c:layout>
      <c:lineChart>
        <c:grouping val="standard"/>
        <c:varyColors val="0"/>
        <c:ser>
          <c:idx val="0"/>
          <c:order val="0"/>
          <c:spPr>
            <a:ln w="28575" cap="rnd">
              <a:solidFill>
                <a:srgbClr val="FFFF00"/>
              </a:solidFill>
              <a:round/>
            </a:ln>
            <a:effectLst/>
          </c:spPr>
          <c:marker>
            <c:symbol val="none"/>
          </c:marker>
          <c:dLbls>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'BASE CASE'!$E$5:$K$5</c:f>
              <c:strCache>
                <c:ptCount val="7"/>
                <c:pt idx="0">
                  <c:v>1 жил</c:v>
                </c:pt>
                <c:pt idx="1">
                  <c:v>2 жил</c:v>
                </c:pt>
                <c:pt idx="2">
                  <c:v>3 жил</c:v>
                </c:pt>
                <c:pt idx="3">
                  <c:v>4 жил</c:v>
                </c:pt>
                <c:pt idx="4">
                  <c:v>5 жил</c:v>
                </c:pt>
                <c:pt idx="5">
                  <c:v>6 жил</c:v>
                </c:pt>
                <c:pt idx="6">
                  <c:v>7 жил</c:v>
                </c:pt>
              </c:strCache>
            </c:strRef>
          </c:cat>
          <c:val>
            <c:numRef>
              <c:f>'BASE CASE'!$E$36:$K$36</c:f>
              <c:numCache>
                <c:formatCode>0.0%</c:formatCode>
                <c:ptCount val="7"/>
                <c:pt idx="0">
                  <c:v>0.13615981110630529</c:v>
                </c:pt>
                <c:pt idx="1">
                  <c:v>0.15131578526106973</c:v>
                </c:pt>
                <c:pt idx="2">
                  <c:v>0.25534199712823258</c:v>
                </c:pt>
                <c:pt idx="3">
                  <c:v>0.31611735356787546</c:v>
                </c:pt>
                <c:pt idx="4">
                  <c:v>0.29412579601410282</c:v>
                </c:pt>
                <c:pt idx="5">
                  <c:v>0.34163011181711872</c:v>
                </c:pt>
                <c:pt idx="6">
                  <c:v>0.3528398148611232</c:v>
                </c:pt>
              </c:numCache>
            </c:numRef>
          </c:val>
          <c:smooth val="0"/>
          <c:extLst>
            <c:ext xmlns:c16="http://schemas.microsoft.com/office/drawing/2014/chart" uri="{C3380CC4-5D6E-409C-BE32-E72D297353CC}">
              <c16:uniqueId val="{00000000-3712-4414-B3DA-81AAB5DAC5DA}"/>
            </c:ext>
          </c:extLst>
        </c:ser>
        <c:dLbls>
          <c:dLblPos val="t"/>
          <c:showLegendKey val="0"/>
          <c:showVal val="1"/>
          <c:showCatName val="0"/>
          <c:showSerName val="0"/>
          <c:showPercent val="0"/>
          <c:showBubbleSize val="0"/>
        </c:dLbls>
        <c:smooth val="0"/>
        <c:axId val="62582528"/>
        <c:axId val="2041438944"/>
      </c:lineChart>
      <c:catAx>
        <c:axId val="625825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2041438944"/>
        <c:crosses val="autoZero"/>
        <c:auto val="1"/>
        <c:lblAlgn val="ctr"/>
        <c:lblOffset val="100"/>
        <c:noMultiLvlLbl val="0"/>
      </c:catAx>
      <c:valAx>
        <c:axId val="2041438944"/>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625825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solidFill>
            <a:schemeClr val="tx1"/>
          </a:solidFill>
          <a:latin typeface="Arial" panose="020B0604020202020204" pitchFamily="34" charset="0"/>
          <a:cs typeface="Arial" panose="020B0604020202020204" pitchFamily="34" charset="0"/>
        </a:defRPr>
      </a:pPr>
      <a:endParaRPr lang="en-US"/>
    </a:p>
  </c:txPr>
  <c:externalData r:id="rId4">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'C-Workforce'!$B$121:$B$125</cx:f>
        <cx:lvl ptCount="5">
          <cx:pt idx="0">Удирдлага захиргаа</cx:pt>
          <cx:pt idx="1">Ил уурхай</cx:pt>
          <cx:pt idx="2">Баяжуулах цех</cx:pt>
          <cx:pt idx="3">Засварын цех</cx:pt>
          <cx:pt idx="4">Хотхон</cx:pt>
        </cx:lvl>
      </cx:strDim>
      <cx:numDim type="val">
        <cx:f>'C-Workforce'!$E$121:$E$125</cx:f>
        <cx:lvl ptCount="5" formatCode="_(* #,##0.0_);_(* \(#,##0.0\);_(* &quot;-&quot;??_);_(@_)">
          <cx:pt idx="0">4360</cx:pt>
          <cx:pt idx="1">3856.25</cx:pt>
          <cx:pt idx="2">3630</cx:pt>
          <cx:pt idx="3">3450</cx:pt>
          <cx:pt idx="4">2800</cx:pt>
        </cx:lvl>
      </cx:numDim>
    </cx:data>
  </cx:chartData>
  <cx:chart>
    <cx:plotArea>
      <cx:plotAreaRegion>
        <cx:series layoutId="waterfall" uniqueId="{F4822150-6BEC-4D9B-BAE7-CB33E661CA22}">
          <cx:spPr>
            <a:solidFill>
              <a:srgbClr val="FFFF00"/>
            </a:solidFill>
          </cx:spPr>
          <cx:dataLabels pos="outEnd">
            <cx:txPr>
              <a:bodyPr vertOverflow="overflow" horzOverflow="overflow" wrap="square" lIns="0" tIns="0" rIns="0" bIns="0"/>
              <a:lstStyle/>
              <a:p>
                <a:pPr algn="ctr" rtl="0">
                  <a:defRPr sz="900" b="0" baseline="0">
                    <a:solidFill>
                      <a:schemeClr val="bg1"/>
                    </a:solidFill>
                    <a:latin typeface="Arial" panose="020B0604020202020204" pitchFamily="34" charset="0"/>
                    <a:ea typeface="Arial" panose="020B0604020202020204" pitchFamily="34" charset="0"/>
                    <a:cs typeface="Arial" panose="020B0604020202020204" pitchFamily="34" charset="0"/>
                  </a:defRPr>
                </a:pPr>
                <a:endParaRPr lang="en-US" baseline="0">
                  <a:solidFill>
                    <a:schemeClr val="bg1"/>
                  </a:solidFill>
                  <a:latin typeface="Arial" panose="020B0604020202020204" pitchFamily="34" charset="0"/>
                  <a:cs typeface="Arial" panose="020B0604020202020204" pitchFamily="34" charset="0"/>
                </a:endParaRPr>
              </a:p>
            </cx:txPr>
            <cx:visibility seriesName="0" categoryName="0" value="1"/>
          </cx:dataLabels>
          <cx:dataId val="0"/>
          <cx:layoutPr>
            <cx:subtotals/>
          </cx:layoutPr>
        </cx:series>
      </cx:plotAreaRegion>
      <cx:axis id="0">
        <cx:catScaling gapWidth="0.5"/>
        <cx:majorGridlines/>
        <cx:tickLabels/>
        <cx:txPr>
          <a:bodyPr vertOverflow="overflow" horzOverflow="overflow" wrap="square" lIns="0" tIns="0" rIns="0" bIns="0"/>
          <a:lstStyle/>
          <a:p>
            <a:pPr algn="ctr" rtl="0">
              <a:defRPr sz="900" b="0" baseline="0">
                <a:solidFill>
                  <a:schemeClr val="bg1"/>
                </a:solidFill>
                <a:latin typeface="Arial" panose="020B0604020202020204" pitchFamily="34" charset="0"/>
                <a:ea typeface="Arial" panose="020B0604020202020204" pitchFamily="34" charset="0"/>
                <a:cs typeface="Arial" panose="020B0604020202020204" pitchFamily="34" charset="0"/>
              </a:defRPr>
            </a:pPr>
            <a:endParaRPr lang="en-US" baseline="0">
              <a:solidFill>
                <a:schemeClr val="bg1"/>
              </a:solidFill>
              <a:latin typeface="Arial" panose="020B0604020202020204" pitchFamily="34" charset="0"/>
              <a:cs typeface="Arial" panose="020B0604020202020204" pitchFamily="34" charset="0"/>
            </a:endParaRPr>
          </a:p>
        </cx:txPr>
      </cx:axis>
      <cx:axis id="1">
        <cx:valScaling/>
        <cx:title>
          <cx:tx>
            <cx:rich>
              <a:bodyPr vertOverflow="overflow" horzOverflow="overflow" wrap="square" lIns="0" tIns="0" rIns="0" bIns="0"/>
              <a:lstStyle/>
              <a:p>
                <a:pPr algn="ctr" rtl="0">
                  <a:defRPr sz="900" b="0" baseline="0">
                    <a:solidFill>
                      <a:schemeClr val="bg1"/>
                    </a:solidFill>
                    <a:latin typeface="Arial" panose="020B0604020202020204" pitchFamily="34" charset="0"/>
                    <a:ea typeface="Arial" panose="020B0604020202020204" pitchFamily="34" charset="0"/>
                    <a:cs typeface="Arial" panose="020B0604020202020204" pitchFamily="34" charset="0"/>
                  </a:defRPr>
                </a:pPr>
                <a:r>
                  <a:rPr lang="mn-MN" baseline="0">
                    <a:solidFill>
                      <a:schemeClr val="bg1"/>
                    </a:solidFill>
                    <a:latin typeface="Arial" panose="020B0604020202020204" pitchFamily="34" charset="0"/>
                    <a:cs typeface="Arial" panose="020B0604020202020204" pitchFamily="34" charset="0"/>
                  </a:rPr>
                  <a:t>Мян.төг</a:t>
                </a:r>
                <a:endParaRPr lang="en-US" baseline="0">
                  <a:solidFill>
                    <a:schemeClr val="bg1"/>
                  </a:solidFill>
                  <a:latin typeface="Arial" panose="020B0604020202020204" pitchFamily="34" charset="0"/>
                  <a:cs typeface="Arial" panose="020B0604020202020204" pitchFamily="34" charset="0"/>
                </a:endParaRPr>
              </a:p>
            </cx:rich>
          </cx:tx>
        </cx:title>
        <cx:majorGridlines/>
        <cx:tickLabels/>
        <cx:txPr>
          <a:bodyPr vertOverflow="overflow" horzOverflow="overflow" wrap="square" lIns="0" tIns="0" rIns="0" bIns="0"/>
          <a:lstStyle/>
          <a:p>
            <a:pPr algn="ctr" rtl="0">
              <a:defRPr sz="900" b="0" baseline="0">
                <a:solidFill>
                  <a:schemeClr val="bg1"/>
                </a:solidFill>
                <a:latin typeface="Arial" panose="020B0604020202020204" pitchFamily="34" charset="0"/>
                <a:ea typeface="Arial" panose="020B0604020202020204" pitchFamily="34" charset="0"/>
                <a:cs typeface="Arial" panose="020B0604020202020204" pitchFamily="34" charset="0"/>
              </a:defRPr>
            </a:pPr>
            <a:endParaRPr lang="en-US" baseline="0">
              <a:solidFill>
                <a:schemeClr val="bg1"/>
              </a:solidFill>
              <a:latin typeface="Arial" panose="020B0604020202020204" pitchFamily="34" charset="0"/>
              <a:cs typeface="Arial" panose="020B0604020202020204" pitchFamily="34" charset="0"/>
            </a:endParaRPr>
          </a:p>
        </cx:txPr>
      </cx:axis>
    </cx:plotArea>
  </cx:chart>
  <cx:spPr>
    <a:ln>
      <a:noFill/>
    </a:ln>
  </cx:spPr>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'C-Total'!$Q$6:$Q$20</cx:f>
        <cx:lvl ptCount="15">
          <cx:pt idx="0">Удирдлага захиргаа</cx:pt>
          <cx:pt idx="1">Ил уурхай</cx:pt>
          <cx:pt idx="2">Баяжуулах цех</cx:pt>
          <cx:pt idx="3">Засварын цех</cx:pt>
          <cx:pt idx="4">Хотхон</cx:pt>
          <cx:pt idx="5">Бүтээгдэхүүн тээвэр</cx:pt>
          <cx:pt idx="6">Байгаль орчны нөхөн сэргээлт</cx:pt>
          <cx:pt idx="7">АМНАТ-Цагаан тугалга (5%+4%)</cx:pt>
          <cx:pt idx="8">АМНАТ-Гянтболд (5%+0%)</cx:pt>
          <cx:pt idx="9">Тусгай зөвшөөрлийн төлбөр</cx:pt>
          <cx:pt idx="10">Газар ашигласны төлбөр</cx:pt>
          <cx:pt idx="11">АТБӨЯХ-ийн агаарын бохирдлын төлбөр</cx:pt>
          <cx:pt idx="12">АТБӨЯХАТ</cx:pt>
          <cx:pt idx="13">Бэлтгэл ажлын шимтгэлийн сан</cx:pt>
          <cx:pt idx="14">Үндсэн хөрөнгийн элэгдэл</cx:pt>
        </cx:lvl>
      </cx:strDim>
      <cx:numDim type="size">
        <cx:f>'C-Total'!$T$6:$T$20</cx:f>
        <cx:lvl ptCount="15" formatCode="0.0%">
          <cx:pt idx="0">0.035150324824967855</cx:pt>
          <cx:pt idx="1">0.42744943624227877</cx:pt>
          <cx:pt idx="2">0.16857100522026014</cx:pt>
          <cx:pt idx="3">0.056426976704668882</cx:pt>
          <cx:pt idx="4">0.043429290260259323</cx:pt>
          <cx:pt idx="5">0.014542253717880446</cx:pt>
          <cx:pt idx="6">0.051626752591692776</cx:pt>
          <cx:pt idx="7">0.12040663147310163</cx:pt>
          <cx:pt idx="8">0.010122015999570839</cx:pt>
          <cx:pt idx="9">0.00074350074741242375</cx:pt>
          <cx:pt idx="10">0.010938861571125313</cx:pt>
          <cx:pt idx="11">2.4713215853932729e-05</cx:pt>
          <cx:pt idx="12">0.00042825549394121996</cx:pt>
          <cx:pt idx="13">0.011168714868630955</cx:pt>
          <cx:pt idx="14">0.048971267068355868</cx:pt>
        </cx:lvl>
      </cx:numDim>
    </cx:data>
  </cx:chartData>
  <cx:chart>
    <cx:plotArea>
      <cx:plotAreaRegion>
        <cx:series layoutId="treemap" uniqueId="{61B02F0E-36B9-437E-897D-4B40069F8874}">
          <cx:dataLabels>
            <cx:txPr>
              <a:bodyPr vertOverflow="overflow" horzOverflow="overflow" wrap="square" lIns="0" tIns="0" rIns="0" bIns="0"/>
              <a:lstStyle/>
              <a:p>
                <a:pPr algn="ctr" rtl="0">
                  <a:defRPr sz="800" b="0" i="0">
                    <a:solidFill>
                      <a:srgbClr val="FFFFFF"/>
                    </a:solidFill>
                    <a:latin typeface="Arial" panose="020B0604020202020204" pitchFamily="34" charset="0"/>
                    <a:ea typeface="Arial" panose="020B0604020202020204" pitchFamily="34" charset="0"/>
                    <a:cs typeface="Arial" panose="020B0604020202020204" pitchFamily="34" charset="0"/>
                  </a:defRPr>
                </a:pPr>
                <a:endParaRPr lang="en-US" sz="800">
                  <a:latin typeface="Arial" panose="020B0604020202020204" pitchFamily="34" charset="0"/>
                  <a:cs typeface="Arial" panose="020B0604020202020204" pitchFamily="34" charset="0"/>
                </a:endParaRPr>
              </a:p>
            </cx:txPr>
            <cx:visibility seriesName="0" categoryName="1" value="1"/>
            <cx:separator>, </cx:separator>
          </cx:dataLabels>
          <cx:dataId val="0"/>
          <cx:layoutPr>
            <cx:parentLabelLayout val="overlapping"/>
          </cx:layoutPr>
        </cx:series>
      </cx:plotAreaRegion>
    </cx:plotArea>
  </cx:chart>
  <cx:spPr>
    <a:noFill/>
    <a:ln>
      <a:noFill/>
    </a:ln>
  </cx:spPr>
  <cx:clrMapOvr bg1="lt1" tx1="dk1" bg2="lt2" tx2="dk2" accent1="accent1" accent2="accent2" accent3="accent3" accent4="accent4" accent5="accent5" accent6="accent6" hlink="hlink" folHlink="folHlink"/>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3">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styleClr val="auto"/>
    </cs:lnRef>
    <cs:fillRef idx="0"/>
    <cs:effectRef idx="0">
      <cs:styleClr val="auto"/>
    </cs:effectRef>
    <cs:fontRef idx="minor">
      <cs:styleClr val="auto"/>
    </cs:fontRef>
    <cs:spPr>
      <a:solidFill>
        <a:schemeClr val="lt1">
          <a:alpha val="90000"/>
        </a:schemeClr>
      </a:solidFill>
      <a:ln w="12700" cap="flat" cmpd="sng" algn="ctr">
        <a:solidFill>
          <a:schemeClr val="phClr"/>
        </a:solidFill>
        <a:round/>
      </a:ln>
      <a:effectLst>
        <a:outerShdw blurRad="50800" dist="38100" dir="2700000" algn="tl" rotWithShape="0">
          <a:schemeClr val="phClr">
            <a:lumMod val="75000"/>
            <a:alpha val="40000"/>
          </a:schemeClr>
        </a:outerShdw>
      </a:effectLst>
    </cs:spPr>
    <cs:defRPr sz="1000" b="0" i="0" u="none" strike="noStrike" kern="1200" baseline="0">
      <a:effectLst/>
    </cs:defRPr>
    <cs:bodyPr rot="0" spcFirstLastPara="1" vertOverflow="clip" horzOverflow="clip" vert="horz" wrap="square" lIns="38100" tIns="19050" rIns="38100" bIns="19050" anchor="ctr" anchorCtr="1">
      <a:spAutoFit/>
    </cs:bodyPr>
  </cs:dataLabel>
  <cs:dataLabelCallout>
    <cs:lnRef idx="0">
      <cs:styleClr val="auto"/>
    </cs:lnRef>
    <cs:fillRef idx="0"/>
    <cs:effectRef idx="0">
      <cs:styleClr val="auto"/>
    </cs:effectRef>
    <cs:fontRef idx="minor">
      <cs:styleClr val="auto"/>
    </cs:fontRef>
    <cs:spPr>
      <a:solidFill>
        <a:schemeClr val="lt1">
          <a:alpha val="90000"/>
        </a:schemeClr>
      </a:solidFill>
      <a:ln w="12700" cap="flat" cmpd="sng" algn="ctr">
        <a:solidFill>
          <a:schemeClr val="phClr"/>
        </a:solidFill>
        <a:round/>
      </a:ln>
      <a:effectLst>
        <a:outerShdw blurRad="50800" dist="38100" dir="2700000" algn="tl" rotWithShape="0">
          <a:schemeClr val="phClr">
            <a:lumMod val="75000"/>
            <a:alpha val="40000"/>
          </a:schemeClr>
        </a:outerShdw>
      </a:effectLst>
    </cs:spPr>
    <cs:defRPr sz="1000" b="0" i="0" u="none" strike="noStrike" kern="1200" baseline="0">
      <a:effectLst/>
    </cs:defRPr>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styleClr val="auto"/>
    </cs:lnRef>
    <cs:fillRef idx="0">
      <cs:styleClr val="auto"/>
    </cs:fillRef>
    <cs:effectRef idx="0">
      <cs:styleClr val="auto"/>
    </cs:effectRef>
    <cs:fontRef idx="minor">
      <a:schemeClr val="tx1"/>
    </cs:fontRef>
    <cs:spPr>
      <a:solidFill>
        <a:schemeClr val="phClr">
          <a:alpha val="90000"/>
        </a:schemeClr>
      </a:solidFill>
      <a:ln w="19050">
        <a:solidFill>
          <a:schemeClr val="phClr">
            <a:lumMod val="75000"/>
          </a:schemeClr>
        </a:solidFill>
      </a:ln>
      <a:effectLst>
        <a:innerShdw blurRad="114300">
          <a:schemeClr val="phClr">
            <a:lumMod val="75000"/>
          </a:schemeClr>
        </a:innerShdw>
      </a:effectLst>
      <a:scene3d>
        <a:camera prst="orthographicFront"/>
        <a:lightRig rig="threePt" dir="t"/>
      </a:scene3d>
      <a:sp3d contourW="19050" prstMaterial="flat">
        <a:contourClr>
          <a:schemeClr val="accent4">
            <a:lumMod val="75000"/>
          </a:schemeClr>
        </a:contourClr>
      </a:sp3d>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lt1"/>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BD7EAC-34A8-4428-8A9E-9C7A5906E7C5}" type="datetimeFigureOut">
              <a:rPr lang="en-US" smtClean="0"/>
              <a:t>10/29/2026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68116B-D091-4BCF-AE48-5F40EE2585A4}" type="slidenum">
              <a:rPr lang="en-US" smtClean="0"/>
              <a:t>‹#›</a:t>
            </a:fld>
            <a:endParaRPr lang="en-US"/>
          </a:p>
        </p:txBody>
      </p:sp>
    </p:spTree>
    <p:extLst>
      <p:ext uri="{BB962C8B-B14F-4D97-AF65-F5344CB8AC3E}">
        <p14:creationId xmlns:p14="http://schemas.microsoft.com/office/powerpoint/2010/main" val="1027295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6AC5B-1042-0289-9779-00400A2FF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5B1F82-4483-088B-D4B8-7AD53775D2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B9DE8E-F3AF-1025-E047-C12E864CD1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D4C94E-562D-3198-63BC-FF9096A973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434741-3FCC-4B8A-BE92-2A2F2BC8135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980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B7535-B0D5-6E8A-B68C-7744AE099A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A125B4-FF3E-1C70-A433-7A8FD5B137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CB36E9-414E-89C8-BC26-0CE1E1433F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F25C85-52FA-6060-3856-A7BFDD56AF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434741-3FCC-4B8A-BE92-2A2F2BC8135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7195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21707-6C0E-D754-9340-76393C6217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6DE3FA-5A44-6370-2574-7345E551BD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5EDE00-873A-0488-CE48-D85ABB2CDF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87C3C6-E985-C85F-17D5-7866C11676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434741-3FCC-4B8A-BE92-2A2F2BC8135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94411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D9BB4-35AB-E909-032B-A288E5FC9E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E561E-4A2F-5DB2-2C31-FF803D04D6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05DA73-5613-1FFF-8555-72C37378A3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BFD300-9EB7-4E47-ACDD-416830A686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434741-3FCC-4B8A-BE92-2A2F2BC8135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5720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151746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1517461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1517461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1517461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pic>
        <p:nvPicPr>
          <p:cNvPr id="7" name="Logo" descr="Кеестон Ресурс лого"/>
          <p:cNvPicPr>
            <a:picLocks noChangeAspect="1"/>
          </p:cNvPicPr>
          <p:nvPr userDrawn="1"/>
        </p:nvPicPr>
        <p:blipFill>
          <a:blip r:embed="rId2"/>
          <a:stretch>
            <a:fillRect/>
          </a:stretch>
        </p:blipFill>
        <p:spPr>
          <a:xfrm>
            <a:off x="762000" y="558800"/>
            <a:ext cx="2032000" cy="665480"/>
          </a:xfrm>
          <a:prstGeom prst="rect">
            <a:avLst/>
          </a:prstGeom>
        </p:spPr>
      </p:pic>
    </p:spTree>
    <p:extLst>
      <p:ext uri="{BB962C8B-B14F-4D97-AF65-F5344CB8AC3E}">
        <p14:creationId xmlns:p14="http://schemas.microsoft.com/office/powerpoint/2010/main" val="11517461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
        <p:nvSpPr>
          <p:cNvPr id="8" name="LogoPlate"/>
          <p:cNvSpPr/>
          <p:nvPr userDrawn="1"/>
        </p:nvSpPr>
        <p:spPr>
          <a:xfrm>
            <a:off x="647700" y="479425"/>
            <a:ext cx="2184400" cy="833120"/>
          </a:xfrm>
          <a:prstGeom prst="roundRect">
            <a:avLst>
              <a:gd name="adj" fmla="val 12000"/>
            </a:avLst>
          </a:prstGeom>
          <a:solidFill>
            <a:srgbClr val="F2F2F0"/>
          </a:solidFill>
          <a:ln>
            <a:noFill/>
          </a:ln>
        </p:spPr>
      </p:sp>
      <p:pic>
        <p:nvPicPr>
          <p:cNvPr id="7" name="Logo" descr="Кеестон Ресурс лого"/>
          <p:cNvPicPr>
            <a:picLocks noChangeAspect="1"/>
          </p:cNvPicPr>
          <p:nvPr userDrawn="1"/>
        </p:nvPicPr>
        <p:blipFill>
          <a:blip r:embed="rId2"/>
          <a:stretch>
            <a:fillRect/>
          </a:stretch>
        </p:blipFill>
        <p:spPr>
          <a:xfrm>
            <a:off x="787400" y="584200"/>
            <a:ext cx="1905000" cy="623570"/>
          </a:xfrm>
          <a:prstGeom prst="rect">
            <a:avLst/>
          </a:prstGeom>
        </p:spPr>
      </p:pic>
    </p:spTree>
    <p:extLst>
      <p:ext uri="{BB962C8B-B14F-4D97-AF65-F5344CB8AC3E}">
        <p14:creationId xmlns:p14="http://schemas.microsoft.com/office/powerpoint/2010/main" val="115174613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
        <p:nvSpPr>
          <p:cNvPr id="8" name="LogoPlate"/>
          <p:cNvSpPr/>
          <p:nvPr userDrawn="1"/>
        </p:nvSpPr>
        <p:spPr>
          <a:xfrm>
            <a:off x="647700" y="479425"/>
            <a:ext cx="2184400" cy="833120"/>
          </a:xfrm>
          <a:prstGeom prst="roundRect">
            <a:avLst>
              <a:gd name="adj" fmla="val 12000"/>
            </a:avLst>
          </a:prstGeom>
          <a:solidFill>
            <a:srgbClr val="F2F2F0"/>
          </a:solidFill>
          <a:ln>
            <a:noFill/>
          </a:ln>
        </p:spPr>
      </p:sp>
      <p:pic>
        <p:nvPicPr>
          <p:cNvPr id="7" name="Logo" descr="Кеестон Ресурс лого"/>
          <p:cNvPicPr>
            <a:picLocks noChangeAspect="1"/>
          </p:cNvPicPr>
          <p:nvPr userDrawn="1"/>
        </p:nvPicPr>
        <p:blipFill>
          <a:blip r:embed="rId2"/>
          <a:stretch>
            <a:fillRect/>
          </a:stretch>
        </p:blipFill>
        <p:spPr>
          <a:xfrm>
            <a:off x="787400" y="584200"/>
            <a:ext cx="1905000" cy="623570"/>
          </a:xfrm>
          <a:prstGeom prst="rect">
            <a:avLst/>
          </a:prstGeom>
        </p:spPr>
      </p:pic>
    </p:spTree>
    <p:extLst>
      <p:ext uri="{BB962C8B-B14F-4D97-AF65-F5344CB8AC3E}">
        <p14:creationId xmlns:p14="http://schemas.microsoft.com/office/powerpoint/2010/main" val="115174613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
        <p:nvSpPr>
          <p:cNvPr id="8" name="LogoPlate"/>
          <p:cNvSpPr/>
          <p:nvPr userDrawn="1"/>
        </p:nvSpPr>
        <p:spPr>
          <a:xfrm>
            <a:off x="647700" y="479425"/>
            <a:ext cx="2184400" cy="833120"/>
          </a:xfrm>
          <a:prstGeom prst="roundRect">
            <a:avLst>
              <a:gd name="adj" fmla="val 12000"/>
            </a:avLst>
          </a:prstGeom>
          <a:solidFill>
            <a:srgbClr val="F2F2F0"/>
          </a:solidFill>
          <a:ln>
            <a:noFill/>
          </a:ln>
        </p:spPr>
      </p:sp>
      <p:pic>
        <p:nvPicPr>
          <p:cNvPr id="7" name="Logo" descr="Кеестон Ресурс лого"/>
          <p:cNvPicPr>
            <a:picLocks noChangeAspect="1"/>
          </p:cNvPicPr>
          <p:nvPr userDrawn="1"/>
        </p:nvPicPr>
        <p:blipFill>
          <a:blip r:embed="rId2"/>
          <a:stretch>
            <a:fillRect/>
          </a:stretch>
        </p:blipFill>
        <p:spPr>
          <a:xfrm>
            <a:off x="787400" y="584200"/>
            <a:ext cx="1905000" cy="623570"/>
          </a:xfrm>
          <a:prstGeom prst="rect">
            <a:avLst/>
          </a:prstGeom>
        </p:spPr>
      </p:pic>
    </p:spTree>
    <p:extLst>
      <p:ext uri="{BB962C8B-B14F-4D97-AF65-F5344CB8AC3E}">
        <p14:creationId xmlns:p14="http://schemas.microsoft.com/office/powerpoint/2010/main" val="115174613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
        <p:nvSpPr>
          <p:cNvPr id="8" name="LogoPlate"/>
          <p:cNvSpPr/>
          <p:nvPr userDrawn="1"/>
        </p:nvSpPr>
        <p:spPr>
          <a:xfrm>
            <a:off x="647700" y="479425"/>
            <a:ext cx="2184400" cy="833120"/>
          </a:xfrm>
          <a:prstGeom prst="roundRect">
            <a:avLst>
              <a:gd name="adj" fmla="val 12000"/>
            </a:avLst>
          </a:prstGeom>
          <a:solidFill>
            <a:srgbClr val="F2F2F0"/>
          </a:solidFill>
          <a:ln>
            <a:noFill/>
          </a:ln>
        </p:spPr>
      </p:sp>
      <p:pic>
        <p:nvPicPr>
          <p:cNvPr id="7" name="Logo" descr="Кеестон Ресурс лого"/>
          <p:cNvPicPr>
            <a:picLocks noChangeAspect="1"/>
          </p:cNvPicPr>
          <p:nvPr userDrawn="1"/>
        </p:nvPicPr>
        <p:blipFill>
          <a:blip r:embed="rId2"/>
          <a:stretch>
            <a:fillRect/>
          </a:stretch>
        </p:blipFill>
        <p:spPr>
          <a:xfrm>
            <a:off x="787400" y="584200"/>
            <a:ext cx="1905000" cy="623570"/>
          </a:xfrm>
          <a:prstGeom prst="rect">
            <a:avLst/>
          </a:prstGeom>
        </p:spPr>
      </p:pic>
    </p:spTree>
    <p:extLst>
      <p:ext uri="{BB962C8B-B14F-4D97-AF65-F5344CB8AC3E}">
        <p14:creationId xmlns:p14="http://schemas.microsoft.com/office/powerpoint/2010/main" val="115174613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
        <p:nvSpPr>
          <p:cNvPr id="8" name="LogoPlate"/>
          <p:cNvSpPr/>
          <p:nvPr userDrawn="1"/>
        </p:nvSpPr>
        <p:spPr>
          <a:xfrm>
            <a:off x="647700" y="479425"/>
            <a:ext cx="2184400" cy="833120"/>
          </a:xfrm>
          <a:prstGeom prst="roundRect">
            <a:avLst>
              <a:gd name="adj" fmla="val 12000"/>
            </a:avLst>
          </a:prstGeom>
          <a:solidFill>
            <a:srgbClr val="F2F2F0"/>
          </a:solidFill>
          <a:ln>
            <a:noFill/>
          </a:ln>
        </p:spPr>
      </p:sp>
      <p:pic>
        <p:nvPicPr>
          <p:cNvPr id="7" name="Logo" descr="Кеестон Ресурс лого"/>
          <p:cNvPicPr>
            <a:picLocks noChangeAspect="1"/>
          </p:cNvPicPr>
          <p:nvPr userDrawn="1"/>
        </p:nvPicPr>
        <p:blipFill>
          <a:blip r:embed="rId2"/>
          <a:stretch>
            <a:fillRect/>
          </a:stretch>
        </p:blipFill>
        <p:spPr>
          <a:xfrm>
            <a:off x="787400" y="584200"/>
            <a:ext cx="1905000" cy="623570"/>
          </a:xfrm>
          <a:prstGeom prst="rect">
            <a:avLst/>
          </a:prstGeom>
        </p:spPr>
      </p:pic>
    </p:spTree>
    <p:extLst>
      <p:ext uri="{BB962C8B-B14F-4D97-AF65-F5344CB8AC3E}">
        <p14:creationId xmlns:p14="http://schemas.microsoft.com/office/powerpoint/2010/main" val="115174613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
        <p:nvSpPr>
          <p:cNvPr id="8" name="LogoPlate"/>
          <p:cNvSpPr/>
          <p:nvPr userDrawn="1"/>
        </p:nvSpPr>
        <p:spPr>
          <a:xfrm>
            <a:off x="647700" y="479425"/>
            <a:ext cx="2184400" cy="833120"/>
          </a:xfrm>
          <a:prstGeom prst="roundRect">
            <a:avLst>
              <a:gd name="adj" fmla="val 12000"/>
            </a:avLst>
          </a:prstGeom>
          <a:solidFill>
            <a:srgbClr val="F2F2F0"/>
          </a:solidFill>
          <a:ln>
            <a:noFill/>
          </a:ln>
        </p:spPr>
      </p:sp>
      <p:pic>
        <p:nvPicPr>
          <p:cNvPr id="7" name="Logo" descr="Кеестон Ресурс лого"/>
          <p:cNvPicPr>
            <a:picLocks noChangeAspect="1"/>
          </p:cNvPicPr>
          <p:nvPr userDrawn="1"/>
        </p:nvPicPr>
        <p:blipFill>
          <a:blip r:embed="rId2"/>
          <a:stretch>
            <a:fillRect/>
          </a:stretch>
        </p:blipFill>
        <p:spPr>
          <a:xfrm>
            <a:off x="787400" y="584200"/>
            <a:ext cx="1905000" cy="623570"/>
          </a:xfrm>
          <a:prstGeom prst="rect">
            <a:avLst/>
          </a:prstGeom>
        </p:spPr>
      </p:pic>
    </p:spTree>
    <p:extLst>
      <p:ext uri="{BB962C8B-B14F-4D97-AF65-F5344CB8AC3E}">
        <p14:creationId xmlns:p14="http://schemas.microsoft.com/office/powerpoint/2010/main" val="115174613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
        <p:nvSpPr>
          <p:cNvPr id="50" name="AccentRule"/>
          <p:cNvSpPr/>
          <p:nvPr userDrawn="1"/>
        </p:nvSpPr>
        <p:spPr>
          <a:xfrm>
            <a:off x="609600" y="1524000"/>
            <a:ext cx="711200" cy="50800"/>
          </a:xfrm>
          <a:prstGeom prst="rect">
            <a:avLst/>
          </a:prstGeom>
          <a:solidFill>
            <a:srgbClr val="F5E614"/>
          </a:solidFill>
          <a:ln>
            <a:noFill/>
          </a:ln>
        </p:spPr>
        <p:txBody>
          <a:bodyPr/>
          <a:lstStyle/>
          <a:p>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
        <p:nvSpPr>
          <p:cNvPr id="50" name="AccentRule"/>
          <p:cNvSpPr/>
          <p:nvPr userDrawn="1"/>
        </p:nvSpPr>
        <p:spPr>
          <a:xfrm>
            <a:off x="609600" y="1524000"/>
            <a:ext cx="711200" cy="50800"/>
          </a:xfrm>
          <a:prstGeom prst="rect">
            <a:avLst/>
          </a:prstGeom>
          <a:solidFill>
            <a:srgbClr val="F5E614"/>
          </a:solidFill>
          <a:ln>
            <a:noFill/>
          </a:ln>
        </p:spPr>
        <p:txBody>
          <a:bodyPr/>
          <a:lstStyle/>
          <a:p>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pic>
        <p:nvPicPr>
          <p:cNvPr id="7" name="Logo" descr="Кеестон Ресурс лого"/>
          <p:cNvPicPr>
            <a:picLocks noChangeAspect="1"/>
          </p:cNvPicPr>
          <p:nvPr userDrawn="1"/>
        </p:nvPicPr>
        <p:blipFill>
          <a:blip r:embed="rId2"/>
          <a:stretch>
            <a:fillRect/>
          </a:stretch>
        </p:blipFill>
        <p:spPr>
          <a:xfrm>
            <a:off x="787400" y="584200"/>
            <a:ext cx="2159000" cy="701675"/>
          </a:xfrm>
          <a:prstGeom prst="rect">
            <a:avLst/>
          </a:prstGeom>
        </p:spPr>
      </p:pic>
    </p:spTree>
    <p:extLst>
      <p:ext uri="{BB962C8B-B14F-4D97-AF65-F5344CB8AC3E}">
        <p14:creationId xmlns:p14="http://schemas.microsoft.com/office/powerpoint/2010/main" val="115174613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
        <p:nvSpPr>
          <p:cNvPr id="50" name="AccentRule"/>
          <p:cNvSpPr/>
          <p:nvPr userDrawn="1"/>
        </p:nvSpPr>
        <p:spPr>
          <a:xfrm>
            <a:off x="609600" y="1524000"/>
            <a:ext cx="711200" cy="50800"/>
          </a:xfrm>
          <a:prstGeom prst="rect">
            <a:avLst/>
          </a:prstGeom>
          <a:solidFill>
            <a:srgbClr val="F5E614"/>
          </a:solidFill>
          <a:ln>
            <a:noFill/>
          </a:ln>
        </p:spPr>
        <p:txBody>
          <a:bodyPr/>
          <a:lstStyle/>
          <a:p>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
        <p:nvSpPr>
          <p:cNvPr id="50" name="AccentRule"/>
          <p:cNvSpPr/>
          <p:nvPr userDrawn="1"/>
        </p:nvSpPr>
        <p:spPr>
          <a:xfrm>
            <a:off x="609600" y="1524000"/>
            <a:ext cx="711200" cy="50800"/>
          </a:xfrm>
          <a:prstGeom prst="rect">
            <a:avLst/>
          </a:prstGeom>
          <a:solidFill>
            <a:srgbClr val="F5E614"/>
          </a:solidFill>
          <a:ln>
            <a:noFill/>
          </a:ln>
        </p:spPr>
        <p:txBody>
          <a:bodyPr/>
          <a:lstStyle/>
          <a:p>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pic>
        <p:nvPicPr>
          <p:cNvPr id="7" name="Logo" descr="Кеестон Ресурс лого"/>
          <p:cNvPicPr>
            <a:picLocks noChangeAspect="1"/>
          </p:cNvPicPr>
          <p:nvPr userDrawn="1"/>
        </p:nvPicPr>
        <p:blipFill>
          <a:blip r:embed="rId2"/>
          <a:stretch>
            <a:fillRect/>
          </a:stretch>
        </p:blipFill>
        <p:spPr>
          <a:xfrm>
            <a:off x="787400" y="584200"/>
            <a:ext cx="2159000" cy="701675"/>
          </a:xfrm>
          <a:prstGeom prst="rect">
            <a:avLst/>
          </a:prstGeom>
        </p:spPr>
      </p:pic>
    </p:spTree>
    <p:extLst>
      <p:ext uri="{BB962C8B-B14F-4D97-AF65-F5344CB8AC3E}">
        <p14:creationId xmlns:p14="http://schemas.microsoft.com/office/powerpoint/2010/main" val="1151746138"/>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
        <p:nvSpPr>
          <p:cNvPr id="50" name="AccentRule"/>
          <p:cNvSpPr/>
          <p:nvPr userDrawn="1"/>
        </p:nvSpPr>
        <p:spPr>
          <a:xfrm>
            <a:off x="609600" y="1524000"/>
            <a:ext cx="711200" cy="50800"/>
          </a:xfrm>
          <a:prstGeom prst="rect">
            <a:avLst/>
          </a:prstGeom>
          <a:solidFill>
            <a:srgbClr val="F5E614"/>
          </a:solidFill>
          <a:ln>
            <a:noFill/>
          </a:ln>
        </p:spPr>
        <p:txBody>
          <a:bodyPr/>
          <a:lstStyle/>
          <a:p>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
        <p:nvSpPr>
          <p:cNvPr id="50" name="AccentRule"/>
          <p:cNvSpPr/>
          <p:nvPr userDrawn="1"/>
        </p:nvSpPr>
        <p:spPr>
          <a:xfrm>
            <a:off x="609600" y="1524000"/>
            <a:ext cx="711200" cy="50800"/>
          </a:xfrm>
          <a:prstGeom prst="rect">
            <a:avLst/>
          </a:prstGeom>
          <a:solidFill>
            <a:srgbClr val="F5E614"/>
          </a:solidFill>
          <a:ln>
            <a:noFill/>
          </a:ln>
        </p:spPr>
        <p:txBody>
          <a:bodyPr/>
          <a:lstStyle/>
          <a:p>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0426118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92582944"/>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58928231"/>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02398907"/>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10715900"/>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090823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1494910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97656114"/>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32061929"/>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6477732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495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1.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1.pn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image" Target="../media/image1.png"/><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image" Target="../media/image1.png"/><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image" Target="../media/image1.png"/><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image" Target="../media/image1.png"/><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13" Type="http://schemas.openxmlformats.org/officeDocument/2006/relationships/image" Target="../media/image2.png"/><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12.xml"/><Relationship Id="rId2" Type="http://schemas.openxmlformats.org/officeDocument/2006/relationships/slideLayout" Target="../slideLayouts/slideLayout123.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image" Target="../media/image2.png"/><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theme" Target="../theme/theme13.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51.xml"/><Relationship Id="rId3" Type="http://schemas.openxmlformats.org/officeDocument/2006/relationships/slideLayout" Target="../slideLayouts/slideLayout146.xml"/><Relationship Id="rId7" Type="http://schemas.openxmlformats.org/officeDocument/2006/relationships/slideLayout" Target="../slideLayouts/slideLayout150.xml"/><Relationship Id="rId12" Type="http://schemas.openxmlformats.org/officeDocument/2006/relationships/theme" Target="../theme/theme14.xml"/><Relationship Id="rId2" Type="http://schemas.openxmlformats.org/officeDocument/2006/relationships/slideLayout" Target="../slideLayouts/slideLayout145.xml"/><Relationship Id="rId1" Type="http://schemas.openxmlformats.org/officeDocument/2006/relationships/slideLayout" Target="../slideLayouts/slideLayout144.xml"/><Relationship Id="rId6" Type="http://schemas.openxmlformats.org/officeDocument/2006/relationships/slideLayout" Target="../slideLayouts/slideLayout149.xml"/><Relationship Id="rId11" Type="http://schemas.openxmlformats.org/officeDocument/2006/relationships/slideLayout" Target="../slideLayouts/slideLayout154.xml"/><Relationship Id="rId5" Type="http://schemas.openxmlformats.org/officeDocument/2006/relationships/slideLayout" Target="../slideLayouts/slideLayout148.xml"/><Relationship Id="rId10" Type="http://schemas.openxmlformats.org/officeDocument/2006/relationships/slideLayout" Target="../slideLayouts/slideLayout153.xml"/><Relationship Id="rId4" Type="http://schemas.openxmlformats.org/officeDocument/2006/relationships/slideLayout" Target="../slideLayouts/slideLayout147.xml"/><Relationship Id="rId9" Type="http://schemas.openxmlformats.org/officeDocument/2006/relationships/slideLayout" Target="../slideLayouts/slideLayout1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26262A"/>
            </a:gs>
            <a:gs pos="100000">
              <a:srgbClr val="141416"/>
            </a:gs>
          </a:gsLst>
          <a:lin ang="5400000" scaled="0"/>
        </a:gradFill>
        <a:effectLst/>
      </p:bgPr>
    </p:bg>
    <p:spTree>
      <p:nvGrpSpPr>
        <p:cNvPr id="1" name=""/>
        <p:cNvGrpSpPr/>
        <p:nvPr/>
      </p:nvGrpSpPr>
      <p:grpSpPr>
        <a:xfrm>
          <a:off x="0" y="0"/>
          <a:ext cx="0" cy="0"/>
          <a:chOff x="0" y="0"/>
          <a:chExt cx="0" cy="0"/>
        </a:xfrm>
      </p:grpSpPr>
      <p:grpSp>
        <p:nvGrpSpPr>
          <p:cNvPr id="7" name="Brand"/>
          <p:cNvGrpSpPr/>
          <p:nvPr/>
        </p:nvGrpSpPr>
        <p:grpSpPr>
          <a:xfrm>
            <a:off x="0" y="0"/>
            <a:ext cx="12192000" cy="6858000"/>
            <a:chOff x="0" y="0"/>
            <a:chExt cx="12192000" cy="6858000"/>
          </a:xfrm>
        </p:grpSpPr>
        <p:sp>
          <p:nvSpPr>
            <p:cNvPr id="8" name="AccentRule"/>
            <p:cNvSpPr/>
            <p:nvPr userDrawn="1"/>
          </p:nvSpPr>
          <p:spPr>
            <a:xfrm>
              <a:off x="609600" y="1422400"/>
              <a:ext cx="711200" cy="50800"/>
            </a:xfrm>
            <a:prstGeom prst="rect">
              <a:avLst/>
            </a:prstGeom>
            <a:solidFill>
              <a:srgbClr val="F5E614"/>
            </a:solidFill>
            <a:ln>
              <a:noFill/>
            </a:ln>
          </p:spPr>
        </p:sp>
        <p:sp>
          <p:nvSpPr>
            <p:cNvPr id="9" name="FooterLine"/>
            <p:cNvSpPr/>
            <p:nvPr userDrawn="1"/>
          </p:nvSpPr>
          <p:spPr>
            <a:xfrm>
              <a:off x="609600" y="6426200"/>
              <a:ext cx="10972800" cy="9525"/>
            </a:xfrm>
            <a:prstGeom prst="rect">
              <a:avLst/>
            </a:prstGeom>
            <a:solidFill>
              <a:srgbClr val="3A3A3F"/>
            </a:solidFill>
            <a:ln>
              <a:noFill/>
            </a:ln>
          </p:spPr>
        </p:sp>
        <p:sp>
          <p:nvSpPr>
            <p:cNvPr id="10" name="FooterText"/>
            <p:cNvSpPr txBox="1"/>
            <p:nvPr userDrawn="1"/>
          </p:nvSpPr>
          <p:spPr>
            <a:xfrm>
              <a:off x="609600" y="6489700"/>
              <a:ext cx="8890000" cy="228600"/>
            </a:xfrm>
            <a:prstGeom prst="rect">
              <a:avLst/>
            </a:prstGeom>
            <a:noFill/>
          </p:spPr>
          <p:txBody>
            <a:bodyPr wrap="none" lIns="0" tIns="0" rIns="0" bIns="0" anchor="t"/>
            <a:lstStyle/>
            <a:p>
              <a:r>
                <a:rPr lang="mn-MN" sz="1000" dirty="0">
                  <a:solidFill>
                    <a:srgbClr val="8C8C92"/>
                  </a:solidFill>
                </a:rPr>
                <a:t>Баруун Хужхааны Жалга-1 цагаан тугалга-гянтболдын шороон орд  ·  ТЭЗҮ товч танилцуулга</a:t>
              </a:r>
            </a:p>
          </p:txBody>
        </p:sp>
        <p:pic>
          <p:nvPicPr>
            <p:cNvPr id="11" name="Logo"/>
            <p:cNvPicPr>
              <a:picLocks noChangeAspect="1"/>
            </p:cNvPicPr>
            <p:nvPr userDrawn="1"/>
          </p:nvPicPr>
          <p:blipFill>
            <a:blip r:embed="rId13"/>
            <a:stretch>
              <a:fillRect/>
            </a:stretch>
          </p:blipFill>
          <p:spPr>
            <a:xfrm>
              <a:off x="10617200" y="381000"/>
              <a:ext cx="965200" cy="316230"/>
            </a:xfrm>
            <a:prstGeom prst="rect">
              <a:avLst/>
            </a:prstGeom>
          </p:spPr>
        </p:pic>
      </p:grpSp>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609600" y="355600"/>
            <a:ext cx="10515600" cy="1325563"/>
          </a:xfrm>
          <a:prstGeom prst="rect">
            <a:avLst/>
          </a:prstGeom>
        </p:spPr>
        <p:txBody>
          <a:bodyPr vert="horz" lIns="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609600" y="1651000"/>
            <a:ext cx="10515600" cy="4351338"/>
          </a:xfrm>
          <a:prstGeom prst="rect">
            <a:avLst/>
          </a:prstGeom>
        </p:spPr>
        <p:txBody>
          <a:bodyPr vert="horz" lIns="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5000"/>
        </a:lnSpc>
        <a:spcBef>
          <a:spcPct val="0"/>
        </a:spcBef>
        <a:buNone/>
        <a:defRPr sz="3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26262A"/>
            </a:gs>
            <a:gs pos="100000">
              <a:srgbClr val="141416"/>
            </a:gs>
          </a:gsLst>
          <a:lin ang="5400000" scaled="0"/>
        </a:gradFill>
        <a:effectLst/>
      </p:bgPr>
    </p:bg>
    <p:spTree>
      <p:nvGrpSpPr>
        <p:cNvPr id="1" name=""/>
        <p:cNvGrpSpPr/>
        <p:nvPr/>
      </p:nvGrpSpPr>
      <p:grpSpPr>
        <a:xfrm>
          <a:off x="0" y="0"/>
          <a:ext cx="0" cy="0"/>
          <a:chOff x="0" y="0"/>
          <a:chExt cx="0" cy="0"/>
        </a:xfrm>
      </p:grpSpPr>
      <p:sp>
        <p:nvSpPr>
          <p:cNvPr id="8" name="AccentRule"/>
          <p:cNvSpPr/>
          <p:nvPr userDrawn="1"/>
        </p:nvSpPr>
        <p:spPr>
          <a:xfrm>
            <a:off x="609600" y="1422400"/>
            <a:ext cx="711200" cy="50800"/>
          </a:xfrm>
          <a:prstGeom prst="rect">
            <a:avLst/>
          </a:prstGeom>
          <a:solidFill>
            <a:srgbClr val="F5E614"/>
          </a:solidFill>
          <a:ln>
            <a:noFill/>
          </a:ln>
        </p:spPr>
      </p:sp>
      <p:sp>
        <p:nvSpPr>
          <p:cNvPr id="9" name="FooterLine"/>
          <p:cNvSpPr/>
          <p:nvPr userDrawn="1"/>
        </p:nvSpPr>
        <p:spPr>
          <a:xfrm>
            <a:off x="609600" y="6426200"/>
            <a:ext cx="10972800" cy="12700"/>
          </a:xfrm>
          <a:prstGeom prst="rect">
            <a:avLst/>
          </a:prstGeom>
          <a:solidFill>
            <a:srgbClr val="3A3A3F"/>
          </a:solidFill>
          <a:ln>
            <a:noFill/>
          </a:ln>
        </p:spPr>
      </p:sp>
      <p:sp>
        <p:nvSpPr>
          <p:cNvPr id="10" name="FooterText"/>
          <p:cNvSpPr txBox="1"/>
          <p:nvPr userDrawn="1"/>
        </p:nvSpPr>
        <p:spPr>
          <a:xfrm>
            <a:off x="609600" y="6502400"/>
            <a:ext cx="8890000" cy="203200"/>
          </a:xfrm>
          <a:prstGeom prst="rect">
            <a:avLst/>
          </a:prstGeom>
          <a:noFill/>
        </p:spPr>
        <p:txBody>
          <a:bodyPr wrap="none" lIns="0" tIns="0" rIns="0" bIns="0" anchor="t"/>
          <a:lstStyle/>
          <a:p>
            <a:r>
              <a:rPr lang="mn-MN" sz="1000" dirty="0">
                <a:solidFill>
                  <a:srgbClr val="8C8C92"/>
                </a:solidFill>
              </a:rPr>
              <a:t>Баруун Хужхааны Жалга-1 цагаан тугалга-гянтболдын шороон орд  ·  ТЭЗҮ товч танилцуулга</a:t>
            </a:r>
          </a:p>
        </p:txBody>
      </p:sp>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609600" y="355600"/>
            <a:ext cx="10515600" cy="1325563"/>
          </a:xfrm>
          <a:prstGeom prst="rect">
            <a:avLst/>
          </a:prstGeom>
        </p:spPr>
        <p:txBody>
          <a:bodyPr vert="horz" lIns="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609600" y="1651000"/>
            <a:ext cx="10515600" cy="4351338"/>
          </a:xfrm>
          <a:prstGeom prst="rect">
            <a:avLst/>
          </a:prstGeom>
        </p:spPr>
        <p:txBody>
          <a:bodyPr vert="horz" lIns="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26262A"/>
            </a:gs>
            <a:gs pos="100000">
              <a:srgbClr val="141416"/>
            </a:gs>
          </a:gsLst>
          <a:lin ang="5400000" scaled="0"/>
        </a:gradFill>
        <a:effectLst/>
      </p:bgPr>
    </p:bg>
    <p:spTree>
      <p:nvGrpSpPr>
        <p:cNvPr id="1" name=""/>
        <p:cNvGrpSpPr/>
        <p:nvPr/>
      </p:nvGrpSpPr>
      <p:grpSpPr>
        <a:xfrm>
          <a:off x="0" y="0"/>
          <a:ext cx="0" cy="0"/>
          <a:chOff x="0" y="0"/>
          <a:chExt cx="0" cy="0"/>
        </a:xfrm>
      </p:grpSpPr>
      <p:sp>
        <p:nvSpPr>
          <p:cNvPr id="8" name="AccentRule"/>
          <p:cNvSpPr/>
          <p:nvPr userDrawn="1"/>
        </p:nvSpPr>
        <p:spPr>
          <a:xfrm>
            <a:off x="609600" y="1422400"/>
            <a:ext cx="711200" cy="50800"/>
          </a:xfrm>
          <a:prstGeom prst="rect">
            <a:avLst/>
          </a:prstGeom>
          <a:solidFill>
            <a:srgbClr val="F5E614"/>
          </a:solidFill>
          <a:ln>
            <a:noFill/>
          </a:ln>
        </p:spPr>
      </p:sp>
      <p:sp>
        <p:nvSpPr>
          <p:cNvPr id="9" name="FooterLine"/>
          <p:cNvSpPr/>
          <p:nvPr userDrawn="1"/>
        </p:nvSpPr>
        <p:spPr>
          <a:xfrm>
            <a:off x="609600" y="6426200"/>
            <a:ext cx="10972800" cy="12700"/>
          </a:xfrm>
          <a:prstGeom prst="rect">
            <a:avLst/>
          </a:prstGeom>
          <a:solidFill>
            <a:srgbClr val="3A3A3F"/>
          </a:solidFill>
          <a:ln>
            <a:noFill/>
          </a:ln>
        </p:spPr>
      </p:sp>
      <p:sp>
        <p:nvSpPr>
          <p:cNvPr id="10" name="FooterText"/>
          <p:cNvSpPr txBox="1"/>
          <p:nvPr userDrawn="1"/>
        </p:nvSpPr>
        <p:spPr>
          <a:xfrm>
            <a:off x="609600" y="6502400"/>
            <a:ext cx="8890000" cy="203200"/>
          </a:xfrm>
          <a:prstGeom prst="rect">
            <a:avLst/>
          </a:prstGeom>
          <a:noFill/>
        </p:spPr>
        <p:txBody>
          <a:bodyPr wrap="none" lIns="0" tIns="0" rIns="0" bIns="0" anchor="t"/>
          <a:lstStyle/>
          <a:p>
            <a:r>
              <a:rPr lang="mn-MN" sz="1000" dirty="0">
                <a:solidFill>
                  <a:srgbClr val="8C8C92"/>
                </a:solidFill>
              </a:rPr>
              <a:t>Баруун Хужхааны Жалга-1 цагаан тугалга-гянтболдын шороон орд  ·  ТЭЗҮ товч танилцуулга</a:t>
            </a:r>
          </a:p>
        </p:txBody>
      </p:sp>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609600" y="355600"/>
            <a:ext cx="10515600" cy="1325563"/>
          </a:xfrm>
          <a:prstGeom prst="rect">
            <a:avLst/>
          </a:prstGeom>
        </p:spPr>
        <p:txBody>
          <a:bodyPr vert="horz" lIns="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609600" y="1651000"/>
            <a:ext cx="10515600" cy="4351338"/>
          </a:xfrm>
          <a:prstGeom prst="rect">
            <a:avLst/>
          </a:prstGeom>
        </p:spPr>
        <p:txBody>
          <a:bodyPr vert="horz" lIns="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pic>
        <p:nvPicPr>
          <p:cNvPr id="11" name="Logo" descr="Кеестон Ресурс лого"/>
          <p:cNvPicPr>
            <a:picLocks noChangeAspect="1"/>
          </p:cNvPicPr>
          <p:nvPr userDrawn="1"/>
        </p:nvPicPr>
        <p:blipFill>
          <a:blip r:embed="rId13"/>
          <a:stretch>
            <a:fillRect/>
          </a:stretch>
        </p:blipFill>
        <p:spPr>
          <a:xfrm>
            <a:off x="10617200" y="381000"/>
            <a:ext cx="965200" cy="316230"/>
          </a:xfrm>
          <a:prstGeom prst="rect">
            <a:avLst/>
          </a:prstGeom>
        </p:spPr>
      </p:pic>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26262A"/>
            </a:gs>
            <a:gs pos="100000">
              <a:srgbClr val="141416"/>
            </a:gs>
          </a:gsLst>
          <a:lin ang="5400000" scaled="0"/>
        </a:gradFill>
        <a:effectLst/>
      </p:bgPr>
    </p:bg>
    <p:spTree>
      <p:nvGrpSpPr>
        <p:cNvPr id="1" name=""/>
        <p:cNvGrpSpPr/>
        <p:nvPr/>
      </p:nvGrpSpPr>
      <p:grpSpPr>
        <a:xfrm>
          <a:off x="0" y="0"/>
          <a:ext cx="0" cy="0"/>
          <a:chOff x="0" y="0"/>
          <a:chExt cx="0" cy="0"/>
        </a:xfrm>
      </p:grpSpPr>
      <p:sp>
        <p:nvSpPr>
          <p:cNvPr id="8" name="AccentRule"/>
          <p:cNvSpPr/>
          <p:nvPr userDrawn="1"/>
        </p:nvSpPr>
        <p:spPr>
          <a:xfrm>
            <a:off x="609600" y="1422400"/>
            <a:ext cx="711200" cy="50800"/>
          </a:xfrm>
          <a:prstGeom prst="rect">
            <a:avLst/>
          </a:prstGeom>
          <a:solidFill>
            <a:srgbClr val="F5E614"/>
          </a:solidFill>
          <a:ln>
            <a:noFill/>
          </a:ln>
        </p:spPr>
      </p:sp>
      <p:sp>
        <p:nvSpPr>
          <p:cNvPr id="9" name="FooterLine"/>
          <p:cNvSpPr/>
          <p:nvPr userDrawn="1"/>
        </p:nvSpPr>
        <p:spPr>
          <a:xfrm>
            <a:off x="609600" y="6426200"/>
            <a:ext cx="10972800" cy="12700"/>
          </a:xfrm>
          <a:prstGeom prst="rect">
            <a:avLst/>
          </a:prstGeom>
          <a:solidFill>
            <a:srgbClr val="3A3A3F"/>
          </a:solidFill>
          <a:ln>
            <a:noFill/>
          </a:ln>
        </p:spPr>
      </p:sp>
      <p:sp>
        <p:nvSpPr>
          <p:cNvPr id="10" name="FooterText"/>
          <p:cNvSpPr txBox="1"/>
          <p:nvPr userDrawn="1"/>
        </p:nvSpPr>
        <p:spPr>
          <a:xfrm>
            <a:off x="609600" y="6502400"/>
            <a:ext cx="8890000" cy="203200"/>
          </a:xfrm>
          <a:prstGeom prst="rect">
            <a:avLst/>
          </a:prstGeom>
          <a:noFill/>
        </p:spPr>
        <p:txBody>
          <a:bodyPr wrap="none" lIns="0" tIns="0" rIns="0" bIns="0" anchor="t"/>
          <a:lstStyle/>
          <a:p>
            <a:r>
              <a:rPr lang="mn-MN" sz="1000" dirty="0">
                <a:solidFill>
                  <a:srgbClr val="8C8C92"/>
                </a:solidFill>
              </a:rPr>
              <a:t>Баруун Хужхааны Жалга-1 цагаан тугалга-гянтболдын шороон орд  ·  ТЭЗҮ товч танилцуулга</a:t>
            </a:r>
          </a:p>
        </p:txBody>
      </p:sp>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609600" y="355600"/>
            <a:ext cx="10515600" cy="1325563"/>
          </a:xfrm>
          <a:prstGeom prst="rect">
            <a:avLst/>
          </a:prstGeom>
        </p:spPr>
        <p:txBody>
          <a:bodyPr vert="horz" lIns="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609600" y="1651000"/>
            <a:ext cx="10515600" cy="4351338"/>
          </a:xfrm>
          <a:prstGeom prst="rect">
            <a:avLst/>
          </a:prstGeom>
        </p:spPr>
        <p:txBody>
          <a:bodyPr vert="horz" lIns="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sp>
        <p:nvSpPr>
          <p:cNvPr id="12" name="LogoPlate"/>
          <p:cNvSpPr/>
          <p:nvPr userDrawn="1"/>
        </p:nvSpPr>
        <p:spPr>
          <a:xfrm>
            <a:off x="10350500" y="327025"/>
            <a:ext cx="1295400" cy="499110"/>
          </a:xfrm>
          <a:prstGeom prst="roundRect">
            <a:avLst>
              <a:gd name="adj" fmla="val 12000"/>
            </a:avLst>
          </a:prstGeom>
          <a:solidFill>
            <a:srgbClr val="F2F2F0"/>
          </a:solidFill>
          <a:ln>
            <a:noFill/>
          </a:ln>
        </p:spPr>
      </p:sp>
      <p:pic>
        <p:nvPicPr>
          <p:cNvPr id="11" name="Logo" descr="Кеестон Ресурс лого"/>
          <p:cNvPicPr>
            <a:picLocks noChangeAspect="1"/>
          </p:cNvPicPr>
          <p:nvPr userDrawn="1"/>
        </p:nvPicPr>
        <p:blipFill>
          <a:blip r:embed="rId13"/>
          <a:stretch>
            <a:fillRect/>
          </a:stretch>
        </p:blipFill>
        <p:spPr>
          <a:xfrm>
            <a:off x="10439400" y="393700"/>
            <a:ext cx="1117600" cy="365760"/>
          </a:xfrm>
          <a:prstGeom prst="rect">
            <a:avLst/>
          </a:prstGeom>
        </p:spPr>
      </p:pic>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26262A"/>
            </a:gs>
            <a:gs pos="100000">
              <a:srgbClr val="141416"/>
            </a:gs>
          </a:gsLst>
          <a:lin ang="5400000" scaled="0"/>
        </a:gradFill>
        <a:effectLst/>
      </p:bgPr>
    </p:bg>
    <p:spTree>
      <p:nvGrpSpPr>
        <p:cNvPr id="1" name=""/>
        <p:cNvGrpSpPr/>
        <p:nvPr/>
      </p:nvGrpSpPr>
      <p:grpSpPr>
        <a:xfrm>
          <a:off x="0" y="0"/>
          <a:ext cx="0" cy="0"/>
          <a:chOff x="0" y="0"/>
          <a:chExt cx="0" cy="0"/>
        </a:xfrm>
      </p:grpSpPr>
      <p:sp>
        <p:nvSpPr>
          <p:cNvPr id="8" name="AccentRule"/>
          <p:cNvSpPr/>
          <p:nvPr userDrawn="1"/>
        </p:nvSpPr>
        <p:spPr>
          <a:xfrm>
            <a:off x="609600" y="1422400"/>
            <a:ext cx="711200" cy="50800"/>
          </a:xfrm>
          <a:prstGeom prst="rect">
            <a:avLst/>
          </a:prstGeom>
          <a:solidFill>
            <a:srgbClr val="F5E614"/>
          </a:solidFill>
          <a:ln>
            <a:noFill/>
          </a:ln>
        </p:spPr>
      </p:sp>
      <p:sp>
        <p:nvSpPr>
          <p:cNvPr id="9" name="FooterLine"/>
          <p:cNvSpPr/>
          <p:nvPr userDrawn="1"/>
        </p:nvSpPr>
        <p:spPr>
          <a:xfrm>
            <a:off x="609600" y="6426200"/>
            <a:ext cx="10972800" cy="12700"/>
          </a:xfrm>
          <a:prstGeom prst="rect">
            <a:avLst/>
          </a:prstGeom>
          <a:solidFill>
            <a:srgbClr val="3A3A3F"/>
          </a:solidFill>
          <a:ln>
            <a:noFill/>
          </a:ln>
        </p:spPr>
      </p:sp>
      <p:sp>
        <p:nvSpPr>
          <p:cNvPr id="10" name="FooterText"/>
          <p:cNvSpPr txBox="1"/>
          <p:nvPr userDrawn="1"/>
        </p:nvSpPr>
        <p:spPr>
          <a:xfrm>
            <a:off x="609600" y="6502400"/>
            <a:ext cx="8890000" cy="203200"/>
          </a:xfrm>
          <a:prstGeom prst="rect">
            <a:avLst/>
          </a:prstGeom>
          <a:noFill/>
        </p:spPr>
        <p:txBody>
          <a:bodyPr wrap="none" lIns="0" tIns="0" rIns="0" bIns="0" anchor="t"/>
          <a:lstStyle/>
          <a:p>
            <a:r>
              <a:rPr lang="mn-MN" sz="1000" dirty="0">
                <a:solidFill>
                  <a:srgbClr val="8C8C92"/>
                </a:solidFill>
              </a:rPr>
              <a:t>Баруун Хужхааны Жалга-1 цагаан тугалга-гянтболдын шороон орд  ·  ТЭЗҮ товч танилцуулга</a:t>
            </a:r>
          </a:p>
        </p:txBody>
      </p:sp>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609600" y="355600"/>
            <a:ext cx="10515600" cy="1325563"/>
          </a:xfrm>
          <a:prstGeom prst="rect">
            <a:avLst/>
          </a:prstGeom>
        </p:spPr>
        <p:txBody>
          <a:bodyPr vert="horz" lIns="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609600" y="1651000"/>
            <a:ext cx="10515600" cy="4351338"/>
          </a:xfrm>
          <a:prstGeom prst="rect">
            <a:avLst/>
          </a:prstGeom>
        </p:spPr>
        <p:txBody>
          <a:bodyPr vert="horz" lIns="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sp>
        <p:nvSpPr>
          <p:cNvPr id="12" name="LogoPlate"/>
          <p:cNvSpPr/>
          <p:nvPr userDrawn="1"/>
        </p:nvSpPr>
        <p:spPr>
          <a:xfrm>
            <a:off x="10350500" y="327025"/>
            <a:ext cx="1295400" cy="499110"/>
          </a:xfrm>
          <a:prstGeom prst="roundRect">
            <a:avLst>
              <a:gd name="adj" fmla="val 12000"/>
            </a:avLst>
          </a:prstGeom>
          <a:solidFill>
            <a:srgbClr val="F2F2F0"/>
          </a:solidFill>
          <a:ln>
            <a:noFill/>
          </a:ln>
        </p:spPr>
      </p:sp>
      <p:pic>
        <p:nvPicPr>
          <p:cNvPr id="11" name="Logo" descr="Кеестон Ресурс лого"/>
          <p:cNvPicPr>
            <a:picLocks noChangeAspect="1"/>
          </p:cNvPicPr>
          <p:nvPr userDrawn="1"/>
        </p:nvPicPr>
        <p:blipFill>
          <a:blip r:embed="rId13"/>
          <a:stretch>
            <a:fillRect/>
          </a:stretch>
        </p:blipFill>
        <p:spPr>
          <a:xfrm>
            <a:off x="10439400" y="393700"/>
            <a:ext cx="1117600" cy="365760"/>
          </a:xfrm>
          <a:prstGeom prst="rect">
            <a:avLst/>
          </a:prstGeom>
        </p:spPr>
      </p:pic>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26262A"/>
            </a:gs>
            <a:gs pos="100000">
              <a:srgbClr val="141416"/>
            </a:gs>
          </a:gsLst>
          <a:lin ang="5400000" scaled="0"/>
        </a:gradFill>
        <a:effectLst/>
      </p:bgPr>
    </p:bg>
    <p:spTree>
      <p:nvGrpSpPr>
        <p:cNvPr id="1" name=""/>
        <p:cNvGrpSpPr/>
        <p:nvPr/>
      </p:nvGrpSpPr>
      <p:grpSpPr>
        <a:xfrm>
          <a:off x="0" y="0"/>
          <a:ext cx="0" cy="0"/>
          <a:chOff x="0" y="0"/>
          <a:chExt cx="0" cy="0"/>
        </a:xfrm>
      </p:grpSpPr>
      <p:sp>
        <p:nvSpPr>
          <p:cNvPr id="8" name="AccentRule"/>
          <p:cNvSpPr/>
          <p:nvPr userDrawn="1"/>
        </p:nvSpPr>
        <p:spPr>
          <a:xfrm>
            <a:off x="609600" y="1524000"/>
            <a:ext cx="711200" cy="50800"/>
          </a:xfrm>
          <a:prstGeom prst="rect">
            <a:avLst/>
          </a:prstGeom>
          <a:solidFill>
            <a:srgbClr val="F5E614"/>
          </a:solidFill>
          <a:ln>
            <a:noFill/>
          </a:ln>
        </p:spPr>
      </p:sp>
      <p:sp>
        <p:nvSpPr>
          <p:cNvPr id="9" name="FooterLine"/>
          <p:cNvSpPr/>
          <p:nvPr userDrawn="1"/>
        </p:nvSpPr>
        <p:spPr>
          <a:xfrm>
            <a:off x="609600" y="6426200"/>
            <a:ext cx="10972800" cy="12700"/>
          </a:xfrm>
          <a:prstGeom prst="rect">
            <a:avLst/>
          </a:prstGeom>
          <a:solidFill>
            <a:srgbClr val="3A3A3F"/>
          </a:solidFill>
          <a:ln>
            <a:noFill/>
          </a:ln>
        </p:spPr>
      </p:sp>
      <p:sp>
        <p:nvSpPr>
          <p:cNvPr id="10" name="FooterText"/>
          <p:cNvSpPr txBox="1"/>
          <p:nvPr userDrawn="1"/>
        </p:nvSpPr>
        <p:spPr>
          <a:xfrm>
            <a:off x="609600" y="6502400"/>
            <a:ext cx="8890000" cy="203200"/>
          </a:xfrm>
          <a:prstGeom prst="rect">
            <a:avLst/>
          </a:prstGeom>
          <a:noFill/>
        </p:spPr>
        <p:txBody>
          <a:bodyPr wrap="none" lIns="0" tIns="0" rIns="0" bIns="0" anchor="t"/>
          <a:lstStyle/>
          <a:p>
            <a:r>
              <a:rPr lang="mn-MN" sz="1000" dirty="0">
                <a:solidFill>
                  <a:srgbClr val="8C8C92"/>
                </a:solidFill>
              </a:rPr>
              <a:t>Баруун Хужхааны Жалга-1 цагаан тугалга-гянтболдын шороон орд  ·  ТЭЗҮ товч танилцуулга</a:t>
            </a:r>
          </a:p>
        </p:txBody>
      </p:sp>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609600" y="355600"/>
            <a:ext cx="10515600" cy="1325563"/>
          </a:xfrm>
          <a:prstGeom prst="rect">
            <a:avLst/>
          </a:prstGeom>
        </p:spPr>
        <p:txBody>
          <a:bodyPr vert="horz" lIns="0" tIns="45720" rIns="91440" bIns="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609600" y="1651000"/>
            <a:ext cx="10515600" cy="4351338"/>
          </a:xfrm>
          <a:prstGeom prst="rect">
            <a:avLst/>
          </a:prstGeom>
        </p:spPr>
        <p:txBody>
          <a:bodyPr vert="horz" lIns="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sp>
        <p:nvSpPr>
          <p:cNvPr id="12" name="LogoPlate"/>
          <p:cNvSpPr/>
          <p:nvPr userDrawn="1"/>
        </p:nvSpPr>
        <p:spPr>
          <a:xfrm>
            <a:off x="10350500" y="327025"/>
            <a:ext cx="1295400" cy="499110"/>
          </a:xfrm>
          <a:prstGeom prst="roundRect">
            <a:avLst>
              <a:gd name="adj" fmla="val 12000"/>
            </a:avLst>
          </a:prstGeom>
          <a:solidFill>
            <a:srgbClr val="F2F2F0"/>
          </a:solidFill>
          <a:ln>
            <a:noFill/>
          </a:ln>
        </p:spPr>
      </p:sp>
      <p:pic>
        <p:nvPicPr>
          <p:cNvPr id="11" name="Logo" descr="Кеестон Ресурс лого"/>
          <p:cNvPicPr>
            <a:picLocks noChangeAspect="1"/>
          </p:cNvPicPr>
          <p:nvPr userDrawn="1"/>
        </p:nvPicPr>
        <p:blipFill>
          <a:blip r:embed="rId13"/>
          <a:stretch>
            <a:fillRect/>
          </a:stretch>
        </p:blipFill>
        <p:spPr>
          <a:xfrm>
            <a:off x="10439400" y="393700"/>
            <a:ext cx="1117600" cy="365760"/>
          </a:xfrm>
          <a:prstGeom prst="rect">
            <a:avLst/>
          </a:prstGeom>
        </p:spPr>
      </p:pic>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26262A"/>
            </a:gs>
            <a:gs pos="100000">
              <a:srgbClr val="141416"/>
            </a:gs>
          </a:gsLst>
          <a:lin ang="5400000" scaled="0"/>
        </a:gradFill>
        <a:effectLst/>
      </p:bgPr>
    </p:bg>
    <p:spTree>
      <p:nvGrpSpPr>
        <p:cNvPr id="1" name=""/>
        <p:cNvGrpSpPr/>
        <p:nvPr/>
      </p:nvGrpSpPr>
      <p:grpSpPr>
        <a:xfrm>
          <a:off x="0" y="0"/>
          <a:ext cx="0" cy="0"/>
          <a:chOff x="0" y="0"/>
          <a:chExt cx="0" cy="0"/>
        </a:xfrm>
      </p:grpSpPr>
      <p:sp>
        <p:nvSpPr>
          <p:cNvPr id="8" name="AccentRule"/>
          <p:cNvSpPr/>
          <p:nvPr userDrawn="1"/>
        </p:nvSpPr>
        <p:spPr>
          <a:xfrm>
            <a:off x="609600" y="1524000"/>
            <a:ext cx="711200" cy="50800"/>
          </a:xfrm>
          <a:prstGeom prst="rect">
            <a:avLst/>
          </a:prstGeom>
          <a:solidFill>
            <a:srgbClr val="F5E614"/>
          </a:solidFill>
          <a:ln>
            <a:noFill/>
          </a:ln>
        </p:spPr>
      </p:sp>
      <p:sp>
        <p:nvSpPr>
          <p:cNvPr id="9" name="FooterLine"/>
          <p:cNvSpPr/>
          <p:nvPr userDrawn="1"/>
        </p:nvSpPr>
        <p:spPr>
          <a:xfrm>
            <a:off x="609600" y="6426200"/>
            <a:ext cx="10972800" cy="12700"/>
          </a:xfrm>
          <a:prstGeom prst="rect">
            <a:avLst/>
          </a:prstGeom>
          <a:solidFill>
            <a:srgbClr val="3A3A3F"/>
          </a:solidFill>
          <a:ln>
            <a:noFill/>
          </a:ln>
        </p:spPr>
      </p:sp>
      <p:sp>
        <p:nvSpPr>
          <p:cNvPr id="10" name="FooterText"/>
          <p:cNvSpPr txBox="1"/>
          <p:nvPr userDrawn="1"/>
        </p:nvSpPr>
        <p:spPr>
          <a:xfrm>
            <a:off x="609600" y="6502400"/>
            <a:ext cx="8890000" cy="203200"/>
          </a:xfrm>
          <a:prstGeom prst="rect">
            <a:avLst/>
          </a:prstGeom>
          <a:noFill/>
        </p:spPr>
        <p:txBody>
          <a:bodyPr wrap="none" lIns="0" tIns="0" rIns="0" bIns="0" anchor="t"/>
          <a:lstStyle/>
          <a:p>
            <a:r>
              <a:rPr lang="mn-MN" sz="1000" dirty="0">
                <a:solidFill>
                  <a:srgbClr val="8C8C92"/>
                </a:solidFill>
              </a:rPr>
              <a:t>Баруун Хужхааны Жалга-1 цагаан тугалга-гянтболдын шороон орд  ·  ТЭЗҮ товч танилцуулга</a:t>
            </a:r>
          </a:p>
        </p:txBody>
      </p:sp>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609600" y="254000"/>
            <a:ext cx="9525000" cy="1168400"/>
          </a:xfrm>
          <a:prstGeom prst="rect">
            <a:avLst/>
          </a:prstGeom>
        </p:spPr>
        <p:txBody>
          <a:bodyPr vert="horz" lIns="0" tIns="45720" rIns="91440" bIns="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609600" y="1651000"/>
            <a:ext cx="10515600" cy="4351338"/>
          </a:xfrm>
          <a:prstGeom prst="rect">
            <a:avLst/>
          </a:prstGeom>
        </p:spPr>
        <p:txBody>
          <a:bodyPr vert="horz" lIns="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sp>
        <p:nvSpPr>
          <p:cNvPr id="12" name="LogoPlate"/>
          <p:cNvSpPr/>
          <p:nvPr userDrawn="1"/>
        </p:nvSpPr>
        <p:spPr>
          <a:xfrm>
            <a:off x="10350500" y="327025"/>
            <a:ext cx="1295400" cy="499110"/>
          </a:xfrm>
          <a:prstGeom prst="roundRect">
            <a:avLst>
              <a:gd name="adj" fmla="val 12000"/>
            </a:avLst>
          </a:prstGeom>
          <a:solidFill>
            <a:srgbClr val="F2F2F0"/>
          </a:solidFill>
          <a:ln>
            <a:noFill/>
          </a:ln>
        </p:spPr>
      </p:sp>
      <p:pic>
        <p:nvPicPr>
          <p:cNvPr id="11" name="Logo" descr="Кеестон Ресурс лого"/>
          <p:cNvPicPr>
            <a:picLocks noChangeAspect="1"/>
          </p:cNvPicPr>
          <p:nvPr userDrawn="1"/>
        </p:nvPicPr>
        <p:blipFill>
          <a:blip r:embed="rId13"/>
          <a:stretch>
            <a:fillRect/>
          </a:stretch>
        </p:blipFill>
        <p:spPr>
          <a:xfrm>
            <a:off x="10439400" y="393700"/>
            <a:ext cx="1117600" cy="365760"/>
          </a:xfrm>
          <a:prstGeom prst="rect">
            <a:avLst/>
          </a:prstGeom>
        </p:spPr>
      </p:pic>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26262A"/>
            </a:gs>
            <a:gs pos="100000">
              <a:srgbClr val="141416"/>
            </a:gs>
          </a:gsLst>
          <a:lin ang="5400000" scaled="0"/>
        </a:gradFill>
        <a:effectLst/>
      </p:bgPr>
    </p:bg>
    <p:spTree>
      <p:nvGrpSpPr>
        <p:cNvPr id="1" name=""/>
        <p:cNvGrpSpPr/>
        <p:nvPr/>
      </p:nvGrpSpPr>
      <p:grpSpPr>
        <a:xfrm>
          <a:off x="0" y="0"/>
          <a:ext cx="0" cy="0"/>
          <a:chOff x="0" y="0"/>
          <a:chExt cx="0" cy="0"/>
        </a:xfrm>
      </p:grpSpPr>
      <p:sp>
        <p:nvSpPr>
          <p:cNvPr id="8" name="AccentRule"/>
          <p:cNvSpPr/>
          <p:nvPr userDrawn="1"/>
        </p:nvSpPr>
        <p:spPr>
          <a:xfrm>
            <a:off x="609600" y="1524000"/>
            <a:ext cx="711200" cy="50800"/>
          </a:xfrm>
          <a:prstGeom prst="rect">
            <a:avLst/>
          </a:prstGeom>
          <a:solidFill>
            <a:srgbClr val="F5E614"/>
          </a:solidFill>
          <a:ln>
            <a:noFill/>
          </a:ln>
        </p:spPr>
      </p:sp>
      <p:sp>
        <p:nvSpPr>
          <p:cNvPr id="9" name="FooterLine"/>
          <p:cNvSpPr/>
          <p:nvPr userDrawn="1"/>
        </p:nvSpPr>
        <p:spPr>
          <a:xfrm>
            <a:off x="609600" y="6426200"/>
            <a:ext cx="10972800" cy="12700"/>
          </a:xfrm>
          <a:prstGeom prst="rect">
            <a:avLst/>
          </a:prstGeom>
          <a:solidFill>
            <a:srgbClr val="3A3A3F"/>
          </a:solidFill>
          <a:ln>
            <a:noFill/>
          </a:ln>
        </p:spPr>
      </p:sp>
      <p:sp>
        <p:nvSpPr>
          <p:cNvPr id="10" name="FooterText"/>
          <p:cNvSpPr txBox="1"/>
          <p:nvPr userDrawn="1"/>
        </p:nvSpPr>
        <p:spPr>
          <a:xfrm>
            <a:off x="609600" y="6502400"/>
            <a:ext cx="8890000" cy="203200"/>
          </a:xfrm>
          <a:prstGeom prst="rect">
            <a:avLst/>
          </a:prstGeom>
          <a:noFill/>
        </p:spPr>
        <p:txBody>
          <a:bodyPr wrap="none" lIns="0" tIns="0" rIns="0" bIns="0" anchor="t"/>
          <a:lstStyle/>
          <a:p>
            <a:r>
              <a:rPr lang="mn-MN" sz="1000" dirty="0">
                <a:solidFill>
                  <a:srgbClr val="8C8C92"/>
                </a:solidFill>
              </a:rPr>
              <a:t>Баруун Хужхааны Жалга-1 цагаан тугалга-гянтболдын шороон орд  ·  ТЭЗҮ товч танилцуулга</a:t>
            </a:r>
          </a:p>
        </p:txBody>
      </p:sp>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609600" y="254000"/>
            <a:ext cx="9525000" cy="1168400"/>
          </a:xfrm>
          <a:prstGeom prst="rect">
            <a:avLst/>
          </a:prstGeom>
        </p:spPr>
        <p:txBody>
          <a:bodyPr vert="horz" lIns="0" tIns="45720" rIns="91440" bIns="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609600" y="1651000"/>
            <a:ext cx="10515600" cy="4351338"/>
          </a:xfrm>
          <a:prstGeom prst="rect">
            <a:avLst/>
          </a:prstGeom>
        </p:spPr>
        <p:txBody>
          <a:bodyPr vert="horz" lIns="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sp>
        <p:nvSpPr>
          <p:cNvPr id="12" name="LogoPlate"/>
          <p:cNvSpPr/>
          <p:nvPr userDrawn="1"/>
        </p:nvSpPr>
        <p:spPr>
          <a:xfrm>
            <a:off x="10350500" y="327025"/>
            <a:ext cx="1295400" cy="499110"/>
          </a:xfrm>
          <a:prstGeom prst="roundRect">
            <a:avLst>
              <a:gd name="adj" fmla="val 12000"/>
            </a:avLst>
          </a:prstGeom>
          <a:solidFill>
            <a:srgbClr val="F2F2F0"/>
          </a:solidFill>
          <a:ln>
            <a:noFill/>
          </a:ln>
        </p:spPr>
      </p:sp>
      <p:pic>
        <p:nvPicPr>
          <p:cNvPr id="11" name="Logo" descr="Кеестон Ресурс лого"/>
          <p:cNvPicPr>
            <a:picLocks noChangeAspect="1"/>
          </p:cNvPicPr>
          <p:nvPr userDrawn="1"/>
        </p:nvPicPr>
        <p:blipFill>
          <a:blip r:embed="rId13"/>
          <a:stretch>
            <a:fillRect/>
          </a:stretch>
        </p:blipFill>
        <p:spPr>
          <a:xfrm>
            <a:off x="10439400" y="393700"/>
            <a:ext cx="1117600" cy="365760"/>
          </a:xfrm>
          <a:prstGeom prst="rect">
            <a:avLst/>
          </a:prstGeom>
        </p:spPr>
      </p:pic>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26262A"/>
            </a:gs>
            <a:gs pos="100000">
              <a:srgbClr val="141416"/>
            </a:gs>
          </a:gsLst>
          <a:lin ang="5400000" scaled="0"/>
        </a:gradFill>
        <a:effectLst/>
      </p:bgPr>
    </p:bg>
    <p:spTree>
      <p:nvGrpSpPr>
        <p:cNvPr id="1" name=""/>
        <p:cNvGrpSpPr/>
        <p:nvPr/>
      </p:nvGrpSpPr>
      <p:grpSpPr>
        <a:xfrm>
          <a:off x="0" y="0"/>
          <a:ext cx="0" cy="0"/>
          <a:chOff x="0" y="0"/>
          <a:chExt cx="0" cy="0"/>
        </a:xfrm>
      </p:grpSpPr>
      <p:sp>
        <p:nvSpPr>
          <p:cNvPr id="9" name="FooterLine"/>
          <p:cNvSpPr/>
          <p:nvPr userDrawn="1"/>
        </p:nvSpPr>
        <p:spPr>
          <a:xfrm>
            <a:off x="609600" y="6426200"/>
            <a:ext cx="10972800" cy="12700"/>
          </a:xfrm>
          <a:prstGeom prst="rect">
            <a:avLst/>
          </a:prstGeom>
          <a:solidFill>
            <a:srgbClr val="3A3A3F"/>
          </a:solidFill>
          <a:ln>
            <a:noFill/>
          </a:ln>
        </p:spPr>
      </p:sp>
      <p:sp>
        <p:nvSpPr>
          <p:cNvPr id="10" name="FooterText"/>
          <p:cNvSpPr txBox="1"/>
          <p:nvPr userDrawn="1"/>
        </p:nvSpPr>
        <p:spPr>
          <a:xfrm>
            <a:off x="609600" y="6502400"/>
            <a:ext cx="8890000" cy="203200"/>
          </a:xfrm>
          <a:prstGeom prst="rect">
            <a:avLst/>
          </a:prstGeom>
          <a:noFill/>
        </p:spPr>
        <p:txBody>
          <a:bodyPr wrap="none" lIns="0" tIns="0" rIns="0" bIns="0" anchor="t"/>
          <a:lstStyle/>
          <a:p>
            <a:r>
              <a:rPr lang="mn-MN" sz="1000" dirty="0">
                <a:solidFill>
                  <a:srgbClr val="8C8C92"/>
                </a:solidFill>
              </a:rPr>
              <a:t>Баруун Хужхааны Жалга-1 цагаан тугалга-гянтболдын шороон орд  ·  ТЭЗҮ товч танилцуулга</a:t>
            </a:r>
          </a:p>
        </p:txBody>
      </p:sp>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609600" y="254000"/>
            <a:ext cx="9525000" cy="1168400"/>
          </a:xfrm>
          <a:prstGeom prst="rect">
            <a:avLst/>
          </a:prstGeom>
        </p:spPr>
        <p:txBody>
          <a:bodyPr vert="horz" lIns="0" tIns="45720" rIns="91440" bIns="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609600" y="1651000"/>
            <a:ext cx="10515600" cy="4351338"/>
          </a:xfrm>
          <a:prstGeom prst="rect">
            <a:avLst/>
          </a:prstGeom>
        </p:spPr>
        <p:txBody>
          <a:bodyPr vert="horz" lIns="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sp>
        <p:nvSpPr>
          <p:cNvPr id="12" name="LogoPlate"/>
          <p:cNvSpPr/>
          <p:nvPr userDrawn="1"/>
        </p:nvSpPr>
        <p:spPr>
          <a:xfrm>
            <a:off x="10350500" y="327025"/>
            <a:ext cx="1295400" cy="499110"/>
          </a:xfrm>
          <a:prstGeom prst="roundRect">
            <a:avLst>
              <a:gd name="adj" fmla="val 12000"/>
            </a:avLst>
          </a:prstGeom>
          <a:solidFill>
            <a:srgbClr val="F2F2F0"/>
          </a:solidFill>
          <a:ln>
            <a:noFill/>
          </a:ln>
        </p:spPr>
      </p:sp>
      <p:pic>
        <p:nvPicPr>
          <p:cNvPr id="11" name="Logo" descr="Кеестон Ресурс лого"/>
          <p:cNvPicPr>
            <a:picLocks noChangeAspect="1"/>
          </p:cNvPicPr>
          <p:nvPr userDrawn="1"/>
        </p:nvPicPr>
        <p:blipFill>
          <a:blip r:embed="rId13"/>
          <a:stretch>
            <a:fillRect/>
          </a:stretch>
        </p:blipFill>
        <p:spPr>
          <a:xfrm>
            <a:off x="10439400" y="393700"/>
            <a:ext cx="1117600" cy="365760"/>
          </a:xfrm>
          <a:prstGeom prst="rect">
            <a:avLst/>
          </a:prstGeom>
        </p:spPr>
      </p:pic>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26262A"/>
            </a:gs>
            <a:gs pos="100000">
              <a:srgbClr val="141416"/>
            </a:gs>
          </a:gsLst>
          <a:lin ang="5400000" scaled="0"/>
        </a:gradFill>
        <a:effectLst/>
      </p:bgPr>
    </p:bg>
    <p:spTree>
      <p:nvGrpSpPr>
        <p:cNvPr id="1" name=""/>
        <p:cNvGrpSpPr/>
        <p:nvPr/>
      </p:nvGrpSpPr>
      <p:grpSpPr>
        <a:xfrm>
          <a:off x="0" y="0"/>
          <a:ext cx="0" cy="0"/>
          <a:chOff x="0" y="0"/>
          <a:chExt cx="0" cy="0"/>
        </a:xfrm>
      </p:grpSpPr>
      <p:sp>
        <p:nvSpPr>
          <p:cNvPr id="9" name="FooterLine"/>
          <p:cNvSpPr/>
          <p:nvPr userDrawn="1"/>
        </p:nvSpPr>
        <p:spPr>
          <a:xfrm>
            <a:off x="609600" y="6426200"/>
            <a:ext cx="10972800" cy="12700"/>
          </a:xfrm>
          <a:prstGeom prst="rect">
            <a:avLst/>
          </a:prstGeom>
          <a:solidFill>
            <a:srgbClr val="3A3A3F"/>
          </a:solidFill>
          <a:ln>
            <a:noFill/>
          </a:ln>
        </p:spPr>
      </p:sp>
      <p:sp>
        <p:nvSpPr>
          <p:cNvPr id="10" name="FooterText"/>
          <p:cNvSpPr txBox="1"/>
          <p:nvPr userDrawn="1"/>
        </p:nvSpPr>
        <p:spPr>
          <a:xfrm>
            <a:off x="609600" y="6502400"/>
            <a:ext cx="8890000" cy="203200"/>
          </a:xfrm>
          <a:prstGeom prst="rect">
            <a:avLst/>
          </a:prstGeom>
          <a:noFill/>
        </p:spPr>
        <p:txBody>
          <a:bodyPr wrap="none" lIns="0" tIns="0" rIns="0" bIns="0" anchor="t"/>
          <a:lstStyle/>
          <a:p>
            <a:r>
              <a:rPr lang="mn-MN" sz="1000" dirty="0">
                <a:solidFill>
                  <a:srgbClr val="8C8C92"/>
                </a:solidFill>
              </a:rPr>
              <a:t>Баруун Хужхааны Жалга-1 цагаан тугалга-гянтболдын шороон орд  ·  Техник-эдийн засгийн үндэслэлийн тодотгол-1</a:t>
            </a:r>
          </a:p>
        </p:txBody>
      </p:sp>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609600" y="254000"/>
            <a:ext cx="9525000" cy="1168400"/>
          </a:xfrm>
          <a:prstGeom prst="rect">
            <a:avLst/>
          </a:prstGeom>
        </p:spPr>
        <p:txBody>
          <a:bodyPr vert="horz" lIns="0" tIns="45720" rIns="91440" bIns="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609600" y="1651000"/>
            <a:ext cx="10515600" cy="4351338"/>
          </a:xfrm>
          <a:prstGeom prst="rect">
            <a:avLst/>
          </a:prstGeom>
        </p:spPr>
        <p:txBody>
          <a:bodyPr vert="horz" lIns="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pic>
        <p:nvPicPr>
          <p:cNvPr id="11" name="Logo" descr="Кеестон Ресурс лого"/>
          <p:cNvPicPr>
            <a:picLocks noChangeAspect="1"/>
          </p:cNvPicPr>
          <p:nvPr userDrawn="1"/>
        </p:nvPicPr>
        <p:blipFill>
          <a:blip r:embed="rId13"/>
          <a:stretch>
            <a:fillRect/>
          </a:stretch>
        </p:blipFill>
        <p:spPr>
          <a:xfrm>
            <a:off x="10160000" y="381000"/>
            <a:ext cx="1422400" cy="462280"/>
          </a:xfrm>
          <a:prstGeom prst="rect">
            <a:avLst/>
          </a:prstGeom>
        </p:spPr>
      </p:pic>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26262A"/>
            </a:gs>
            <a:gs pos="100000">
              <a:srgbClr val="141416"/>
            </a:gs>
          </a:gsLst>
          <a:lin ang="5400000" scaled="0"/>
        </a:gradFill>
        <a:effectLst/>
      </p:bgPr>
    </p:bg>
    <p:spTree>
      <p:nvGrpSpPr>
        <p:cNvPr id="1" name=""/>
        <p:cNvGrpSpPr/>
        <p:nvPr/>
      </p:nvGrpSpPr>
      <p:grpSpPr>
        <a:xfrm>
          <a:off x="0" y="0"/>
          <a:ext cx="0" cy="0"/>
          <a:chOff x="0" y="0"/>
          <a:chExt cx="0" cy="0"/>
        </a:xfrm>
      </p:grpSpPr>
      <p:sp>
        <p:nvSpPr>
          <p:cNvPr id="9" name="FooterLine"/>
          <p:cNvSpPr/>
          <p:nvPr userDrawn="1"/>
        </p:nvSpPr>
        <p:spPr>
          <a:xfrm>
            <a:off x="609600" y="6426200"/>
            <a:ext cx="10972800" cy="12700"/>
          </a:xfrm>
          <a:prstGeom prst="rect">
            <a:avLst/>
          </a:prstGeom>
          <a:solidFill>
            <a:srgbClr val="3A3A3F"/>
          </a:solidFill>
          <a:ln>
            <a:noFill/>
          </a:ln>
        </p:spPr>
      </p:sp>
      <p:sp>
        <p:nvSpPr>
          <p:cNvPr id="10" name="FooterText"/>
          <p:cNvSpPr txBox="1"/>
          <p:nvPr userDrawn="1"/>
        </p:nvSpPr>
        <p:spPr>
          <a:xfrm>
            <a:off x="6350000" y="6502400"/>
            <a:ext cx="5232400" cy="203200"/>
          </a:xfrm>
          <a:prstGeom prst="rect">
            <a:avLst/>
          </a:prstGeom>
          <a:noFill/>
        </p:spPr>
        <p:txBody>
          <a:bodyPr wrap="square" lIns="0" tIns="0" rIns="0" bIns="0" anchor="t"/>
          <a:lstStyle/>
          <a:p>
            <a:pPr algn="r"/>
            <a:r>
              <a:rPr lang="mn-MN" sz="1000" dirty="0">
                <a:solidFill>
                  <a:srgbClr val="8C8C92"/>
                </a:solidFill>
              </a:rPr>
              <a:t>Баруун Хужхааны Жалга-1  ·  Техник-эдийн засгийн үндэслэлийн тодотгол-1</a:t>
            </a:r>
          </a:p>
        </p:txBody>
      </p:sp>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609600" y="254000"/>
            <a:ext cx="9525000" cy="1168400"/>
          </a:xfrm>
          <a:prstGeom prst="rect">
            <a:avLst/>
          </a:prstGeom>
        </p:spPr>
        <p:txBody>
          <a:bodyPr vert="horz" lIns="0" tIns="45720" rIns="91440" bIns="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609600" y="1651000"/>
            <a:ext cx="10515600" cy="4351338"/>
          </a:xfrm>
          <a:prstGeom prst="rect">
            <a:avLst/>
          </a:prstGeom>
        </p:spPr>
        <p:txBody>
          <a:bodyPr vert="horz" lIns="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10/29/2026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pic>
        <p:nvPicPr>
          <p:cNvPr id="11" name="Logo" descr="Кеестон Ресурс лого"/>
          <p:cNvPicPr>
            <a:picLocks noChangeAspect="1"/>
          </p:cNvPicPr>
          <p:nvPr userDrawn="1"/>
        </p:nvPicPr>
        <p:blipFill>
          <a:blip r:embed="rId13"/>
          <a:stretch>
            <a:fillRect/>
          </a:stretch>
        </p:blipFill>
        <p:spPr>
          <a:xfrm>
            <a:off x="10160000" y="381000"/>
            <a:ext cx="1422400" cy="462280"/>
          </a:xfrm>
          <a:prstGeom prst="rect">
            <a:avLst/>
          </a:prstGeom>
        </p:spPr>
      </p:pic>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10/29/2026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261917895"/>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33.xml"/><Relationship Id="rId5" Type="http://schemas.openxmlformats.org/officeDocument/2006/relationships/image" Target="../media/image6.sv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8.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8.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8.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8.xml"/><Relationship Id="rId5" Type="http://schemas.openxmlformats.org/officeDocument/2006/relationships/chart" Target="../charts/chart2.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8.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8.xml"/><Relationship Id="rId5" Type="http://schemas.openxmlformats.org/officeDocument/2006/relationships/image" Target="../media/image11.jpe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8.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8.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8.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8.xml"/><Relationship Id="rId5" Type="http://schemas.openxmlformats.org/officeDocument/2006/relationships/image" Target="../media/image17.jpeg"/><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8.xml"/><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hart" Target="../charts/chart3.xml"/><Relationship Id="rId1" Type="http://schemas.openxmlformats.org/officeDocument/2006/relationships/slideLayout" Target="../slideLayouts/slideLayout138.xml"/><Relationship Id="rId5" Type="http://schemas.openxmlformats.org/officeDocument/2006/relationships/chart" Target="../charts/chart4.xml"/><Relationship Id="rId4" Type="http://schemas.openxmlformats.org/officeDocument/2006/relationships/image" Target="../media/image6.svg"/></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chart" Target="../charts/chart5.xml"/><Relationship Id="rId7" Type="http://schemas.openxmlformats.org/officeDocument/2006/relationships/image" Target="../media/image260.png"/><Relationship Id="rId2" Type="http://schemas.openxmlformats.org/officeDocument/2006/relationships/notesSlide" Target="../notesSlides/notesSlide1.xml"/><Relationship Id="rId1" Type="http://schemas.openxmlformats.org/officeDocument/2006/relationships/slideLayout" Target="../slideLayouts/slideLayout150.xml"/><Relationship Id="rId5" Type="http://schemas.microsoft.com/office/2014/relationships/chartEx" Target="../charts/chartEx1.xml"/><Relationship Id="rId4" Type="http://schemas.openxmlformats.org/officeDocument/2006/relationships/chart" Target="../charts/chart6.xml"/><Relationship Id="rId9"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chart" Target="../charts/chart7.xml"/><Relationship Id="rId7"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50.xml"/><Relationship Id="rId6" Type="http://schemas.openxmlformats.org/officeDocument/2006/relationships/image" Target="../media/image330.png"/><Relationship Id="rId4" Type="http://schemas.microsoft.com/office/2014/relationships/chartEx" Target="../charts/chartEx2.xml"/></Relationships>
</file>

<file path=ppt/slides/_rels/slide1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xml"/><Relationship Id="rId1" Type="http://schemas.openxmlformats.org/officeDocument/2006/relationships/slideLayout" Target="../slideLayouts/slideLayout150.xml"/><Relationship Id="rId5" Type="http://schemas.openxmlformats.org/officeDocument/2006/relationships/image" Target="../media/image20.png"/><Relationship Id="rId4" Type="http://schemas.openxmlformats.org/officeDocument/2006/relationships/chart" Target="../charts/chart9.xml"/></Relationships>
</file>

<file path=ppt/slides/_rels/slide17.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4.xml"/><Relationship Id="rId1" Type="http://schemas.openxmlformats.org/officeDocument/2006/relationships/slideLayout" Target="../slideLayouts/slideLayout150.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8.xml"/></Relationships>
</file>

<file path=ppt/slides/_rels/slide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8.xml"/></Relationships>
</file>

<file path=ppt/slides/_rels/slide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8.xml"/></Relationships>
</file>

<file path=ppt/slides/_rels/slide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8.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8.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38.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ountains"/>
          <p:cNvSpPr/>
          <p:nvPr/>
        </p:nvSpPr>
        <p:spPr>
          <a:xfrm>
            <a:off x="0" y="4191000"/>
            <a:ext cx="12192000" cy="2667000"/>
          </a:xfrm>
          <a:custGeom>
            <a:avLst/>
            <a:gdLst/>
            <a:ahLst/>
            <a:cxnLst/>
            <a:rect l="0" t="0" r="r" b="b"/>
            <a:pathLst>
              <a:path w="12192000" h="2667000">
                <a:moveTo>
                  <a:pt x="0" y="1016000"/>
                </a:moveTo>
                <a:lnTo>
                  <a:pt x="1016000" y="508000"/>
                </a:lnTo>
                <a:lnTo>
                  <a:pt x="1905000" y="825500"/>
                </a:lnTo>
                <a:lnTo>
                  <a:pt x="3048000" y="127000"/>
                </a:lnTo>
                <a:lnTo>
                  <a:pt x="4191000" y="762000"/>
                </a:lnTo>
                <a:lnTo>
                  <a:pt x="5334000" y="317500"/>
                </a:lnTo>
                <a:lnTo>
                  <a:pt x="6604000" y="825500"/>
                </a:lnTo>
                <a:lnTo>
                  <a:pt x="7747000" y="190500"/>
                </a:lnTo>
                <a:lnTo>
                  <a:pt x="8890000" y="698500"/>
                </a:lnTo>
                <a:lnTo>
                  <a:pt x="10033000" y="254000"/>
                </a:lnTo>
                <a:lnTo>
                  <a:pt x="11176000" y="762000"/>
                </a:lnTo>
                <a:lnTo>
                  <a:pt x="12192000" y="444500"/>
                </a:lnTo>
                <a:lnTo>
                  <a:pt x="12192000" y="1016000"/>
                </a:lnTo>
                <a:close/>
              </a:path>
            </a:pathLst>
          </a:custGeom>
          <a:solidFill>
            <a:srgbClr val="2A2A30"/>
          </a:solidFill>
          <a:ln>
            <a:noFill/>
          </a:ln>
        </p:spPr>
        <p:txBody>
          <a:bodyPr/>
          <a:lstStyle/>
          <a:p>
            <a:endParaRPr lang="en-US"/>
          </a:p>
        </p:txBody>
      </p:sp>
      <p:sp>
        <p:nvSpPr>
          <p:cNvPr id="21" name="PitEarth"/>
          <p:cNvSpPr/>
          <p:nvPr/>
        </p:nvSpPr>
        <p:spPr>
          <a:xfrm>
            <a:off x="0" y="4191000"/>
            <a:ext cx="12192000" cy="2667000"/>
          </a:xfrm>
          <a:custGeom>
            <a:avLst/>
            <a:gdLst/>
            <a:ahLst/>
            <a:cxnLst/>
            <a:rect l="0" t="0" r="r" b="b"/>
            <a:pathLst>
              <a:path w="12192000" h="2667000">
                <a:moveTo>
                  <a:pt x="0" y="1016000"/>
                </a:moveTo>
                <a:lnTo>
                  <a:pt x="4572000" y="1016000"/>
                </a:lnTo>
                <a:lnTo>
                  <a:pt x="4572000" y="1397000"/>
                </a:lnTo>
                <a:lnTo>
                  <a:pt x="5207000" y="1397000"/>
                </a:lnTo>
                <a:lnTo>
                  <a:pt x="5207000" y="1778000"/>
                </a:lnTo>
                <a:lnTo>
                  <a:pt x="5842000" y="1778000"/>
                </a:lnTo>
                <a:lnTo>
                  <a:pt x="5842000" y="2159000"/>
                </a:lnTo>
                <a:lnTo>
                  <a:pt x="10668000" y="2159000"/>
                </a:lnTo>
                <a:lnTo>
                  <a:pt x="10668000" y="1778000"/>
                </a:lnTo>
                <a:lnTo>
                  <a:pt x="11303000" y="1778000"/>
                </a:lnTo>
                <a:lnTo>
                  <a:pt x="11303000" y="1397000"/>
                </a:lnTo>
                <a:lnTo>
                  <a:pt x="11938000" y="1397000"/>
                </a:lnTo>
                <a:lnTo>
                  <a:pt x="11938000" y="1016000"/>
                </a:lnTo>
                <a:lnTo>
                  <a:pt x="12192000" y="1016000"/>
                </a:lnTo>
                <a:lnTo>
                  <a:pt x="12192000" y="2667000"/>
                </a:lnTo>
                <a:lnTo>
                  <a:pt x="0" y="2667000"/>
                </a:lnTo>
                <a:close/>
              </a:path>
            </a:pathLst>
          </a:custGeom>
          <a:gradFill rotWithShape="1">
            <a:gsLst>
              <a:gs pos="0">
                <a:srgbClr val="3A3A40"/>
              </a:gs>
              <a:gs pos="100000">
                <a:srgbClr val="1A1A1D"/>
              </a:gs>
            </a:gsLst>
            <a:lin ang="5400000" scaled="0"/>
          </a:gradFill>
          <a:ln>
            <a:noFill/>
          </a:ln>
        </p:spPr>
        <p:txBody>
          <a:bodyPr/>
          <a:lstStyle/>
          <a:p>
            <a:endParaRPr lang="en-US"/>
          </a:p>
        </p:txBody>
      </p:sp>
      <p:sp>
        <p:nvSpPr>
          <p:cNvPr id="22" name="PitEdge"/>
          <p:cNvSpPr/>
          <p:nvPr/>
        </p:nvSpPr>
        <p:spPr>
          <a:xfrm>
            <a:off x="0" y="4191000"/>
            <a:ext cx="12192000" cy="2667000"/>
          </a:xfrm>
          <a:custGeom>
            <a:avLst/>
            <a:gdLst/>
            <a:ahLst/>
            <a:cxnLst/>
            <a:rect l="0" t="0" r="r" b="b"/>
            <a:pathLst>
              <a:path w="12192000" h="2667000" fill="none">
                <a:moveTo>
                  <a:pt x="0" y="1016000"/>
                </a:moveTo>
                <a:lnTo>
                  <a:pt x="4572000" y="1016000"/>
                </a:lnTo>
                <a:lnTo>
                  <a:pt x="4572000" y="1397000"/>
                </a:lnTo>
                <a:lnTo>
                  <a:pt x="5207000" y="1397000"/>
                </a:lnTo>
                <a:lnTo>
                  <a:pt x="5207000" y="1778000"/>
                </a:lnTo>
                <a:lnTo>
                  <a:pt x="5842000" y="1778000"/>
                </a:lnTo>
                <a:lnTo>
                  <a:pt x="5842000" y="2159000"/>
                </a:lnTo>
                <a:lnTo>
                  <a:pt x="10668000" y="2159000"/>
                </a:lnTo>
                <a:lnTo>
                  <a:pt x="10668000" y="1778000"/>
                </a:lnTo>
                <a:lnTo>
                  <a:pt x="11303000" y="1778000"/>
                </a:lnTo>
                <a:lnTo>
                  <a:pt x="11303000" y="1397000"/>
                </a:lnTo>
                <a:lnTo>
                  <a:pt x="11938000" y="1397000"/>
                </a:lnTo>
                <a:lnTo>
                  <a:pt x="11938000" y="1016000"/>
                </a:lnTo>
                <a:lnTo>
                  <a:pt x="12192000" y="1016000"/>
                </a:lnTo>
              </a:path>
            </a:pathLst>
          </a:custGeom>
          <a:noFill/>
          <a:ln w="22225">
            <a:solidFill>
              <a:srgbClr val="F5E614"/>
            </a:solidFill>
          </a:ln>
        </p:spPr>
        <p:txBody>
          <a:bodyPr/>
          <a:lstStyle/>
          <a:p>
            <a:endParaRPr lang="en-US"/>
          </a:p>
        </p:txBody>
      </p:sp>
      <p:sp>
        <p:nvSpPr>
          <p:cNvPr id="23" name="Eyebrow"/>
          <p:cNvSpPr txBox="1"/>
          <p:nvPr/>
        </p:nvSpPr>
        <p:spPr>
          <a:xfrm>
            <a:off x="787400" y="1778000"/>
            <a:ext cx="10617200" cy="254000"/>
          </a:xfrm>
          <a:prstGeom prst="rect">
            <a:avLst/>
          </a:prstGeom>
          <a:noFill/>
        </p:spPr>
        <p:txBody>
          <a:bodyPr wrap="square" lIns="0" tIns="0" rIns="0" bIns="0" anchor="t">
            <a:noAutofit/>
          </a:bodyPr>
          <a:lstStyle/>
          <a:p>
            <a:pPr algn="l">
              <a:buNone/>
            </a:pPr>
            <a:r>
              <a:rPr lang="mn-MN" sz="1300" b="1" spc="150" dirty="0">
                <a:solidFill>
                  <a:srgbClr val="F5E614"/>
                </a:solidFill>
              </a:rPr>
              <a:t>ТЕХНИК-ЭДИЙН ЗАСГИЙН ҮНДЭСЛЭЛИЙН ТОДОТГОЛ-1</a:t>
            </a:r>
          </a:p>
        </p:txBody>
      </p:sp>
      <p:sp>
        <p:nvSpPr>
          <p:cNvPr id="24" name="Info"/>
          <p:cNvSpPr txBox="1"/>
          <p:nvPr/>
        </p:nvSpPr>
        <p:spPr>
          <a:xfrm>
            <a:off x="787400" y="3784600"/>
            <a:ext cx="10617200" cy="279400"/>
          </a:xfrm>
          <a:prstGeom prst="rect">
            <a:avLst/>
          </a:prstGeom>
          <a:noFill/>
        </p:spPr>
        <p:txBody>
          <a:bodyPr wrap="square" lIns="0" tIns="0" rIns="0" bIns="0" anchor="t">
            <a:noAutofit/>
          </a:bodyPr>
          <a:lstStyle/>
          <a:p>
            <a:pPr algn="l">
              <a:buNone/>
            </a:pPr>
            <a:r>
              <a:rPr lang="mn-MN" sz="1300" dirty="0">
                <a:solidFill>
                  <a:srgbClr val="8C8C92"/>
                </a:solidFill>
              </a:rPr>
              <a:t>Хэрэгжүүлэгч: </a:t>
            </a:r>
            <a:r>
              <a:rPr lang="mn-MN" sz="1300" b="1" dirty="0">
                <a:solidFill>
                  <a:srgbClr val="D6D6D8"/>
                </a:solidFill>
              </a:rPr>
              <a:t>“Алтан эрдэнийн орд” ХХК</a:t>
            </a:r>
            <a:r>
              <a:rPr lang="mn-MN" sz="1300" dirty="0">
                <a:solidFill>
                  <a:srgbClr val="8C8C92"/>
                </a:solidFill>
              </a:rPr>
              <a:t>     |     Боловсруулагч: </a:t>
            </a:r>
            <a:r>
              <a:rPr lang="mn-MN" sz="1300" b="1" dirty="0">
                <a:solidFill>
                  <a:srgbClr val="D6D6D8"/>
                </a:solidFill>
              </a:rPr>
              <a:t>“Кеестон Ресурс” ХХК</a:t>
            </a:r>
            <a:r>
              <a:rPr lang="mn-MN" sz="1300" dirty="0">
                <a:solidFill>
                  <a:srgbClr val="8C8C92"/>
                </a:solidFill>
              </a:rPr>
              <a:t>     |     Хэнтий аймаг, Цэнхэрмандал сум</a:t>
            </a:r>
          </a:p>
        </p:txBody>
      </p:sp>
      <p:sp>
        <p:nvSpPr>
          <p:cNvPr id="2" name="Title 1">
            <a:extLst>
              <a:ext uri="{FF2B5EF4-FFF2-40B4-BE49-F238E27FC236}">
                <a16:creationId xmlns:a16="http://schemas.microsoft.com/office/drawing/2014/main" id="{E8C85C43-D989-54BB-C92E-9E715870AFDF}"/>
              </a:ext>
            </a:extLst>
          </p:cNvPr>
          <p:cNvSpPr>
            <a:spLocks noGrp="1"/>
          </p:cNvSpPr>
          <p:nvPr>
            <p:ph type="ctrTitle"/>
          </p:nvPr>
        </p:nvSpPr>
        <p:spPr>
          <a:xfrm>
            <a:off x="787400" y="2133600"/>
            <a:ext cx="10617200" cy="762000"/>
          </a:xfrm>
        </p:spPr>
        <p:txBody>
          <a:bodyPr lIns="0" tIns="0" rIns="0" bIns="0" anchor="t">
            <a:normAutofit/>
          </a:bodyPr>
          <a:lstStyle/>
          <a:p>
            <a:pPr algn="l">
              <a:buNone/>
            </a:pPr>
            <a:r>
              <a:rPr lang="mn-MN" sz="4800" b="1" dirty="0">
                <a:solidFill>
                  <a:srgbClr val="F2F2F0"/>
                </a:solidFill>
                <a:latin typeface="+mj-lt"/>
              </a:rPr>
              <a:t>Баруун Хужхааны Жалга-1</a:t>
            </a:r>
          </a:p>
        </p:txBody>
      </p:sp>
      <p:sp>
        <p:nvSpPr>
          <p:cNvPr id="3" name="Subtitle 2">
            <a:extLst>
              <a:ext uri="{FF2B5EF4-FFF2-40B4-BE49-F238E27FC236}">
                <a16:creationId xmlns:a16="http://schemas.microsoft.com/office/drawing/2014/main" id="{9362675F-A278-A26B-B790-260AE7240EB9}"/>
              </a:ext>
            </a:extLst>
          </p:cNvPr>
          <p:cNvSpPr>
            <a:spLocks noGrp="1"/>
          </p:cNvSpPr>
          <p:nvPr>
            <p:ph type="subTitle" idx="1"/>
          </p:nvPr>
        </p:nvSpPr>
        <p:spPr>
          <a:xfrm>
            <a:off x="787400" y="2971800"/>
            <a:ext cx="10617200" cy="711200"/>
          </a:xfrm>
        </p:spPr>
        <p:txBody>
          <a:bodyPr lIns="0" tIns="0" rIns="0" bIns="0" anchor="t">
            <a:normAutofit/>
          </a:bodyPr>
          <a:lstStyle/>
          <a:p>
            <a:pPr algn="l">
              <a:buNone/>
            </a:pPr>
            <a:r>
              <a:rPr lang="mn-MN" sz="2200" dirty="0">
                <a:solidFill>
                  <a:srgbClr val="D6D6D8"/>
                </a:solidFill>
              </a:rPr>
              <a:t>Цагаан тугалга-гянтболдын шороон ордыг ил аргаар ашиглах төсөл</a:t>
            </a:r>
          </a:p>
        </p:txBody>
      </p:sp>
      <p:pic>
        <p:nvPicPr>
          <p:cNvPr id="4" name="Graphic 4" descr="Экскаватор"/>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70600" y="5257800"/>
            <a:ext cx="1117600" cy="1117600"/>
          </a:xfrm>
          <a:prstGeom prst="rect">
            <a:avLst/>
          </a:prstGeom>
        </p:spPr>
      </p:pic>
      <p:pic>
        <p:nvPicPr>
          <p:cNvPr id="5" name="Graphic 5" descr="Автосамосвал"/>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7467600" y="5384800"/>
            <a:ext cx="990600" cy="990600"/>
          </a:xfrm>
          <a:prstGeom prst="rect">
            <a:avLst/>
          </a:prstGeom>
        </p:spPr>
      </p:pic>
    </p:spTree>
    <p:extLst>
      <p:ext uri="{BB962C8B-B14F-4D97-AF65-F5344CB8AC3E}">
        <p14:creationId xmlns:p14="http://schemas.microsoft.com/office/powerpoint/2010/main" val="764041616"/>
      </p:ext>
    </p:extLst>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9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900"/>
                                        <p:tgtEl>
                                          <p:spTgt spid="21"/>
                                        </p:tgtEl>
                                      </p:cBhvr>
                                    </p:animEffect>
                                  </p:childTnLst>
                                </p:cTn>
                              </p:par>
                            </p:childTnLst>
                          </p:cTn>
                        </p:par>
                        <p:par>
                          <p:cTn id="11" fill="hold">
                            <p:stCondLst>
                              <p:cond delay="900"/>
                            </p:stCondLst>
                            <p:childTnLst>
                              <p:par>
                                <p:cTn id="12" presetID="22" presetClass="entr" presetSubtype="8" fill="hold" nodeType="after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wipe(left)">
                                      <p:cBhvr>
                                        <p:cTn id="14" dur="1400"/>
                                        <p:tgtEl>
                                          <p:spTgt spid="22"/>
                                        </p:tgtEl>
                                      </p:cBhvr>
                                    </p:animEffect>
                                  </p:childTnLst>
                                </p:cTn>
                              </p:par>
                            </p:childTnLst>
                          </p:cTn>
                        </p:par>
                        <p:par>
                          <p:cTn id="15" fill="hold">
                            <p:stCondLst>
                              <p:cond delay="2300"/>
                            </p:stCondLst>
                            <p:childTnLst>
                              <p:par>
                                <p:cTn id="16" presetID="53" presetClass="entr" presetSubtype="16"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p:tgtEl>
                                          <p:spTgt spid="4"/>
                                        </p:tgtEl>
                                      </p:cBhvr>
                                    </p:animEffect>
                                    <p:anim calcmode="lin" valueType="num">
                                      <p:cBhvr additive="base">
                                        <p:cTn id="19" dur="600" fill="hold"/>
                                        <p:tgtEl>
                                          <p:spTgt spid="4"/>
                                        </p:tgtEl>
                                        <p:attrNameLst>
                                          <p:attrName>ppt_w</p:attrName>
                                        </p:attrNameLst>
                                      </p:cBhvr>
                                      <p:tavLst>
                                        <p:tav tm="0">
                                          <p:val>
                                            <p:strVal val="0"/>
                                          </p:val>
                                        </p:tav>
                                        <p:tav tm="100000">
                                          <p:val>
                                            <p:strVal val="#ppt_w"/>
                                          </p:val>
                                        </p:tav>
                                      </p:tavLst>
                                    </p:anim>
                                    <p:anim calcmode="lin" valueType="num">
                                      <p:cBhvr additive="base">
                                        <p:cTn id="20" dur="600" fill="hold"/>
                                        <p:tgtEl>
                                          <p:spTgt spid="4"/>
                                        </p:tgtEl>
                                        <p:attrNameLst>
                                          <p:attrName>ppt_h</p:attrName>
                                        </p:attrNameLst>
                                      </p:cBhvr>
                                      <p:tavLst>
                                        <p:tav tm="0">
                                          <p:val>
                                            <p:strVal val="0"/>
                                          </p:val>
                                        </p:tav>
                                        <p:tav tm="100000">
                                          <p:val>
                                            <p:strVal val="#ppt_h"/>
                                          </p:val>
                                        </p:tav>
                                      </p:tavLst>
                                    </p:anim>
                                  </p:childTnLst>
                                </p:cTn>
                              </p:par>
                            </p:childTnLst>
                          </p:cTn>
                        </p:par>
                        <p:par>
                          <p:cTn id="21" fill="hold">
                            <p:stCondLst>
                              <p:cond delay="2900"/>
                            </p:stCondLst>
                            <p:childTnLst>
                              <p:par>
                                <p:cTn id="22" presetID="2" presetClass="entr" presetSubtype="2" decel="10000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2600" fill="hold"/>
                                        <p:tgtEl>
                                          <p:spTgt spid="5"/>
                                        </p:tgtEl>
                                        <p:attrNameLst>
                                          <p:attrName>ppt_x</p:attrName>
                                        </p:attrNameLst>
                                      </p:cBhvr>
                                      <p:tavLst>
                                        <p:tav tm="0">
                                          <p:val>
                                            <p:strVal val="1+#ppt_w/2"/>
                                          </p:val>
                                        </p:tav>
                                        <p:tav tm="100000">
                                          <p:val>
                                            <p:strVal val="#ppt_x"/>
                                          </p:val>
                                        </p:tav>
                                      </p:tavLst>
                                    </p:anim>
                                    <p:anim calcmode="lin" valueType="num">
                                      <p:cBhvr additive="base">
                                        <p:cTn id="25" dur="2600" fill="hold"/>
                                        <p:tgtEl>
                                          <p:spTgt spid="5"/>
                                        </p:tgtEl>
                                        <p:attrNameLst>
                                          <p:attrName>ppt_y</p:attrName>
                                        </p:attrNameLst>
                                      </p:cBhvr>
                                      <p:tavLst>
                                        <p:tav tm="0">
                                          <p:val>
                                            <p:strVal val="#ppt_y"/>
                                          </p:val>
                                        </p:tav>
                                        <p:tav tm="100000">
                                          <p:val>
                                            <p:strVal val="#ppt_y"/>
                                          </p:val>
                                        </p:tav>
                                      </p:tavLst>
                                    </p:anim>
                                  </p:childTnLst>
                                </p:cTn>
                              </p:par>
                            </p:childTnLst>
                          </p:cTn>
                        </p:par>
                        <p:par>
                          <p:cTn id="26" fill="hold">
                            <p:stCondLst>
                              <p:cond delay="5500"/>
                            </p:stCondLst>
                            <p:childTnLst>
                              <p:par>
                                <p:cTn id="27" presetID="10" presetClass="entr" presetSubtype="0" fill="hold"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childTnLst>
                          </p:cTn>
                        </p:par>
                        <p:par>
                          <p:cTn id="30" fill="hold">
                            <p:stCondLst>
                              <p:cond delay="6000"/>
                            </p:stCondLst>
                            <p:childTnLst>
                              <p:par>
                                <p:cTn id="31" presetID="42" presetClass="entr" presetSubtype="0" decel="100000" fill="hold" nodeType="after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800"/>
                                        <p:tgtEl>
                                          <p:spTgt spid="2"/>
                                        </p:tgtEl>
                                      </p:cBhvr>
                                    </p:animEffect>
                                    <p:anim calcmode="lin" valueType="num">
                                      <p:cBhvr additive="base">
                                        <p:cTn id="34" dur="800" fill="hold"/>
                                        <p:tgtEl>
                                          <p:spTgt spid="2"/>
                                        </p:tgtEl>
                                        <p:attrNameLst>
                                          <p:attrName>ppt_x</p:attrName>
                                        </p:attrNameLst>
                                      </p:cBhvr>
                                      <p:tavLst>
                                        <p:tav tm="0">
                                          <p:val>
                                            <p:strVal val="#ppt_x"/>
                                          </p:val>
                                        </p:tav>
                                        <p:tav tm="100000">
                                          <p:val>
                                            <p:strVal val="#ppt_x"/>
                                          </p:val>
                                        </p:tav>
                                      </p:tavLst>
                                    </p:anim>
                                    <p:anim calcmode="lin" valueType="num">
                                      <p:cBhvr additive="base">
                                        <p:cTn id="35" dur="800" fill="hold"/>
                                        <p:tgtEl>
                                          <p:spTgt spid="2"/>
                                        </p:tgtEl>
                                        <p:attrNameLst>
                                          <p:attrName>ppt_y</p:attrName>
                                        </p:attrNameLst>
                                      </p:cBhvr>
                                      <p:tavLst>
                                        <p:tav tm="0">
                                          <p:val>
                                            <p:strVal val="#ppt_y+.06"/>
                                          </p:val>
                                        </p:tav>
                                        <p:tav tm="100000">
                                          <p:val>
                                            <p:strVal val="#ppt_y"/>
                                          </p:val>
                                        </p:tav>
                                      </p:tavLst>
                                    </p:anim>
                                  </p:childTnLst>
                                </p:cTn>
                              </p:par>
                            </p:childTnLst>
                          </p:cTn>
                        </p:par>
                        <p:par>
                          <p:cTn id="36" fill="hold">
                            <p:stCondLst>
                              <p:cond delay="6800"/>
                            </p:stCondLst>
                            <p:childTnLst>
                              <p:par>
                                <p:cTn id="37" presetID="42" presetClass="entr" presetSubtype="0" decel="100000" fill="hold" nodeType="after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fade">
                                      <p:cBhvr>
                                        <p:cTn id="39" dur="700"/>
                                        <p:tgtEl>
                                          <p:spTgt spid="3"/>
                                        </p:tgtEl>
                                      </p:cBhvr>
                                    </p:animEffect>
                                    <p:anim calcmode="lin" valueType="num">
                                      <p:cBhvr additive="base">
                                        <p:cTn id="40" dur="700" fill="hold"/>
                                        <p:tgtEl>
                                          <p:spTgt spid="3"/>
                                        </p:tgtEl>
                                        <p:attrNameLst>
                                          <p:attrName>ppt_x</p:attrName>
                                        </p:attrNameLst>
                                      </p:cBhvr>
                                      <p:tavLst>
                                        <p:tav tm="0">
                                          <p:val>
                                            <p:strVal val="#ppt_x"/>
                                          </p:val>
                                        </p:tav>
                                        <p:tav tm="100000">
                                          <p:val>
                                            <p:strVal val="#ppt_x"/>
                                          </p:val>
                                        </p:tav>
                                      </p:tavLst>
                                    </p:anim>
                                    <p:anim calcmode="lin" valueType="num">
                                      <p:cBhvr additive="base">
                                        <p:cTn id="41" dur="700" fill="hold"/>
                                        <p:tgtEl>
                                          <p:spTgt spid="3"/>
                                        </p:tgtEl>
                                        <p:attrNameLst>
                                          <p:attrName>ppt_y</p:attrName>
                                        </p:attrNameLst>
                                      </p:cBhvr>
                                      <p:tavLst>
                                        <p:tav tm="0">
                                          <p:val>
                                            <p:strVal val="#ppt_y+.06"/>
                                          </p:val>
                                        </p:tav>
                                        <p:tav tm="100000">
                                          <p:val>
                                            <p:strVal val="#ppt_y"/>
                                          </p:val>
                                        </p:tav>
                                      </p:tavLst>
                                    </p:anim>
                                  </p:childTnLst>
                                </p:cTn>
                              </p:par>
                            </p:childTnLst>
                          </p:cTn>
                        </p:par>
                        <p:par>
                          <p:cTn id="42" fill="hold">
                            <p:stCondLst>
                              <p:cond delay="7500"/>
                            </p:stCondLst>
                            <p:childTnLst>
                              <p:par>
                                <p:cTn id="43" presetID="10" presetClass="entr" presetSubtype="0" fill="hold" nodeType="after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6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018E4-CCBC-FC24-99F8-0DDDCBB0D90B}"/>
              </a:ext>
            </a:extLst>
          </p:cNvPr>
          <p:cNvSpPr>
            <a:spLocks noGrp="1"/>
          </p:cNvSpPr>
          <p:nvPr>
            <p:ph type="title"/>
          </p:nvPr>
        </p:nvSpPr>
        <p:spPr/>
        <p:txBody>
          <a:bodyPr/>
          <a:lstStyle/>
          <a:p>
            <a:r>
              <a:rPr lang="mn-MN" dirty="0"/>
              <a:t>Үндсэн үзүүлэлтүүд</a:t>
            </a:r>
            <a:endParaRPr lang="en-US" dirty="0"/>
          </a:p>
        </p:txBody>
      </p:sp>
      <p:pic>
        <p:nvPicPr>
          <p:cNvPr id="900" name="!!Truck" descr="Автосамосвал"/>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600" y="6464300"/>
            <a:ext cx="330200" cy="330200"/>
          </a:xfrm>
          <a:prstGeom prst="rect">
            <a:avLst/>
          </a:prstGeom>
        </p:spPr>
      </p:pic>
      <p:graphicFrame>
        <p:nvGraphicFramePr>
          <p:cNvPr id="4" name="Summary table 0">
            <a:extLst>
              <a:ext uri="{FF2B5EF4-FFF2-40B4-BE49-F238E27FC236}">
                <a16:creationId xmlns:a16="http://schemas.microsoft.com/office/drawing/2014/main" id="{7190AC68-70B8-4AD6-9AFE-70892FB527E7}"/>
              </a:ext>
            </a:extLst>
          </p:cNvPr>
          <p:cNvGraphicFramePr>
            <a:graphicFrameLocks noGrp="1"/>
          </p:cNvGraphicFramePr>
          <p:nvPr/>
        </p:nvGraphicFramePr>
        <p:xfrm>
          <a:off x="609600" y="2032000"/>
          <a:ext cx="3505200" cy="3378200"/>
        </p:xfrm>
        <a:graphic>
          <a:graphicData uri="http://schemas.openxmlformats.org/drawingml/2006/table">
            <a:tbl>
              <a:tblPr/>
              <a:tblGrid>
                <a:gridCol w="2082800">
                  <a:extLst>
                    <a:ext uri="{9D8B030D-6E8A-4147-A177-3AD203B41FA5}">
                      <a16:colId xmlns:a16="http://schemas.microsoft.com/office/drawing/2014/main" val="20000"/>
                    </a:ext>
                  </a:extLst>
                </a:gridCol>
                <a:gridCol w="5842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279400">
                <a:tc>
                  <a:txBody>
                    <a:bodyPr/>
                    <a:lstStyle/>
                    <a:p>
                      <a:pPr algn="l"/>
                      <a:r>
                        <a:rPr lang="mn-MN" sz="1100" b="1" dirty="0">
                          <a:solidFill>
                            <a:srgbClr val="B4B4B8"/>
                          </a:solidFill>
                          <a:latin typeface="Arial"/>
                          <a:cs typeface="Arial"/>
                        </a:rPr>
                        <a:t>Үзүүлэлт</a:t>
                      </a:r>
                      <a:endParaRPr lang="mn-MN" sz="1100" dirty="0"/>
                    </a:p>
                  </a:txBody>
                  <a:tcPr marL="50800" marR="50800" marT="38100" marB="38100" anchor="ctr">
                    <a:lnL w="0">
                      <a:noFill/>
                    </a:lnL>
                    <a:lnR w="0">
                      <a:noFill/>
                    </a:lnR>
                    <a:lnT w="0">
                      <a:noFill/>
                    </a:lnT>
                    <a:lnB w="12700" cmpd="sng">
                      <a:solidFill>
                        <a:srgbClr val="8A8A92"/>
                      </a:solidFill>
                    </a:lnB>
                    <a:noFill/>
                  </a:tcPr>
                </a:tc>
                <a:tc>
                  <a:txBody>
                    <a:bodyPr/>
                    <a:lstStyle/>
                    <a:p>
                      <a:pPr algn="l"/>
                      <a:r>
                        <a:rPr lang="mn-MN" sz="1100" b="1" dirty="0">
                          <a:solidFill>
                            <a:srgbClr val="B4B4B8"/>
                          </a:solidFill>
                          <a:latin typeface="Arial"/>
                          <a:cs typeface="Arial"/>
                        </a:rPr>
                        <a:t>Нэгж</a:t>
                      </a:r>
                      <a:endParaRPr lang="mn-MN" sz="1100" dirty="0"/>
                    </a:p>
                  </a:txBody>
                  <a:tcPr marL="50800" marR="50800" marT="38100" marB="38100" anchor="ctr">
                    <a:lnL w="0">
                      <a:noFill/>
                    </a:lnL>
                    <a:lnR w="0">
                      <a:noFill/>
                    </a:lnR>
                    <a:lnT w="0">
                      <a:noFill/>
                    </a:lnT>
                    <a:lnB w="12700" cmpd="sng">
                      <a:solidFill>
                        <a:srgbClr val="8A8A92"/>
                      </a:solidFill>
                    </a:lnB>
                    <a:noFill/>
                  </a:tcPr>
                </a:tc>
                <a:tc>
                  <a:txBody>
                    <a:bodyPr/>
                    <a:lstStyle/>
                    <a:p>
                      <a:pPr algn="r"/>
                      <a:r>
                        <a:rPr lang="mn-MN" sz="1100" b="1" dirty="0">
                          <a:solidFill>
                            <a:srgbClr val="B4B4B8"/>
                          </a:solidFill>
                          <a:latin typeface="Arial"/>
                          <a:cs typeface="Arial"/>
                        </a:rPr>
                        <a:t>Хэмжээ</a:t>
                      </a:r>
                      <a:endParaRPr lang="mn-MN" sz="1100" dirty="0"/>
                    </a:p>
                  </a:txBody>
                  <a:tcPr marL="50800" marR="50800" marT="38100" marB="38100" anchor="ctr">
                    <a:lnL w="0">
                      <a:noFill/>
                    </a:lnL>
                    <a:lnR w="0">
                      <a:noFill/>
                    </a:lnR>
                    <a:lnT w="0">
                      <a:noFill/>
                    </a:lnT>
                    <a:lnB w="12700" cmpd="sng">
                      <a:solidFill>
                        <a:srgbClr val="8A8A92"/>
                      </a:solidFill>
                    </a:lnB>
                    <a:noFill/>
                  </a:tcPr>
                </a:tc>
                <a:extLst>
                  <a:ext uri="{0D108BD9-81ED-4DB2-BD59-A6C34878D82A}">
                    <a16:rowId xmlns:a16="http://schemas.microsoft.com/office/drawing/2014/main" val="10000"/>
                  </a:ext>
                </a:extLst>
              </a:tr>
              <a:tr h="279400">
                <a:tc gridSpan="3">
                  <a:txBody>
                    <a:bodyPr/>
                    <a:lstStyle/>
                    <a:p>
                      <a:pPr algn="l"/>
                      <a:r>
                        <a:rPr lang="mn-MN" sz="1100" b="1" dirty="0">
                          <a:solidFill>
                            <a:srgbClr val="F5E614"/>
                          </a:solidFill>
                          <a:latin typeface="Arial"/>
                          <a:cs typeface="Arial"/>
                        </a:rPr>
                        <a:t>ЭБМЗ-д бүртгэж хүлээн авсан нөөц, B+C</a:t>
                      </a:r>
                      <a:endParaRPr lang="mn-MN" sz="1100" dirty="0"/>
                    </a:p>
                  </a:txBody>
                  <a:tcPr marL="50800" marR="50800" marT="38100" marB="38100" anchor="ctr">
                    <a:lnL w="0">
                      <a:noFill/>
                    </a:lnL>
                    <a:lnR w="0">
                      <a:noFill/>
                    </a:lnR>
                    <a:lnT w="12700" cap="flat" cmpd="sng" algn="ctr">
                      <a:solidFill>
                        <a:srgbClr val="8A8A92"/>
                      </a:solidFill>
                      <a:prstDash val="solid"/>
                      <a:round/>
                      <a:headEnd type="none" w="med" len="med"/>
                      <a:tailEnd type="none" w="med" len="med"/>
                    </a:lnT>
                    <a:lnB w="6350" cmpd="sng">
                      <a:solidFill>
                        <a:srgbClr val="3A3A40"/>
                      </a:solidFill>
                    </a:lnB>
                    <a:noFill/>
                  </a:tcPr>
                </a:tc>
                <a:tc hMerge="1">
                  <a:txBody>
                    <a:bodyPr/>
                    <a:lstStyle/>
                    <a:p>
                      <a:pPr algn="l"/>
                      <a:endParaRPr lang="mn-MN" sz="1100" dirty="0"/>
                    </a:p>
                  </a:txBody>
                  <a:tcPr marL="50800" marR="50800" marT="38100" marB="38100" anchor="ctr">
                    <a:lnL w="0">
                      <a:noFill/>
                    </a:lnL>
                    <a:lnR w="0">
                      <a:noFill/>
                    </a:lnR>
                    <a:lnT w="0">
                      <a:noFill/>
                    </a:lnT>
                    <a:lnB w="6350" cmpd="sng">
                      <a:solidFill>
                        <a:srgbClr val="3A3A40"/>
                      </a:solidFill>
                    </a:lnB>
                    <a:noFill/>
                  </a:tcPr>
                </a:tc>
                <a:tc hMerge="1">
                  <a:txBody>
                    <a:bodyPr/>
                    <a:lstStyle/>
                    <a:p>
                      <a:pPr algn="l"/>
                      <a:endParaRPr lang="mn-MN" sz="1100" dirty="0"/>
                    </a:p>
                  </a:txBody>
                  <a:tcPr marL="50800" marR="50800" marT="38100" marB="38100" anchor="ctr">
                    <a:lnL w="0">
                      <a:noFill/>
                    </a:lnL>
                    <a:lnR w="0">
                      <a:noFill/>
                    </a:lnR>
                    <a:lnT w="0">
                      <a:noFill/>
                    </a:lnT>
                    <a:lnB w="6350" cmpd="sng">
                      <a:solidFill>
                        <a:srgbClr val="3A3A40"/>
                      </a:solidFill>
                    </a:lnB>
                    <a:noFill/>
                  </a:tcPr>
                </a:tc>
                <a:extLst>
                  <a:ext uri="{0D108BD9-81ED-4DB2-BD59-A6C34878D82A}">
                    <a16:rowId xmlns:a16="http://schemas.microsoft.com/office/drawing/2014/main" val="10001"/>
                  </a:ext>
                </a:extLst>
              </a:tr>
              <a:tr h="254000">
                <a:tc>
                  <a:txBody>
                    <a:bodyPr/>
                    <a:lstStyle/>
                    <a:p>
                      <a:pPr algn="l"/>
                      <a:r>
                        <a:rPr lang="mn-MN" sz="1100" dirty="0">
                          <a:solidFill>
                            <a:srgbClr val="D6D6D8"/>
                          </a:solidFill>
                          <a:latin typeface="Arial"/>
                          <a:cs typeface="Arial"/>
                        </a:rPr>
                        <a:t>Элс</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мян.м³</a:t>
                      </a:r>
                      <a:endParaRPr lang="mn-MN" sz="1100" dirty="0"/>
                    </a:p>
                  </a:txBody>
                  <a:tcPr marL="50800" marR="50800" marT="38100" marB="38100" anchor="ctr">
                    <a:lnL w="0">
                      <a:noFill/>
                    </a:lnL>
                    <a:lnR w="0">
                      <a:noFill/>
                    </a:lnR>
                    <a:lnT w="0">
                      <a:noFill/>
                    </a:lnT>
                    <a:lnB w="6350" cmpd="sng">
                      <a:solidFill>
                        <a:srgbClr val="3A3A40"/>
                      </a:solidFill>
                    </a:lnB>
                    <a:noFill/>
                  </a:tcPr>
                </a:tc>
                <a:tc>
                  <a:txBody>
                    <a:bodyPr/>
                    <a:lstStyle/>
                    <a:p>
                      <a:pPr algn="r"/>
                      <a:r>
                        <a:rPr lang="mn-MN" sz="1100" b="1" dirty="0">
                          <a:solidFill>
                            <a:srgbClr val="F2F2F0"/>
                          </a:solidFill>
                          <a:latin typeface="Arial"/>
                          <a:cs typeface="Arial"/>
                        </a:rPr>
                        <a:t>2,041.4</a:t>
                      </a:r>
                      <a:endParaRPr lang="mn-MN" sz="1100" dirty="0"/>
                    </a:p>
                  </a:txBody>
                  <a:tcPr marL="50800" marR="50800" marT="38100" marB="38100" anchor="ctr">
                    <a:lnL w="0">
                      <a:noFill/>
                    </a:lnL>
                    <a:lnR w="0">
                      <a:noFill/>
                    </a:lnR>
                    <a:lnT w="0">
                      <a:noFill/>
                    </a:lnT>
                    <a:lnB w="6350" cmpd="sng">
                      <a:solidFill>
                        <a:srgbClr val="3A3A40"/>
                      </a:solidFill>
                    </a:lnB>
                    <a:noFill/>
                  </a:tcPr>
                </a:tc>
                <a:extLst>
                  <a:ext uri="{0D108BD9-81ED-4DB2-BD59-A6C34878D82A}">
                    <a16:rowId xmlns:a16="http://schemas.microsoft.com/office/drawing/2014/main" val="10002"/>
                  </a:ext>
                </a:extLst>
              </a:tr>
              <a:tr h="254000">
                <a:tc>
                  <a:txBody>
                    <a:bodyPr/>
                    <a:lstStyle/>
                    <a:p>
                      <a:pPr algn="l"/>
                      <a:r>
                        <a:rPr lang="mn-MN" sz="1100" dirty="0">
                          <a:solidFill>
                            <a:srgbClr val="D6D6D8"/>
                          </a:solidFill>
                          <a:latin typeface="Arial"/>
                          <a:cs typeface="Arial"/>
                        </a:rPr>
                        <a:t>Касситерит</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тн</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863.3</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03"/>
                  </a:ext>
                </a:extLst>
              </a:tr>
              <a:tr h="254000">
                <a:tc>
                  <a:txBody>
                    <a:bodyPr/>
                    <a:lstStyle/>
                    <a:p>
                      <a:pPr algn="l"/>
                      <a:r>
                        <a:rPr lang="mn-MN" sz="1100" dirty="0">
                          <a:solidFill>
                            <a:srgbClr val="D6D6D8"/>
                          </a:solidFill>
                          <a:latin typeface="Arial"/>
                          <a:cs typeface="Arial"/>
                        </a:rPr>
                        <a:t>Вольфрамит</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тн</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76.2</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04"/>
                  </a:ext>
                </a:extLst>
              </a:tr>
              <a:tr h="254000">
                <a:tc>
                  <a:txBody>
                    <a:bodyPr/>
                    <a:lstStyle/>
                    <a:p>
                      <a:pPr algn="l"/>
                      <a:r>
                        <a:rPr lang="mn-MN" sz="1100" dirty="0">
                          <a:solidFill>
                            <a:srgbClr val="D6D6D8"/>
                          </a:solidFill>
                          <a:latin typeface="Arial"/>
                          <a:cs typeface="Arial"/>
                        </a:rPr>
                        <a:t>Цагаан тугалга</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тн</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656.1</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05"/>
                  </a:ext>
                </a:extLst>
              </a:tr>
              <a:tr h="254000">
                <a:tc>
                  <a:txBody>
                    <a:bodyPr/>
                    <a:lstStyle/>
                    <a:p>
                      <a:pPr algn="l"/>
                      <a:r>
                        <a:rPr lang="mn-MN" sz="1100" dirty="0">
                          <a:solidFill>
                            <a:srgbClr val="D6D6D8"/>
                          </a:solidFill>
                          <a:latin typeface="Arial"/>
                          <a:cs typeface="Arial"/>
                        </a:rPr>
                        <a:t>Вольфрам</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тн</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57.1</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06"/>
                  </a:ext>
                </a:extLst>
              </a:tr>
              <a:tr h="279400">
                <a:tc gridSpan="3">
                  <a:txBody>
                    <a:bodyPr/>
                    <a:lstStyle/>
                    <a:p>
                      <a:pPr algn="l"/>
                      <a:r>
                        <a:rPr lang="mn-MN" sz="1100" b="1" dirty="0">
                          <a:solidFill>
                            <a:srgbClr val="F5E614"/>
                          </a:solidFill>
                          <a:latin typeface="Arial"/>
                          <a:cs typeface="Arial"/>
                        </a:rPr>
                        <a:t>Үйлдвэрлэлийн нөөц</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hMerge="1">
                  <a:txBody>
                    <a:bodyPr/>
                    <a:lstStyle/>
                    <a:p>
                      <a:pPr algn="l"/>
                      <a:endParaRPr lang="mn-MN" sz="1100" dirty="0"/>
                    </a:p>
                  </a:txBody>
                  <a:tcPr marL="50800" marR="50800" marT="38100" marB="38100" anchor="ctr">
                    <a:lnL w="0">
                      <a:noFill/>
                    </a:lnL>
                    <a:lnR w="0">
                      <a:noFill/>
                    </a:lnR>
                    <a:lnT w="0">
                      <a:noFill/>
                    </a:lnT>
                    <a:lnB w="6350" cmpd="sng">
                      <a:solidFill>
                        <a:srgbClr val="3A3A40"/>
                      </a:solidFill>
                    </a:lnB>
                    <a:noFill/>
                  </a:tcPr>
                </a:tc>
                <a:tc hMerge="1">
                  <a:txBody>
                    <a:bodyPr/>
                    <a:lstStyle/>
                    <a:p>
                      <a:pPr algn="l"/>
                      <a:endParaRPr lang="mn-MN" sz="1100" dirty="0"/>
                    </a:p>
                  </a:txBody>
                  <a:tcPr marL="50800" marR="50800" marT="38100" marB="38100" anchor="ctr">
                    <a:lnL w="0">
                      <a:noFill/>
                    </a:lnL>
                    <a:lnR w="0">
                      <a:noFill/>
                    </a:lnR>
                    <a:lnT w="0">
                      <a:noFill/>
                    </a:lnT>
                    <a:lnB w="6350" cmpd="sng">
                      <a:solidFill>
                        <a:srgbClr val="3A3A40"/>
                      </a:solidFill>
                    </a:lnB>
                    <a:noFill/>
                  </a:tcPr>
                </a:tc>
                <a:extLst>
                  <a:ext uri="{0D108BD9-81ED-4DB2-BD59-A6C34878D82A}">
                    <a16:rowId xmlns:a16="http://schemas.microsoft.com/office/drawing/2014/main" val="10007"/>
                  </a:ext>
                </a:extLst>
              </a:tr>
              <a:tr h="254000">
                <a:tc>
                  <a:txBody>
                    <a:bodyPr/>
                    <a:lstStyle/>
                    <a:p>
                      <a:pPr algn="l"/>
                      <a:r>
                        <a:rPr lang="mn-MN" sz="1100" dirty="0">
                          <a:solidFill>
                            <a:srgbClr val="D6D6D8"/>
                          </a:solidFill>
                          <a:latin typeface="Arial"/>
                          <a:cs typeface="Arial"/>
                        </a:rPr>
                        <a:t>Элс</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мян.м³</a:t>
                      </a:r>
                      <a:endParaRPr lang="mn-MN" sz="1100" dirty="0"/>
                    </a:p>
                  </a:txBody>
                  <a:tcPr marL="50800" marR="50800" marT="38100" marB="38100" anchor="ctr">
                    <a:lnL w="0">
                      <a:noFill/>
                    </a:lnL>
                    <a:lnR w="0">
                      <a:noFill/>
                    </a:lnR>
                    <a:lnT w="0">
                      <a:noFill/>
                    </a:lnT>
                    <a:lnB w="6350" cmpd="sng">
                      <a:solidFill>
                        <a:srgbClr val="3A3A40"/>
                      </a:solidFill>
                    </a:lnB>
                    <a:noFill/>
                  </a:tcPr>
                </a:tc>
                <a:tc>
                  <a:txBody>
                    <a:bodyPr/>
                    <a:lstStyle/>
                    <a:p>
                      <a:pPr algn="r"/>
                      <a:r>
                        <a:rPr lang="mn-MN" sz="1100" b="1" dirty="0">
                          <a:solidFill>
                            <a:srgbClr val="F2F2F0"/>
                          </a:solidFill>
                          <a:latin typeface="Arial"/>
                          <a:cs typeface="Arial"/>
                        </a:rPr>
                        <a:t>1,902.9</a:t>
                      </a:r>
                      <a:endParaRPr lang="mn-MN" sz="1100" dirty="0"/>
                    </a:p>
                  </a:txBody>
                  <a:tcPr marL="50800" marR="50800" marT="38100" marB="38100" anchor="ctr">
                    <a:lnL w="0">
                      <a:noFill/>
                    </a:lnL>
                    <a:lnR w="0">
                      <a:noFill/>
                    </a:lnR>
                    <a:lnT w="0">
                      <a:noFill/>
                    </a:lnT>
                    <a:lnB w="6350" cmpd="sng">
                      <a:solidFill>
                        <a:srgbClr val="3A3A40"/>
                      </a:solidFill>
                    </a:lnB>
                    <a:noFill/>
                  </a:tcPr>
                </a:tc>
                <a:extLst>
                  <a:ext uri="{0D108BD9-81ED-4DB2-BD59-A6C34878D82A}">
                    <a16:rowId xmlns:a16="http://schemas.microsoft.com/office/drawing/2014/main" val="10008"/>
                  </a:ext>
                </a:extLst>
              </a:tr>
              <a:tr h="254000">
                <a:tc>
                  <a:txBody>
                    <a:bodyPr/>
                    <a:lstStyle/>
                    <a:p>
                      <a:pPr algn="l"/>
                      <a:r>
                        <a:rPr lang="mn-MN" sz="1100" dirty="0">
                          <a:solidFill>
                            <a:srgbClr val="D6D6D8"/>
                          </a:solidFill>
                          <a:latin typeface="Arial"/>
                          <a:cs typeface="Arial"/>
                        </a:rPr>
                        <a:t>Касситерит</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тн</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757.1</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09"/>
                  </a:ext>
                </a:extLst>
              </a:tr>
              <a:tr h="254000">
                <a:tc>
                  <a:txBody>
                    <a:bodyPr/>
                    <a:lstStyle/>
                    <a:p>
                      <a:pPr algn="l"/>
                      <a:r>
                        <a:rPr lang="mn-MN" sz="1100" dirty="0">
                          <a:solidFill>
                            <a:srgbClr val="D6D6D8"/>
                          </a:solidFill>
                          <a:latin typeface="Arial"/>
                          <a:cs typeface="Arial"/>
                        </a:rPr>
                        <a:t>Вольфрамит</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тн</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72.6</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10"/>
                  </a:ext>
                </a:extLst>
              </a:tr>
              <a:tr h="254000">
                <a:tc>
                  <a:txBody>
                    <a:bodyPr/>
                    <a:lstStyle/>
                    <a:p>
                      <a:pPr algn="l"/>
                      <a:r>
                        <a:rPr lang="mn-MN" sz="1100" dirty="0">
                          <a:solidFill>
                            <a:srgbClr val="D6D6D8"/>
                          </a:solidFill>
                          <a:latin typeface="Arial"/>
                          <a:cs typeface="Arial"/>
                        </a:rPr>
                        <a:t>Уулын цул</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мян.м³</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3,763.8</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11"/>
                  </a:ext>
                </a:extLst>
              </a:tr>
              <a:tr h="254000">
                <a:tc>
                  <a:txBody>
                    <a:bodyPr/>
                    <a:lstStyle/>
                    <a:p>
                      <a:pPr algn="l"/>
                      <a:r>
                        <a:rPr lang="mn-MN" sz="1100" dirty="0">
                          <a:solidFill>
                            <a:srgbClr val="D6D6D8"/>
                          </a:solidFill>
                          <a:latin typeface="Arial"/>
                          <a:cs typeface="Arial"/>
                        </a:rPr>
                        <a:t>Хөрс хуулалт</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мян.м³</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1,860.9</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12"/>
                  </a:ext>
                </a:extLst>
              </a:tr>
            </a:tbl>
          </a:graphicData>
        </a:graphic>
      </p:graphicFrame>
      <p:graphicFrame>
        <p:nvGraphicFramePr>
          <p:cNvPr id="6" name="Summary table 1">
            <a:extLst>
              <a:ext uri="{FF2B5EF4-FFF2-40B4-BE49-F238E27FC236}">
                <a16:creationId xmlns:a16="http://schemas.microsoft.com/office/drawing/2014/main" id="{85DE9931-241B-4F40-83E0-A3663057C7EE}"/>
              </a:ext>
            </a:extLst>
          </p:cNvPr>
          <p:cNvGraphicFramePr>
            <a:graphicFrameLocks noGrp="1"/>
          </p:cNvGraphicFramePr>
          <p:nvPr/>
        </p:nvGraphicFramePr>
        <p:xfrm>
          <a:off x="4343400" y="2032000"/>
          <a:ext cx="3505200" cy="3632200"/>
        </p:xfrm>
        <a:graphic>
          <a:graphicData uri="http://schemas.openxmlformats.org/drawingml/2006/table">
            <a:tbl>
              <a:tblPr/>
              <a:tblGrid>
                <a:gridCol w="2082800">
                  <a:extLst>
                    <a:ext uri="{9D8B030D-6E8A-4147-A177-3AD203B41FA5}">
                      <a16:colId xmlns:a16="http://schemas.microsoft.com/office/drawing/2014/main" val="20000"/>
                    </a:ext>
                  </a:extLst>
                </a:gridCol>
                <a:gridCol w="5842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279400">
                <a:tc>
                  <a:txBody>
                    <a:bodyPr/>
                    <a:lstStyle/>
                    <a:p>
                      <a:pPr algn="l"/>
                      <a:r>
                        <a:rPr lang="mn-MN" sz="1100" b="1" dirty="0">
                          <a:solidFill>
                            <a:srgbClr val="B4B4B8"/>
                          </a:solidFill>
                          <a:latin typeface="Arial"/>
                          <a:cs typeface="Arial"/>
                        </a:rPr>
                        <a:t>Үзүүлэлт</a:t>
                      </a:r>
                      <a:endParaRPr lang="mn-MN" sz="1100" dirty="0"/>
                    </a:p>
                  </a:txBody>
                  <a:tcPr marL="50800" marR="50800" marT="38100" marB="38100" anchor="ctr">
                    <a:lnL w="0">
                      <a:noFill/>
                    </a:lnL>
                    <a:lnR w="0">
                      <a:noFill/>
                    </a:lnR>
                    <a:lnT w="0">
                      <a:noFill/>
                    </a:lnT>
                    <a:lnB w="12700" cmpd="sng">
                      <a:solidFill>
                        <a:srgbClr val="8A8A92"/>
                      </a:solidFill>
                    </a:lnB>
                    <a:noFill/>
                  </a:tcPr>
                </a:tc>
                <a:tc>
                  <a:txBody>
                    <a:bodyPr/>
                    <a:lstStyle/>
                    <a:p>
                      <a:pPr algn="l"/>
                      <a:r>
                        <a:rPr lang="mn-MN" sz="1100" b="1" dirty="0">
                          <a:solidFill>
                            <a:srgbClr val="B4B4B8"/>
                          </a:solidFill>
                          <a:latin typeface="Arial"/>
                          <a:cs typeface="Arial"/>
                        </a:rPr>
                        <a:t>Нэгж</a:t>
                      </a:r>
                      <a:endParaRPr lang="mn-MN" sz="1100" dirty="0"/>
                    </a:p>
                  </a:txBody>
                  <a:tcPr marL="50800" marR="50800" marT="38100" marB="38100" anchor="ctr">
                    <a:lnL w="0">
                      <a:noFill/>
                    </a:lnL>
                    <a:lnR w="0">
                      <a:noFill/>
                    </a:lnR>
                    <a:lnT w="0">
                      <a:noFill/>
                    </a:lnT>
                    <a:lnB w="12700" cmpd="sng">
                      <a:solidFill>
                        <a:srgbClr val="8A8A92"/>
                      </a:solidFill>
                    </a:lnB>
                    <a:noFill/>
                  </a:tcPr>
                </a:tc>
                <a:tc>
                  <a:txBody>
                    <a:bodyPr/>
                    <a:lstStyle/>
                    <a:p>
                      <a:pPr algn="r"/>
                      <a:r>
                        <a:rPr lang="mn-MN" sz="1100" b="1" dirty="0">
                          <a:solidFill>
                            <a:srgbClr val="B4B4B8"/>
                          </a:solidFill>
                          <a:latin typeface="Arial"/>
                          <a:cs typeface="Arial"/>
                        </a:rPr>
                        <a:t>Хэмжээ</a:t>
                      </a:r>
                      <a:endParaRPr lang="mn-MN" sz="1100" dirty="0"/>
                    </a:p>
                  </a:txBody>
                  <a:tcPr marL="50800" marR="50800" marT="38100" marB="38100" anchor="ctr">
                    <a:lnL w="0">
                      <a:noFill/>
                    </a:lnL>
                    <a:lnR w="0">
                      <a:noFill/>
                    </a:lnR>
                    <a:lnT w="0">
                      <a:noFill/>
                    </a:lnT>
                    <a:lnB w="12700" cmpd="sng">
                      <a:solidFill>
                        <a:srgbClr val="8A8A92"/>
                      </a:solidFill>
                    </a:lnB>
                    <a:noFill/>
                  </a:tcPr>
                </a:tc>
                <a:extLst>
                  <a:ext uri="{0D108BD9-81ED-4DB2-BD59-A6C34878D82A}">
                    <a16:rowId xmlns:a16="http://schemas.microsoft.com/office/drawing/2014/main" val="10000"/>
                  </a:ext>
                </a:extLst>
              </a:tr>
              <a:tr h="279400">
                <a:tc gridSpan="3">
                  <a:txBody>
                    <a:bodyPr/>
                    <a:lstStyle/>
                    <a:p>
                      <a:pPr algn="l"/>
                      <a:r>
                        <a:rPr lang="mn-MN" sz="1100" b="1" dirty="0">
                          <a:solidFill>
                            <a:srgbClr val="F5E614"/>
                          </a:solidFill>
                          <a:latin typeface="Arial"/>
                          <a:cs typeface="Arial"/>
                        </a:rPr>
                        <a:t>Уурхай, баяжуулах цех</a:t>
                      </a:r>
                      <a:endParaRPr lang="mn-MN" sz="1100" dirty="0"/>
                    </a:p>
                  </a:txBody>
                  <a:tcPr marL="50800" marR="50800" marT="38100" marB="38100" anchor="ctr">
                    <a:lnL w="0">
                      <a:noFill/>
                    </a:lnL>
                    <a:lnR w="0">
                      <a:noFill/>
                    </a:lnR>
                    <a:lnT w="12700" cap="flat" cmpd="sng" algn="ctr">
                      <a:solidFill>
                        <a:srgbClr val="8A8A92"/>
                      </a:solidFill>
                      <a:prstDash val="solid"/>
                      <a:round/>
                      <a:headEnd type="none" w="med" len="med"/>
                      <a:tailEnd type="none" w="med" len="med"/>
                    </a:lnT>
                    <a:lnB w="6350" cmpd="sng">
                      <a:solidFill>
                        <a:srgbClr val="3A3A40"/>
                      </a:solidFill>
                    </a:lnB>
                    <a:noFill/>
                  </a:tcPr>
                </a:tc>
                <a:tc hMerge="1">
                  <a:txBody>
                    <a:bodyPr/>
                    <a:lstStyle/>
                    <a:p>
                      <a:pPr algn="l"/>
                      <a:endParaRPr lang="mn-MN" sz="1100" dirty="0"/>
                    </a:p>
                  </a:txBody>
                  <a:tcPr marL="50800" marR="50800" marT="38100" marB="38100" anchor="ctr">
                    <a:lnL w="0">
                      <a:noFill/>
                    </a:lnL>
                    <a:lnR w="0">
                      <a:noFill/>
                    </a:lnR>
                    <a:lnT w="0">
                      <a:noFill/>
                    </a:lnT>
                    <a:lnB w="6350" cmpd="sng">
                      <a:solidFill>
                        <a:srgbClr val="3A3A40"/>
                      </a:solidFill>
                    </a:lnB>
                    <a:noFill/>
                  </a:tcPr>
                </a:tc>
                <a:tc hMerge="1">
                  <a:txBody>
                    <a:bodyPr/>
                    <a:lstStyle/>
                    <a:p>
                      <a:pPr algn="l"/>
                      <a:endParaRPr lang="mn-MN" sz="1100" dirty="0"/>
                    </a:p>
                  </a:txBody>
                  <a:tcPr marL="50800" marR="50800" marT="38100" marB="38100" anchor="ctr">
                    <a:lnL w="0">
                      <a:noFill/>
                    </a:lnL>
                    <a:lnR w="0">
                      <a:noFill/>
                    </a:lnR>
                    <a:lnT w="0">
                      <a:noFill/>
                    </a:lnT>
                    <a:lnB w="6350" cmpd="sng">
                      <a:solidFill>
                        <a:srgbClr val="3A3A40"/>
                      </a:solidFill>
                    </a:lnB>
                    <a:noFill/>
                  </a:tcPr>
                </a:tc>
                <a:extLst>
                  <a:ext uri="{0D108BD9-81ED-4DB2-BD59-A6C34878D82A}">
                    <a16:rowId xmlns:a16="http://schemas.microsoft.com/office/drawing/2014/main" val="10001"/>
                  </a:ext>
                </a:extLst>
              </a:tr>
              <a:tr h="254000">
                <a:tc>
                  <a:txBody>
                    <a:bodyPr/>
                    <a:lstStyle/>
                    <a:p>
                      <a:pPr algn="l"/>
                      <a:r>
                        <a:rPr lang="mn-MN" sz="1100" dirty="0">
                          <a:solidFill>
                            <a:srgbClr val="D6D6D8"/>
                          </a:solidFill>
                          <a:latin typeface="Arial"/>
                          <a:cs typeface="Arial"/>
                        </a:rPr>
                        <a:t>Жилийн хүчин чадал</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мян.м³</a:t>
                      </a:r>
                      <a:endParaRPr lang="mn-MN" sz="1100" dirty="0"/>
                    </a:p>
                  </a:txBody>
                  <a:tcPr marL="50800" marR="50800" marT="38100" marB="38100" anchor="ctr">
                    <a:lnL w="0">
                      <a:noFill/>
                    </a:lnL>
                    <a:lnR w="0">
                      <a:noFill/>
                    </a:lnR>
                    <a:lnT w="0">
                      <a:noFill/>
                    </a:lnT>
                    <a:lnB w="6350" cmpd="sng">
                      <a:solidFill>
                        <a:srgbClr val="3A3A40"/>
                      </a:solidFill>
                    </a:lnB>
                    <a:noFill/>
                  </a:tcPr>
                </a:tc>
                <a:tc>
                  <a:txBody>
                    <a:bodyPr/>
                    <a:lstStyle/>
                    <a:p>
                      <a:pPr algn="r"/>
                      <a:r>
                        <a:rPr lang="mn-MN" sz="1100" b="1" dirty="0">
                          <a:solidFill>
                            <a:srgbClr val="F2F2F0"/>
                          </a:solidFill>
                          <a:latin typeface="Arial"/>
                          <a:cs typeface="Arial"/>
                        </a:rPr>
                        <a:t>270.0</a:t>
                      </a:r>
                      <a:endParaRPr lang="mn-MN" sz="1100" dirty="0"/>
                    </a:p>
                  </a:txBody>
                  <a:tcPr marL="50800" marR="50800" marT="38100" marB="38100" anchor="ctr">
                    <a:lnL w="0">
                      <a:noFill/>
                    </a:lnL>
                    <a:lnR w="0">
                      <a:noFill/>
                    </a:lnR>
                    <a:lnT w="0">
                      <a:noFill/>
                    </a:lnT>
                    <a:lnB w="6350" cmpd="sng">
                      <a:solidFill>
                        <a:srgbClr val="3A3A40"/>
                      </a:solidFill>
                    </a:lnB>
                    <a:noFill/>
                  </a:tcPr>
                </a:tc>
                <a:extLst>
                  <a:ext uri="{0D108BD9-81ED-4DB2-BD59-A6C34878D82A}">
                    <a16:rowId xmlns:a16="http://schemas.microsoft.com/office/drawing/2014/main" val="10002"/>
                  </a:ext>
                </a:extLst>
              </a:tr>
              <a:tr h="254000">
                <a:tc>
                  <a:txBody>
                    <a:bodyPr/>
                    <a:lstStyle/>
                    <a:p>
                      <a:pPr algn="l"/>
                      <a:r>
                        <a:rPr lang="mn-MN" sz="1100" dirty="0">
                          <a:solidFill>
                            <a:srgbClr val="D6D6D8"/>
                          </a:solidFill>
                          <a:latin typeface="Arial"/>
                          <a:cs typeface="Arial"/>
                        </a:rPr>
                        <a:t>Ашиглалтын хугацаа</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жил</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7</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03"/>
                  </a:ext>
                </a:extLst>
              </a:tr>
              <a:tr h="254000">
                <a:tc>
                  <a:txBody>
                    <a:bodyPr/>
                    <a:lstStyle/>
                    <a:p>
                      <a:pPr algn="l"/>
                      <a:r>
                        <a:rPr lang="mn-MN" sz="1100" dirty="0">
                          <a:solidFill>
                            <a:srgbClr val="D6D6D8"/>
                          </a:solidFill>
                          <a:latin typeface="Arial"/>
                          <a:cs typeface="Arial"/>
                        </a:rPr>
                        <a:t>Цагаан тугалганы баяжмал</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тн</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1,195.2</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04"/>
                  </a:ext>
                </a:extLst>
              </a:tr>
              <a:tr h="254000">
                <a:tc>
                  <a:txBody>
                    <a:bodyPr/>
                    <a:lstStyle/>
                    <a:p>
                      <a:pPr algn="l"/>
                      <a:r>
                        <a:rPr lang="mn-MN" sz="1100" dirty="0">
                          <a:solidFill>
                            <a:srgbClr val="D6D6D8"/>
                          </a:solidFill>
                          <a:latin typeface="Arial"/>
                          <a:cs typeface="Arial"/>
                        </a:rPr>
                        <a:t>Гянтболдын баяжмал</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тн</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54.5</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05"/>
                  </a:ext>
                </a:extLst>
              </a:tr>
              <a:tr h="254000">
                <a:tc>
                  <a:txBody>
                    <a:bodyPr/>
                    <a:lstStyle/>
                    <a:p>
                      <a:pPr algn="l"/>
                      <a:r>
                        <a:rPr lang="mn-MN" sz="1100" dirty="0">
                          <a:solidFill>
                            <a:srgbClr val="D6D6D8"/>
                          </a:solidFill>
                          <a:latin typeface="Arial"/>
                          <a:cs typeface="Arial"/>
                        </a:rPr>
                        <a:t>Ажиллагсдын тоо</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хүн</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125</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06"/>
                  </a:ext>
                </a:extLst>
              </a:tr>
              <a:tr h="279400">
                <a:tc gridSpan="3">
                  <a:txBody>
                    <a:bodyPr/>
                    <a:lstStyle/>
                    <a:p>
                      <a:pPr algn="l"/>
                      <a:r>
                        <a:rPr lang="mn-MN" sz="1100" b="1" dirty="0">
                          <a:solidFill>
                            <a:srgbClr val="F5E614"/>
                          </a:solidFill>
                          <a:latin typeface="Arial"/>
                          <a:cs typeface="Arial"/>
                        </a:rPr>
                        <a:t>Хөрөнгө оруулалт</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hMerge="1">
                  <a:txBody>
                    <a:bodyPr/>
                    <a:lstStyle/>
                    <a:p>
                      <a:pPr algn="l"/>
                      <a:endParaRPr lang="mn-MN" sz="1100" dirty="0"/>
                    </a:p>
                  </a:txBody>
                  <a:tcPr marL="50800" marR="50800" marT="38100" marB="38100" anchor="ctr">
                    <a:lnL w="0">
                      <a:noFill/>
                    </a:lnL>
                    <a:lnR w="0">
                      <a:noFill/>
                    </a:lnR>
                    <a:lnT w="0">
                      <a:noFill/>
                    </a:lnT>
                    <a:lnB w="6350" cmpd="sng">
                      <a:solidFill>
                        <a:srgbClr val="3A3A40"/>
                      </a:solidFill>
                    </a:lnB>
                    <a:noFill/>
                  </a:tcPr>
                </a:tc>
                <a:tc hMerge="1">
                  <a:txBody>
                    <a:bodyPr/>
                    <a:lstStyle/>
                    <a:p>
                      <a:pPr algn="l"/>
                      <a:endParaRPr lang="mn-MN" sz="1100" dirty="0"/>
                    </a:p>
                  </a:txBody>
                  <a:tcPr marL="50800" marR="50800" marT="38100" marB="38100" anchor="ctr">
                    <a:lnL w="0">
                      <a:noFill/>
                    </a:lnL>
                    <a:lnR w="0">
                      <a:noFill/>
                    </a:lnR>
                    <a:lnT w="0">
                      <a:noFill/>
                    </a:lnT>
                    <a:lnB w="6350" cmpd="sng">
                      <a:solidFill>
                        <a:srgbClr val="3A3A40"/>
                      </a:solidFill>
                    </a:lnB>
                    <a:noFill/>
                  </a:tcPr>
                </a:tc>
                <a:extLst>
                  <a:ext uri="{0D108BD9-81ED-4DB2-BD59-A6C34878D82A}">
                    <a16:rowId xmlns:a16="http://schemas.microsoft.com/office/drawing/2014/main" val="10007"/>
                  </a:ext>
                </a:extLst>
              </a:tr>
              <a:tr h="254000">
                <a:tc>
                  <a:txBody>
                    <a:bodyPr/>
                    <a:lstStyle/>
                    <a:p>
                      <a:pPr algn="l"/>
                      <a:r>
                        <a:rPr lang="mn-MN" sz="1100" dirty="0">
                          <a:solidFill>
                            <a:srgbClr val="D6D6D8"/>
                          </a:solidFill>
                          <a:latin typeface="Arial"/>
                          <a:cs typeface="Arial"/>
                        </a:rPr>
                        <a:t>Нийт</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сая ₮</a:t>
                      </a:r>
                      <a:endParaRPr lang="mn-MN" sz="1100" dirty="0"/>
                    </a:p>
                  </a:txBody>
                  <a:tcPr marL="50800" marR="50800" marT="38100" marB="38100" anchor="ctr">
                    <a:lnL w="0">
                      <a:noFill/>
                    </a:lnL>
                    <a:lnR w="0">
                      <a:noFill/>
                    </a:lnR>
                    <a:lnT w="0">
                      <a:noFill/>
                    </a:lnT>
                    <a:lnB w="6350" cmpd="sng">
                      <a:solidFill>
                        <a:srgbClr val="3A3A40"/>
                      </a:solidFill>
                    </a:lnB>
                    <a:noFill/>
                  </a:tcPr>
                </a:tc>
                <a:tc>
                  <a:txBody>
                    <a:bodyPr/>
                    <a:lstStyle/>
                    <a:p>
                      <a:pPr algn="r"/>
                      <a:r>
                        <a:rPr lang="mn-MN" sz="1100" b="1" dirty="0">
                          <a:solidFill>
                            <a:srgbClr val="F5E614"/>
                          </a:solidFill>
                          <a:latin typeface="Arial"/>
                          <a:cs typeface="Arial"/>
                        </a:rPr>
                        <a:t>7,792.3</a:t>
                      </a:r>
                      <a:endParaRPr lang="mn-MN" sz="1100" dirty="0"/>
                    </a:p>
                  </a:txBody>
                  <a:tcPr marL="50800" marR="50800" marT="38100" marB="38100" anchor="ctr">
                    <a:lnL w="0">
                      <a:noFill/>
                    </a:lnL>
                    <a:lnR w="0">
                      <a:noFill/>
                    </a:lnR>
                    <a:lnT w="0">
                      <a:noFill/>
                    </a:lnT>
                    <a:lnB w="6350" cmpd="sng">
                      <a:solidFill>
                        <a:srgbClr val="3A3A40"/>
                      </a:solidFill>
                    </a:lnB>
                    <a:noFill/>
                  </a:tcPr>
                </a:tc>
                <a:extLst>
                  <a:ext uri="{0D108BD9-81ED-4DB2-BD59-A6C34878D82A}">
                    <a16:rowId xmlns:a16="http://schemas.microsoft.com/office/drawing/2014/main" val="10008"/>
                  </a:ext>
                </a:extLst>
              </a:tr>
              <a:tr h="254000">
                <a:tc>
                  <a:txBody>
                    <a:bodyPr/>
                    <a:lstStyle/>
                    <a:p>
                      <a:pPr algn="l"/>
                      <a:r>
                        <a:rPr lang="mn-MN" sz="1100" dirty="0">
                          <a:solidFill>
                            <a:srgbClr val="D6D6D8"/>
                          </a:solidFill>
                          <a:latin typeface="Arial"/>
                          <a:cs typeface="Arial"/>
                        </a:rPr>
                        <a:t>Ил уурхай</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сая ₮</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2,254.0</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09"/>
                  </a:ext>
                </a:extLst>
              </a:tr>
              <a:tr h="254000">
                <a:tc>
                  <a:txBody>
                    <a:bodyPr/>
                    <a:lstStyle/>
                    <a:p>
                      <a:pPr algn="l"/>
                      <a:r>
                        <a:rPr lang="mn-MN" sz="1100" dirty="0">
                          <a:solidFill>
                            <a:srgbClr val="D6D6D8"/>
                          </a:solidFill>
                          <a:latin typeface="Arial"/>
                          <a:cs typeface="Arial"/>
                        </a:rPr>
                        <a:t>Дэд бүтэц</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сая ₮</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2,145.3</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10"/>
                  </a:ext>
                </a:extLst>
              </a:tr>
              <a:tr h="254000">
                <a:tc>
                  <a:txBody>
                    <a:bodyPr/>
                    <a:lstStyle/>
                    <a:p>
                      <a:pPr algn="l"/>
                      <a:r>
                        <a:rPr lang="mn-MN" sz="1100" dirty="0">
                          <a:solidFill>
                            <a:srgbClr val="D6D6D8"/>
                          </a:solidFill>
                          <a:latin typeface="Arial"/>
                          <a:cs typeface="Arial"/>
                        </a:rPr>
                        <a:t>Баяжуулах цех</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сая ₮</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1,794.4</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11"/>
                  </a:ext>
                </a:extLst>
              </a:tr>
              <a:tr h="254000">
                <a:tc>
                  <a:txBody>
                    <a:bodyPr/>
                    <a:lstStyle/>
                    <a:p>
                      <a:pPr algn="l"/>
                      <a:r>
                        <a:rPr lang="mn-MN" sz="1100" dirty="0">
                          <a:solidFill>
                            <a:srgbClr val="D6D6D8"/>
                          </a:solidFill>
                          <a:latin typeface="Arial"/>
                          <a:cs typeface="Arial"/>
                        </a:rPr>
                        <a:t>Эргэлтийн хөрөнгө</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сая ₮</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700.4</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12"/>
                  </a:ext>
                </a:extLst>
              </a:tr>
              <a:tr h="254000">
                <a:tc>
                  <a:txBody>
                    <a:bodyPr/>
                    <a:lstStyle/>
                    <a:p>
                      <a:pPr algn="l"/>
                      <a:r>
                        <a:rPr lang="mn-MN" sz="1100" dirty="0">
                          <a:solidFill>
                            <a:srgbClr val="D6D6D8"/>
                          </a:solidFill>
                          <a:latin typeface="Arial"/>
                          <a:cs typeface="Arial"/>
                        </a:rPr>
                        <a:t>Бусад</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сая ₮</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898.1</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13"/>
                  </a:ext>
                </a:extLst>
              </a:tr>
            </a:tbl>
          </a:graphicData>
        </a:graphic>
      </p:graphicFrame>
      <p:graphicFrame>
        <p:nvGraphicFramePr>
          <p:cNvPr id="8" name="Summary table 2">
            <a:extLst>
              <a:ext uri="{FF2B5EF4-FFF2-40B4-BE49-F238E27FC236}">
                <a16:creationId xmlns:a16="http://schemas.microsoft.com/office/drawing/2014/main" id="{74908494-7471-4F80-B637-817725772609}"/>
              </a:ext>
            </a:extLst>
          </p:cNvPr>
          <p:cNvGraphicFramePr>
            <a:graphicFrameLocks noGrp="1"/>
          </p:cNvGraphicFramePr>
          <p:nvPr/>
        </p:nvGraphicFramePr>
        <p:xfrm>
          <a:off x="8077200" y="2032000"/>
          <a:ext cx="3505200" cy="3657600"/>
        </p:xfrm>
        <a:graphic>
          <a:graphicData uri="http://schemas.openxmlformats.org/drawingml/2006/table">
            <a:tbl>
              <a:tblPr/>
              <a:tblGrid>
                <a:gridCol w="1905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279400">
                <a:tc>
                  <a:txBody>
                    <a:bodyPr/>
                    <a:lstStyle/>
                    <a:p>
                      <a:pPr algn="l"/>
                      <a:r>
                        <a:rPr lang="mn-MN" sz="1100" b="1" dirty="0">
                          <a:solidFill>
                            <a:srgbClr val="B4B4B8"/>
                          </a:solidFill>
                          <a:latin typeface="Arial"/>
                          <a:cs typeface="Arial"/>
                        </a:rPr>
                        <a:t>Үзүүлэлт</a:t>
                      </a:r>
                      <a:endParaRPr lang="mn-MN" sz="1100" dirty="0"/>
                    </a:p>
                  </a:txBody>
                  <a:tcPr marL="50800" marR="50800" marT="38100" marB="38100" anchor="ctr">
                    <a:lnL w="0">
                      <a:noFill/>
                    </a:lnL>
                    <a:lnR w="0">
                      <a:noFill/>
                    </a:lnR>
                    <a:lnT w="0">
                      <a:noFill/>
                    </a:lnT>
                    <a:lnB w="12700" cmpd="sng">
                      <a:solidFill>
                        <a:srgbClr val="8A8A92"/>
                      </a:solidFill>
                    </a:lnB>
                    <a:noFill/>
                  </a:tcPr>
                </a:tc>
                <a:tc>
                  <a:txBody>
                    <a:bodyPr/>
                    <a:lstStyle/>
                    <a:p>
                      <a:pPr algn="l"/>
                      <a:r>
                        <a:rPr lang="mn-MN" sz="1100" b="1" dirty="0">
                          <a:solidFill>
                            <a:srgbClr val="B4B4B8"/>
                          </a:solidFill>
                          <a:latin typeface="Arial"/>
                          <a:cs typeface="Arial"/>
                        </a:rPr>
                        <a:t>Нэгж</a:t>
                      </a:r>
                      <a:endParaRPr lang="mn-MN" sz="1100" dirty="0"/>
                    </a:p>
                  </a:txBody>
                  <a:tcPr marL="50800" marR="50800" marT="38100" marB="38100" anchor="ctr">
                    <a:lnL w="0">
                      <a:noFill/>
                    </a:lnL>
                    <a:lnR w="0">
                      <a:noFill/>
                    </a:lnR>
                    <a:lnT w="0">
                      <a:noFill/>
                    </a:lnT>
                    <a:lnB w="12700" cmpd="sng">
                      <a:solidFill>
                        <a:srgbClr val="8A8A92"/>
                      </a:solidFill>
                    </a:lnB>
                    <a:noFill/>
                  </a:tcPr>
                </a:tc>
                <a:tc>
                  <a:txBody>
                    <a:bodyPr/>
                    <a:lstStyle/>
                    <a:p>
                      <a:pPr algn="r"/>
                      <a:r>
                        <a:rPr lang="mn-MN" sz="1100" b="1" dirty="0">
                          <a:solidFill>
                            <a:srgbClr val="B4B4B8"/>
                          </a:solidFill>
                          <a:latin typeface="Arial"/>
                          <a:cs typeface="Arial"/>
                        </a:rPr>
                        <a:t>Хэмжээ</a:t>
                      </a:r>
                      <a:endParaRPr lang="mn-MN" sz="1100" dirty="0"/>
                    </a:p>
                  </a:txBody>
                  <a:tcPr marL="50800" marR="50800" marT="38100" marB="38100" anchor="ctr">
                    <a:lnL w="0">
                      <a:noFill/>
                    </a:lnL>
                    <a:lnR w="0">
                      <a:noFill/>
                    </a:lnR>
                    <a:lnT w="0">
                      <a:noFill/>
                    </a:lnT>
                    <a:lnB w="12700" cmpd="sng">
                      <a:solidFill>
                        <a:srgbClr val="8A8A92"/>
                      </a:solidFill>
                    </a:lnB>
                    <a:noFill/>
                  </a:tcPr>
                </a:tc>
                <a:extLst>
                  <a:ext uri="{0D108BD9-81ED-4DB2-BD59-A6C34878D82A}">
                    <a16:rowId xmlns:a16="http://schemas.microsoft.com/office/drawing/2014/main" val="10000"/>
                  </a:ext>
                </a:extLst>
              </a:tr>
              <a:tr h="279400">
                <a:tc gridSpan="3">
                  <a:txBody>
                    <a:bodyPr/>
                    <a:lstStyle/>
                    <a:p>
                      <a:pPr algn="l"/>
                      <a:r>
                        <a:rPr lang="mn-MN" sz="1100" b="1" dirty="0">
                          <a:solidFill>
                            <a:srgbClr val="F5E614"/>
                          </a:solidFill>
                          <a:latin typeface="Arial"/>
                          <a:cs typeface="Arial"/>
                        </a:rPr>
                        <a:t>Орлого, зардал, 7 жилд</a:t>
                      </a:r>
                      <a:endParaRPr lang="mn-MN" sz="1100" dirty="0"/>
                    </a:p>
                  </a:txBody>
                  <a:tcPr marL="50800" marR="50800" marT="38100" marB="38100" anchor="ctr">
                    <a:lnL w="0">
                      <a:noFill/>
                    </a:lnL>
                    <a:lnR w="0">
                      <a:noFill/>
                    </a:lnR>
                    <a:lnT w="12700" cap="flat" cmpd="sng" algn="ctr">
                      <a:solidFill>
                        <a:srgbClr val="8A8A92"/>
                      </a:solidFill>
                      <a:prstDash val="solid"/>
                      <a:round/>
                      <a:headEnd type="none" w="med" len="med"/>
                      <a:tailEnd type="none" w="med" len="med"/>
                    </a:lnT>
                    <a:lnB w="6350" cmpd="sng">
                      <a:solidFill>
                        <a:srgbClr val="3A3A40"/>
                      </a:solidFill>
                    </a:lnB>
                    <a:noFill/>
                  </a:tcPr>
                </a:tc>
                <a:tc hMerge="1">
                  <a:txBody>
                    <a:bodyPr/>
                    <a:lstStyle/>
                    <a:p>
                      <a:pPr algn="l"/>
                      <a:endParaRPr lang="mn-MN" sz="1100" dirty="0"/>
                    </a:p>
                  </a:txBody>
                  <a:tcPr marL="50800" marR="50800" marT="38100" marB="38100" anchor="ctr">
                    <a:lnL w="0">
                      <a:noFill/>
                    </a:lnL>
                    <a:lnR w="0">
                      <a:noFill/>
                    </a:lnR>
                    <a:lnT w="0">
                      <a:noFill/>
                    </a:lnT>
                    <a:lnB w="6350" cmpd="sng">
                      <a:solidFill>
                        <a:srgbClr val="3A3A40"/>
                      </a:solidFill>
                    </a:lnB>
                    <a:noFill/>
                  </a:tcPr>
                </a:tc>
                <a:tc hMerge="1">
                  <a:txBody>
                    <a:bodyPr/>
                    <a:lstStyle/>
                    <a:p>
                      <a:pPr algn="l"/>
                      <a:endParaRPr lang="mn-MN" sz="1100" dirty="0"/>
                    </a:p>
                  </a:txBody>
                  <a:tcPr marL="50800" marR="50800" marT="38100" marB="38100" anchor="ctr">
                    <a:lnL w="0">
                      <a:noFill/>
                    </a:lnL>
                    <a:lnR w="0">
                      <a:noFill/>
                    </a:lnR>
                    <a:lnT w="0">
                      <a:noFill/>
                    </a:lnT>
                    <a:lnB w="6350" cmpd="sng">
                      <a:solidFill>
                        <a:srgbClr val="3A3A40"/>
                      </a:solidFill>
                    </a:lnB>
                    <a:noFill/>
                  </a:tcPr>
                </a:tc>
                <a:extLst>
                  <a:ext uri="{0D108BD9-81ED-4DB2-BD59-A6C34878D82A}">
                    <a16:rowId xmlns:a16="http://schemas.microsoft.com/office/drawing/2014/main" val="10001"/>
                  </a:ext>
                </a:extLst>
              </a:tr>
              <a:tr h="254000">
                <a:tc>
                  <a:txBody>
                    <a:bodyPr/>
                    <a:lstStyle/>
                    <a:p>
                      <a:pPr algn="l"/>
                      <a:r>
                        <a:rPr lang="mn-MN" sz="1100" dirty="0">
                          <a:solidFill>
                            <a:srgbClr val="D6D6D8"/>
                          </a:solidFill>
                          <a:latin typeface="Arial"/>
                          <a:cs typeface="Arial"/>
                        </a:rPr>
                        <a:t>Борлуулалтын орлого</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сая ₮</a:t>
                      </a:r>
                      <a:endParaRPr lang="mn-MN" sz="1100" dirty="0"/>
                    </a:p>
                  </a:txBody>
                  <a:tcPr marL="50800" marR="50800" marT="38100" marB="38100" anchor="ctr">
                    <a:lnL w="0">
                      <a:noFill/>
                    </a:lnL>
                    <a:lnR w="0">
                      <a:noFill/>
                    </a:lnR>
                    <a:lnT w="0">
                      <a:noFill/>
                    </a:lnT>
                    <a:lnB w="6350" cmpd="sng">
                      <a:solidFill>
                        <a:srgbClr val="3A3A40"/>
                      </a:solidFill>
                    </a:lnB>
                    <a:noFill/>
                  </a:tcPr>
                </a:tc>
                <a:tc>
                  <a:txBody>
                    <a:bodyPr/>
                    <a:lstStyle/>
                    <a:p>
                      <a:pPr algn="r"/>
                      <a:r>
                        <a:rPr lang="mn-MN" sz="1100" b="1" dirty="0">
                          <a:solidFill>
                            <a:srgbClr val="F2F2F0"/>
                          </a:solidFill>
                          <a:latin typeface="Arial"/>
                          <a:cs typeface="Arial"/>
                        </a:rPr>
                        <a:t>88,304.2</a:t>
                      </a:r>
                      <a:endParaRPr lang="mn-MN" sz="1100" dirty="0"/>
                    </a:p>
                  </a:txBody>
                  <a:tcPr marL="50800" marR="50800" marT="38100" marB="38100" anchor="ctr">
                    <a:lnL w="0">
                      <a:noFill/>
                    </a:lnL>
                    <a:lnR w="0">
                      <a:noFill/>
                    </a:lnR>
                    <a:lnT w="0">
                      <a:noFill/>
                    </a:lnT>
                    <a:lnB w="6350" cmpd="sng">
                      <a:solidFill>
                        <a:srgbClr val="3A3A40"/>
                      </a:solidFill>
                    </a:lnB>
                    <a:noFill/>
                  </a:tcPr>
                </a:tc>
                <a:extLst>
                  <a:ext uri="{0D108BD9-81ED-4DB2-BD59-A6C34878D82A}">
                    <a16:rowId xmlns:a16="http://schemas.microsoft.com/office/drawing/2014/main" val="10002"/>
                  </a:ext>
                </a:extLst>
              </a:tr>
              <a:tr h="254000">
                <a:tc>
                  <a:txBody>
                    <a:bodyPr/>
                    <a:lstStyle/>
                    <a:p>
                      <a:pPr algn="l"/>
                      <a:r>
                        <a:rPr lang="mn-MN" sz="1100" dirty="0">
                          <a:solidFill>
                            <a:srgbClr val="D6D6D8"/>
                          </a:solidFill>
                          <a:latin typeface="Arial"/>
                          <a:cs typeface="Arial"/>
                        </a:rPr>
                        <a:t>Үйл ажиллагааны зардал</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сая ₮</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77,017.5</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03"/>
                  </a:ext>
                </a:extLst>
              </a:tr>
              <a:tr h="254000">
                <a:tc>
                  <a:txBody>
                    <a:bodyPr/>
                    <a:lstStyle/>
                    <a:p>
                      <a:pPr algn="l"/>
                      <a:r>
                        <a:rPr lang="mn-MN" sz="1100" dirty="0">
                          <a:solidFill>
                            <a:srgbClr val="D6D6D8"/>
                          </a:solidFill>
                          <a:latin typeface="Arial"/>
                          <a:cs typeface="Arial"/>
                        </a:rPr>
                        <a:t>Татварын өмнөх ашиг</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сая ₮</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11,286.7</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04"/>
                  </a:ext>
                </a:extLst>
              </a:tr>
              <a:tr h="254000">
                <a:tc>
                  <a:txBody>
                    <a:bodyPr/>
                    <a:lstStyle/>
                    <a:p>
                      <a:pPr algn="l"/>
                      <a:r>
                        <a:rPr lang="mn-MN" sz="1100" dirty="0">
                          <a:solidFill>
                            <a:srgbClr val="D6D6D8"/>
                          </a:solidFill>
                          <a:latin typeface="Arial"/>
                          <a:cs typeface="Arial"/>
                        </a:rPr>
                        <a:t>Татварын дараах ашиг</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сая ₮</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10,021.2</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05"/>
                  </a:ext>
                </a:extLst>
              </a:tr>
              <a:tr h="254000">
                <a:tc>
                  <a:txBody>
                    <a:bodyPr/>
                    <a:lstStyle/>
                    <a:p>
                      <a:pPr algn="l"/>
                      <a:r>
                        <a:rPr lang="mn-MN" sz="1100" dirty="0">
                          <a:solidFill>
                            <a:srgbClr val="D6D6D8"/>
                          </a:solidFill>
                          <a:latin typeface="Arial"/>
                          <a:cs typeface="Arial"/>
                        </a:rPr>
                        <a:t>Улс, орон нутгийн татвар</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сая ₮</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23,937.7</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06"/>
                  </a:ext>
                </a:extLst>
              </a:tr>
              <a:tr h="279400">
                <a:tc gridSpan="3">
                  <a:txBody>
                    <a:bodyPr/>
                    <a:lstStyle/>
                    <a:p>
                      <a:pPr algn="l"/>
                      <a:r>
                        <a:rPr lang="mn-MN" sz="1100" b="1" dirty="0">
                          <a:solidFill>
                            <a:srgbClr val="F5E614"/>
                          </a:solidFill>
                          <a:latin typeface="Arial"/>
                          <a:cs typeface="Arial"/>
                        </a:rPr>
                        <a:t>Үр ашиг</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hMerge="1">
                  <a:txBody>
                    <a:bodyPr/>
                    <a:lstStyle/>
                    <a:p>
                      <a:pPr algn="l"/>
                      <a:endParaRPr lang="mn-MN" sz="1100" dirty="0"/>
                    </a:p>
                  </a:txBody>
                  <a:tcPr marL="50800" marR="50800" marT="38100" marB="38100" anchor="ctr">
                    <a:lnL w="0">
                      <a:noFill/>
                    </a:lnL>
                    <a:lnR w="0">
                      <a:noFill/>
                    </a:lnR>
                    <a:lnT w="0">
                      <a:noFill/>
                    </a:lnT>
                    <a:lnB w="6350" cmpd="sng">
                      <a:solidFill>
                        <a:srgbClr val="3A3A40"/>
                      </a:solidFill>
                    </a:lnB>
                    <a:noFill/>
                  </a:tcPr>
                </a:tc>
                <a:tc hMerge="1">
                  <a:txBody>
                    <a:bodyPr/>
                    <a:lstStyle/>
                    <a:p>
                      <a:pPr algn="l"/>
                      <a:endParaRPr lang="mn-MN" sz="1100" dirty="0"/>
                    </a:p>
                  </a:txBody>
                  <a:tcPr marL="50800" marR="50800" marT="38100" marB="38100" anchor="ctr">
                    <a:lnL w="0">
                      <a:noFill/>
                    </a:lnL>
                    <a:lnR w="0">
                      <a:noFill/>
                    </a:lnR>
                    <a:lnT w="0">
                      <a:noFill/>
                    </a:lnT>
                    <a:lnB w="6350" cmpd="sng">
                      <a:solidFill>
                        <a:srgbClr val="3A3A40"/>
                      </a:solidFill>
                    </a:lnB>
                    <a:noFill/>
                  </a:tcPr>
                </a:tc>
                <a:extLst>
                  <a:ext uri="{0D108BD9-81ED-4DB2-BD59-A6C34878D82A}">
                    <a16:rowId xmlns:a16="http://schemas.microsoft.com/office/drawing/2014/main" val="10007"/>
                  </a:ext>
                </a:extLst>
              </a:tr>
              <a:tr h="254000">
                <a:tc>
                  <a:txBody>
                    <a:bodyPr/>
                    <a:lstStyle/>
                    <a:p>
                      <a:pPr algn="l"/>
                      <a:r>
                        <a:rPr lang="mn-MN" sz="1100" dirty="0">
                          <a:solidFill>
                            <a:srgbClr val="D6D6D8"/>
                          </a:solidFill>
                          <a:latin typeface="Arial"/>
                          <a:cs typeface="Arial"/>
                        </a:rPr>
                        <a:t>NPV, 10%</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сая ₮</a:t>
                      </a:r>
                      <a:endParaRPr lang="mn-MN" sz="1100" dirty="0"/>
                    </a:p>
                  </a:txBody>
                  <a:tcPr marL="50800" marR="50800" marT="38100" marB="38100" anchor="ctr">
                    <a:lnL w="0">
                      <a:noFill/>
                    </a:lnL>
                    <a:lnR w="0">
                      <a:noFill/>
                    </a:lnR>
                    <a:lnT w="0">
                      <a:noFill/>
                    </a:lnT>
                    <a:lnB w="6350" cmpd="sng">
                      <a:solidFill>
                        <a:srgbClr val="3A3A40"/>
                      </a:solidFill>
                    </a:lnB>
                    <a:noFill/>
                  </a:tcPr>
                </a:tc>
                <a:tc>
                  <a:txBody>
                    <a:bodyPr/>
                    <a:lstStyle/>
                    <a:p>
                      <a:pPr algn="r"/>
                      <a:r>
                        <a:rPr lang="mn-MN" sz="1100" b="1" dirty="0">
                          <a:solidFill>
                            <a:srgbClr val="F5E614"/>
                          </a:solidFill>
                          <a:latin typeface="Arial"/>
                          <a:cs typeface="Arial"/>
                        </a:rPr>
                        <a:t>1,745.6</a:t>
                      </a:r>
                      <a:endParaRPr lang="mn-MN" sz="1100" dirty="0"/>
                    </a:p>
                  </a:txBody>
                  <a:tcPr marL="50800" marR="50800" marT="38100" marB="38100" anchor="ctr">
                    <a:lnL w="0">
                      <a:noFill/>
                    </a:lnL>
                    <a:lnR w="0">
                      <a:noFill/>
                    </a:lnR>
                    <a:lnT w="0">
                      <a:noFill/>
                    </a:lnT>
                    <a:lnB w="6350" cmpd="sng">
                      <a:solidFill>
                        <a:srgbClr val="3A3A40"/>
                      </a:solidFill>
                    </a:lnB>
                    <a:noFill/>
                  </a:tcPr>
                </a:tc>
                <a:extLst>
                  <a:ext uri="{0D108BD9-81ED-4DB2-BD59-A6C34878D82A}">
                    <a16:rowId xmlns:a16="http://schemas.microsoft.com/office/drawing/2014/main" val="10008"/>
                  </a:ext>
                </a:extLst>
              </a:tr>
              <a:tr h="254000">
                <a:tc>
                  <a:txBody>
                    <a:bodyPr/>
                    <a:lstStyle/>
                    <a:p>
                      <a:pPr algn="l"/>
                      <a:r>
                        <a:rPr lang="mn-MN" sz="1100" dirty="0">
                          <a:solidFill>
                            <a:srgbClr val="D6D6D8"/>
                          </a:solidFill>
                          <a:latin typeface="Arial"/>
                          <a:cs typeface="Arial"/>
                        </a:rPr>
                        <a:t>IRR</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5E614"/>
                          </a:solidFill>
                          <a:latin typeface="Arial"/>
                          <a:cs typeface="Arial"/>
                        </a:rPr>
                        <a:t>14.2</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09"/>
                  </a:ext>
                </a:extLst>
              </a:tr>
              <a:tr h="254000">
                <a:tc>
                  <a:txBody>
                    <a:bodyPr/>
                    <a:lstStyle/>
                    <a:p>
                      <a:pPr algn="l"/>
                      <a:r>
                        <a:rPr lang="mn-MN" sz="1100" dirty="0">
                          <a:solidFill>
                            <a:srgbClr val="D6D6D8"/>
                          </a:solidFill>
                          <a:latin typeface="Arial"/>
                          <a:cs typeface="Arial"/>
                        </a:rPr>
                        <a:t>Нөхөгдөх хугацаа</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жил</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4.2</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10"/>
                  </a:ext>
                </a:extLst>
              </a:tr>
              <a:tr h="279400">
                <a:tc gridSpan="3">
                  <a:txBody>
                    <a:bodyPr/>
                    <a:lstStyle/>
                    <a:p>
                      <a:pPr algn="l"/>
                      <a:r>
                        <a:rPr lang="mn-MN" sz="1100" b="1" dirty="0">
                          <a:solidFill>
                            <a:srgbClr val="F5E614"/>
                          </a:solidFill>
                          <a:latin typeface="Arial"/>
                          <a:cs typeface="Arial"/>
                        </a:rPr>
                        <a:t>1 тн баяжмалын өөрийн өртөг</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hMerge="1">
                  <a:txBody>
                    <a:bodyPr/>
                    <a:lstStyle/>
                    <a:p>
                      <a:pPr algn="l"/>
                      <a:endParaRPr lang="mn-MN" sz="1100" dirty="0"/>
                    </a:p>
                  </a:txBody>
                  <a:tcPr marL="50800" marR="50800" marT="38100" marB="38100" anchor="ctr">
                    <a:lnL w="0">
                      <a:noFill/>
                    </a:lnL>
                    <a:lnR w="0">
                      <a:noFill/>
                    </a:lnR>
                    <a:lnT w="0">
                      <a:noFill/>
                    </a:lnT>
                    <a:lnB w="6350" cmpd="sng">
                      <a:solidFill>
                        <a:srgbClr val="3A3A40"/>
                      </a:solidFill>
                    </a:lnB>
                    <a:noFill/>
                  </a:tcPr>
                </a:tc>
                <a:tc hMerge="1">
                  <a:txBody>
                    <a:bodyPr/>
                    <a:lstStyle/>
                    <a:p>
                      <a:pPr algn="l"/>
                      <a:endParaRPr lang="mn-MN" sz="1100" dirty="0"/>
                    </a:p>
                  </a:txBody>
                  <a:tcPr marL="50800" marR="50800" marT="38100" marB="38100" anchor="ctr">
                    <a:lnL w="0">
                      <a:noFill/>
                    </a:lnL>
                    <a:lnR w="0">
                      <a:noFill/>
                    </a:lnR>
                    <a:lnT w="0">
                      <a:noFill/>
                    </a:lnT>
                    <a:lnB w="6350" cmpd="sng">
                      <a:solidFill>
                        <a:srgbClr val="3A3A40"/>
                      </a:solidFill>
                    </a:lnB>
                    <a:noFill/>
                  </a:tcPr>
                </a:tc>
                <a:extLst>
                  <a:ext uri="{0D108BD9-81ED-4DB2-BD59-A6C34878D82A}">
                    <a16:rowId xmlns:a16="http://schemas.microsoft.com/office/drawing/2014/main" val="473589953"/>
                  </a:ext>
                </a:extLst>
              </a:tr>
              <a:tr h="254000">
                <a:tc>
                  <a:txBody>
                    <a:bodyPr/>
                    <a:lstStyle/>
                    <a:p>
                      <a:pPr algn="l"/>
                      <a:r>
                        <a:rPr lang="mn-MN" sz="1100" dirty="0">
                          <a:solidFill>
                            <a:srgbClr val="D6D6D8"/>
                          </a:solidFill>
                          <a:latin typeface="Arial"/>
                          <a:cs typeface="Arial"/>
                        </a:rPr>
                        <a:t>Цагаан тугалганы баяжмал</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сая ₮/тн</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58.9</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11"/>
                  </a:ext>
                </a:extLst>
              </a:tr>
              <a:tr h="254000">
                <a:tc>
                  <a:txBody>
                    <a:bodyPr/>
                    <a:lstStyle/>
                    <a:p>
                      <a:pPr algn="l"/>
                      <a:r>
                        <a:rPr lang="mn-MN" sz="1100" dirty="0">
                          <a:solidFill>
                            <a:srgbClr val="D6D6D8"/>
                          </a:solidFill>
                          <a:latin typeface="Arial"/>
                          <a:cs typeface="Arial"/>
                        </a:rPr>
                        <a:t>Гянтболдын баяжмал</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l"/>
                      <a:r>
                        <a:rPr lang="mn-MN" sz="1100" dirty="0">
                          <a:solidFill>
                            <a:srgbClr val="B4B4B8"/>
                          </a:solidFill>
                          <a:latin typeface="Arial"/>
                          <a:cs typeface="Arial"/>
                        </a:rPr>
                        <a:t>сая ₮/тн</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tc>
                  <a:txBody>
                    <a:bodyPr/>
                    <a:lstStyle/>
                    <a:p>
                      <a:pPr algn="r"/>
                      <a:r>
                        <a:rPr lang="mn-MN" sz="1100" b="1" dirty="0">
                          <a:solidFill>
                            <a:srgbClr val="F2F2F0"/>
                          </a:solidFill>
                          <a:latin typeface="Arial"/>
                          <a:cs typeface="Arial"/>
                        </a:rPr>
                        <a:t>2.7</a:t>
                      </a:r>
                      <a:endParaRPr lang="mn-MN" sz="1100" dirty="0"/>
                    </a:p>
                  </a:txBody>
                  <a:tcPr marL="50800" marR="50800" marT="38100" marB="38100" anchor="ctr">
                    <a:lnL w="0">
                      <a:noFill/>
                    </a:lnL>
                    <a:lnR w="0">
                      <a:noFill/>
                    </a:lnR>
                    <a:lnT w="6350" cap="flat" cmpd="sng" algn="ctr">
                      <a:solidFill>
                        <a:srgbClr val="3A3A40"/>
                      </a:solidFill>
                      <a:prstDash val="solid"/>
                      <a:round/>
                      <a:headEnd type="none" w="med" len="med"/>
                      <a:tailEnd type="none" w="med" len="med"/>
                    </a:lnT>
                    <a:lnB w="6350" cmpd="sng">
                      <a:solidFill>
                        <a:srgbClr val="3A3A40"/>
                      </a:solidFill>
                    </a:lnB>
                    <a:noFill/>
                  </a:tcPr>
                </a:tc>
                <a:extLst>
                  <a:ext uri="{0D108BD9-81ED-4DB2-BD59-A6C34878D82A}">
                    <a16:rowId xmlns:a16="http://schemas.microsoft.com/office/drawing/2014/main" val="10012"/>
                  </a:ext>
                </a:extLst>
              </a:tr>
            </a:tbl>
          </a:graphicData>
        </a:graphic>
      </p:graphicFrame>
      <p:sp>
        <p:nvSpPr>
          <p:cNvPr id="3" name="Table head 0">
            <a:extLst>
              <a:ext uri="{FF2B5EF4-FFF2-40B4-BE49-F238E27FC236}">
                <a16:creationId xmlns:a16="http://schemas.microsoft.com/office/drawing/2014/main" id="{F6691B3D-D4DD-4CE0-8B7F-4A79B68351C1}"/>
              </a:ext>
            </a:extLst>
          </p:cNvPr>
          <p:cNvSpPr txBox="1"/>
          <p:nvPr/>
        </p:nvSpPr>
        <p:spPr>
          <a:xfrm>
            <a:off x="660400" y="1701800"/>
            <a:ext cx="3454400" cy="279400"/>
          </a:xfrm>
          <a:prstGeom prst="rect">
            <a:avLst/>
          </a:prstGeom>
          <a:noFill/>
        </p:spPr>
        <p:txBody>
          <a:bodyPr vertOverflow="overflow" vert="horz" wrap="square" lIns="0" tIns="0" rIns="0" bIns="0" rtlCol="0" anchor="b" anchorCtr="0">
            <a:noAutofit/>
          </a:bodyPr>
          <a:lstStyle/>
          <a:p>
            <a:pPr algn="l"/>
            <a:r>
              <a:rPr lang="mn-MN" sz="1400" b="1" dirty="0">
                <a:solidFill>
                  <a:srgbClr val="F2F2F0"/>
                </a:solidFill>
                <a:latin typeface="Arial"/>
                <a:cs typeface="Arial"/>
              </a:rPr>
              <a:t>Нөөц</a:t>
            </a:r>
            <a:endParaRPr lang="en-US" sz="1400" b="1" dirty="0">
              <a:solidFill>
                <a:srgbClr val="F2F2F0"/>
              </a:solidFill>
              <a:latin typeface="Arial"/>
              <a:cs typeface="Arial"/>
            </a:endParaRPr>
          </a:p>
        </p:txBody>
      </p:sp>
      <p:sp>
        <p:nvSpPr>
          <p:cNvPr id="5" name="Table head 1">
            <a:extLst>
              <a:ext uri="{FF2B5EF4-FFF2-40B4-BE49-F238E27FC236}">
                <a16:creationId xmlns:a16="http://schemas.microsoft.com/office/drawing/2014/main" id="{77CC4485-8E72-4F09-90E0-C9DB53FBE6AE}"/>
              </a:ext>
            </a:extLst>
          </p:cNvPr>
          <p:cNvSpPr txBox="1"/>
          <p:nvPr/>
        </p:nvSpPr>
        <p:spPr>
          <a:xfrm>
            <a:off x="4394200" y="1701800"/>
            <a:ext cx="3454400" cy="279400"/>
          </a:xfrm>
          <a:prstGeom prst="rect">
            <a:avLst/>
          </a:prstGeom>
          <a:noFill/>
        </p:spPr>
        <p:txBody>
          <a:bodyPr vertOverflow="overflow" vert="horz" wrap="square" lIns="0" tIns="0" rIns="0" bIns="0" rtlCol="0" anchor="b" anchorCtr="0">
            <a:noAutofit/>
          </a:bodyPr>
          <a:lstStyle/>
          <a:p>
            <a:pPr algn="l"/>
            <a:r>
              <a:rPr lang="mn-MN" sz="1400" b="1" dirty="0">
                <a:solidFill>
                  <a:srgbClr val="F2F2F0"/>
                </a:solidFill>
                <a:latin typeface="Arial"/>
                <a:cs typeface="Arial"/>
              </a:rPr>
              <a:t>Механикжуулалт</a:t>
            </a:r>
            <a:endParaRPr lang="en-US" sz="1400" b="1" dirty="0">
              <a:solidFill>
                <a:srgbClr val="F2F2F0"/>
              </a:solidFill>
              <a:latin typeface="Arial"/>
              <a:cs typeface="Arial"/>
            </a:endParaRPr>
          </a:p>
        </p:txBody>
      </p:sp>
      <p:sp>
        <p:nvSpPr>
          <p:cNvPr id="7" name="Table head 2">
            <a:extLst>
              <a:ext uri="{FF2B5EF4-FFF2-40B4-BE49-F238E27FC236}">
                <a16:creationId xmlns:a16="http://schemas.microsoft.com/office/drawing/2014/main" id="{C585B61E-E48C-4F22-B097-711B932A56F3}"/>
              </a:ext>
            </a:extLst>
          </p:cNvPr>
          <p:cNvSpPr txBox="1"/>
          <p:nvPr/>
        </p:nvSpPr>
        <p:spPr>
          <a:xfrm>
            <a:off x="8128000" y="1701800"/>
            <a:ext cx="3454400" cy="279400"/>
          </a:xfrm>
          <a:prstGeom prst="rect">
            <a:avLst/>
          </a:prstGeom>
          <a:noFill/>
        </p:spPr>
        <p:txBody>
          <a:bodyPr vertOverflow="overflow" vert="horz" wrap="square" lIns="0" tIns="0" rIns="0" bIns="0" rtlCol="0" anchor="b" anchorCtr="0">
            <a:noAutofit/>
          </a:bodyPr>
          <a:lstStyle/>
          <a:p>
            <a:pPr algn="l"/>
            <a:r>
              <a:rPr lang="mn-MN" sz="1400" b="1">
                <a:solidFill>
                  <a:srgbClr val="F2F2F0"/>
                </a:solidFill>
                <a:latin typeface="Arial"/>
                <a:cs typeface="Arial"/>
              </a:rPr>
              <a:t>Эдийн засаг</a:t>
            </a:r>
            <a:endParaRPr lang="en-US" sz="1400" b="1">
              <a:solidFill>
                <a:srgbClr val="F2F2F0"/>
              </a:solidFill>
              <a:latin typeface="Arial"/>
              <a:cs typeface="Arial"/>
            </a:endParaRPr>
          </a:p>
        </p:txBody>
      </p:sp>
      <p:sp>
        <p:nvSpPr>
          <p:cNvPr id="9" name="System note">
            <a:extLst>
              <a:ext uri="{FF2B5EF4-FFF2-40B4-BE49-F238E27FC236}">
                <a16:creationId xmlns:a16="http://schemas.microsoft.com/office/drawing/2014/main" id="{ABFD19F5-1E48-44F1-8A19-70B3EF2AD66C}"/>
              </a:ext>
            </a:extLst>
          </p:cNvPr>
          <p:cNvSpPr txBox="1"/>
          <p:nvPr/>
        </p:nvSpPr>
        <p:spPr>
          <a:xfrm>
            <a:off x="660400" y="6019800"/>
            <a:ext cx="10922000" cy="228600"/>
          </a:xfrm>
          <a:prstGeom prst="rect">
            <a:avLst/>
          </a:prstGeom>
          <a:noFill/>
        </p:spPr>
        <p:txBody>
          <a:bodyPr vertOverflow="overflow" vert="horz" wrap="square" lIns="0" tIns="0" rIns="0" bIns="0" rtlCol="0" anchor="b" anchorCtr="0">
            <a:noAutofit/>
          </a:bodyPr>
          <a:lstStyle/>
          <a:p>
            <a:pPr algn="l"/>
            <a:r>
              <a:rPr lang="ru-RU" sz="1100">
                <a:solidFill>
                  <a:srgbClr val="B4B4B8"/>
                </a:solidFill>
                <a:latin typeface="Arial"/>
                <a:cs typeface="Arial"/>
              </a:rPr>
              <a:t>Ашиглалтын систем: </a:t>
            </a:r>
            <a:r>
              <a:rPr lang="ru-RU" sz="1100">
                <a:solidFill>
                  <a:srgbClr val="D6D6D8"/>
                </a:solidFill>
                <a:latin typeface="Arial"/>
                <a:cs typeface="Arial"/>
              </a:rPr>
              <a:t>Авто тээвэртэй, дотоод болон гадаад овоолготой ашиглалтын систем</a:t>
            </a:r>
            <a:endParaRPr lang="en-US" sz="1100">
              <a:solidFill>
                <a:srgbClr val="D6D6D8"/>
              </a:solidFill>
              <a:latin typeface="Arial"/>
              <a:cs typeface="Arial"/>
            </a:endParaRPr>
          </a:p>
        </p:txBody>
      </p:sp>
    </p:spTree>
    <p:extLst>
      <p:ext uri="{BB962C8B-B14F-4D97-AF65-F5344CB8AC3E}">
        <p14:creationId xmlns:p14="http://schemas.microsoft.com/office/powerpoint/2010/main" val="18205633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B03C6-1CF4-B268-A4FD-F2EA062B2060}"/>
              </a:ext>
            </a:extLst>
          </p:cNvPr>
          <p:cNvSpPr>
            <a:spLocks noGrp="1"/>
          </p:cNvSpPr>
          <p:nvPr>
            <p:ph type="title"/>
          </p:nvPr>
        </p:nvSpPr>
        <p:spPr>
          <a:xfrm>
            <a:off x="609600" y="378069"/>
            <a:ext cx="9525000" cy="1044331"/>
          </a:xfrm>
        </p:spPr>
        <p:txBody>
          <a:bodyPr>
            <a:normAutofit/>
          </a:bodyPr>
          <a:lstStyle/>
          <a:p>
            <a:r>
              <a:rPr lang="mn-MN" dirty="0"/>
              <a:t>Тодотгох үндэслэл</a:t>
            </a:r>
            <a:endParaRPr lang="en-US" dirty="0"/>
          </a:p>
        </p:txBody>
      </p:sp>
      <p:sp>
        <p:nvSpPr>
          <p:cNvPr id="50" name="Basis card"/>
          <p:cNvSpPr/>
          <p:nvPr/>
        </p:nvSpPr>
        <p:spPr>
          <a:xfrm>
            <a:off x="609600" y="1625600"/>
            <a:ext cx="6604000" cy="4013200"/>
          </a:xfrm>
          <a:prstGeom prst="rect">
            <a:avLst/>
          </a:prstGeom>
          <a:solidFill>
            <a:srgbClr val="2C2C30"/>
          </a:solidFill>
          <a:ln>
            <a:noFill/>
          </a:ln>
        </p:spPr>
        <p:txBody>
          <a:bodyPr/>
          <a:lstStyle/>
          <a:p>
            <a:endParaRPr lang="mn-MN" dirty="0"/>
          </a:p>
        </p:txBody>
      </p:sp>
      <p:sp>
        <p:nvSpPr>
          <p:cNvPr id="51" name="Basis bar"/>
          <p:cNvSpPr/>
          <p:nvPr/>
        </p:nvSpPr>
        <p:spPr>
          <a:xfrm>
            <a:off x="609600" y="1625600"/>
            <a:ext cx="6604000" cy="50800"/>
          </a:xfrm>
          <a:prstGeom prst="rect">
            <a:avLst/>
          </a:prstGeom>
          <a:solidFill>
            <a:srgbClr val="F5E614"/>
          </a:solidFill>
          <a:ln>
            <a:noFill/>
          </a:ln>
        </p:spPr>
        <p:txBody>
          <a:bodyPr/>
          <a:lstStyle/>
          <a:p>
            <a:endParaRPr lang="mn-MN" dirty="0"/>
          </a:p>
        </p:txBody>
      </p:sp>
      <p:sp>
        <p:nvSpPr>
          <p:cNvPr id="52" name="Basis text"/>
          <p:cNvSpPr txBox="1"/>
          <p:nvPr/>
        </p:nvSpPr>
        <p:spPr>
          <a:xfrm>
            <a:off x="914400" y="2409581"/>
            <a:ext cx="5994400" cy="2394438"/>
          </a:xfrm>
          <a:prstGeom prst="rect">
            <a:avLst/>
          </a:prstGeom>
          <a:noFill/>
          <a:ln>
            <a:noFill/>
          </a:ln>
        </p:spPr>
        <p:txBody>
          <a:bodyPr wrap="square" lIns="0" tIns="0" rIns="0" bIns="0" anchor="ctr">
            <a:noAutofit/>
          </a:bodyPr>
          <a:lstStyle/>
          <a:p>
            <a:pPr algn="l">
              <a:lnSpc>
                <a:spcPct val="108000"/>
              </a:lnSpc>
              <a:buNone/>
            </a:pPr>
            <a:r>
              <a:rPr lang="mn-MN" sz="1400" b="1" dirty="0">
                <a:solidFill>
                  <a:srgbClr val="F5E614"/>
                </a:solidFill>
              </a:rPr>
              <a:t>ӨМНӨХ ТЕХНИК-ЭДИЙН ЗАСГИЙН ҮНДЭСЛЭЛ</a:t>
            </a:r>
          </a:p>
          <a:p>
            <a:pPr algn="l">
              <a:lnSpc>
                <a:spcPct val="108000"/>
              </a:lnSpc>
              <a:spcBef>
                <a:spcPts val="300"/>
              </a:spcBef>
              <a:buNone/>
            </a:pPr>
            <a:r>
              <a:rPr lang="mn-MN" sz="1500" dirty="0">
                <a:solidFill>
                  <a:srgbClr val="D6D6D8"/>
                </a:solidFill>
              </a:rPr>
              <a:t>2016 онд Техник-Эдийн засгийн үндэслэлийг боловсруулж, АМГТГ-ын даргын </a:t>
            </a:r>
            <a:r>
              <a:rPr lang="mn-MN" sz="1500" b="1" dirty="0">
                <a:solidFill>
                  <a:srgbClr val="F2F2F0"/>
                </a:solidFill>
              </a:rPr>
              <a:t>Т/06</a:t>
            </a:r>
            <a:r>
              <a:rPr lang="mn-MN" sz="1500" dirty="0">
                <a:solidFill>
                  <a:srgbClr val="D6D6D8"/>
                </a:solidFill>
              </a:rPr>
              <a:t> тушаалаар хүлээн авсан. 2022 онд “МН прожект” ХХК тодотгол хийж, </a:t>
            </a:r>
            <a:r>
              <a:rPr lang="mn-MN" sz="1500" b="1" dirty="0">
                <a:solidFill>
                  <a:srgbClr val="F2F2F0"/>
                </a:solidFill>
              </a:rPr>
              <a:t>Т/122</a:t>
            </a:r>
            <a:r>
              <a:rPr lang="mn-MN" sz="1500" dirty="0">
                <a:solidFill>
                  <a:srgbClr val="D6D6D8"/>
                </a:solidFill>
              </a:rPr>
              <a:t> тушаалаар хүлээн авсан.</a:t>
            </a:r>
          </a:p>
          <a:p>
            <a:pPr algn="l">
              <a:lnSpc>
                <a:spcPct val="108000"/>
              </a:lnSpc>
              <a:spcBef>
                <a:spcPts val="300"/>
              </a:spcBef>
              <a:buNone/>
            </a:pPr>
            <a:r>
              <a:rPr lang="mn-MN" sz="1400" b="1" dirty="0">
                <a:solidFill>
                  <a:srgbClr val="F5E614"/>
                </a:solidFill>
              </a:rPr>
              <a:t>ТОДОТГОХ ҮНДЭСЛЭЛ</a:t>
            </a:r>
          </a:p>
          <a:p>
            <a:pPr>
              <a:lnSpc>
                <a:spcPct val="108000"/>
              </a:lnSpc>
              <a:spcBef>
                <a:spcPts val="300"/>
              </a:spcBef>
            </a:pPr>
            <a:r>
              <a:rPr lang="mn-MN" sz="1500" dirty="0">
                <a:solidFill>
                  <a:srgbClr val="D6D6D8"/>
                </a:solidFill>
              </a:rPr>
              <a:t>Эзэмшигчийн мэдээлэлд өөрчлөлт орсон, 2011 оноос хойш олборлолтын үйл ажиллагаа явуулаагүй тул АМГТГ-аас хүлээн авсан үлдэгдэл нөөцөд тулгуурлан, захиалагч талын ажлын даалгаврыг үндэслэн төслийг шинэчлэн боловсруулж байна.</a:t>
            </a:r>
            <a:endParaRPr lang="en-US" sz="1500" dirty="0">
              <a:solidFill>
                <a:srgbClr val="D6D6D8"/>
              </a:solidFill>
            </a:endParaRPr>
          </a:p>
        </p:txBody>
      </p:sp>
      <p:sp>
        <p:nvSpPr>
          <p:cNvPr id="55" name="Map caption"/>
          <p:cNvSpPr txBox="1"/>
          <p:nvPr/>
        </p:nvSpPr>
        <p:spPr>
          <a:xfrm>
            <a:off x="7467600" y="5791200"/>
            <a:ext cx="4114800" cy="508000"/>
          </a:xfrm>
          <a:prstGeom prst="rect">
            <a:avLst/>
          </a:prstGeom>
          <a:noFill/>
          <a:ln>
            <a:noFill/>
          </a:ln>
        </p:spPr>
        <p:txBody>
          <a:bodyPr wrap="square" lIns="0" tIns="0" rIns="0" bIns="0" anchor="t">
            <a:noAutofit/>
          </a:bodyPr>
          <a:lstStyle/>
          <a:p>
            <a:r>
              <a:rPr lang="mn-MN" sz="1300" dirty="0">
                <a:solidFill>
                  <a:srgbClr val="F2F2F0"/>
                </a:solidFill>
              </a:rPr>
              <a:t>Талбайн өнөөгийн байдал, 2026 оны 7 сар. Хэнтий аймаг, Цэнхэрмандал сум</a:t>
            </a:r>
          </a:p>
        </p:txBody>
      </p:sp>
      <p:pic>
        <p:nvPicPr>
          <p:cNvPr id="900" name="!!Truck" descr="Автосамосвал"/>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6800" y="6464300"/>
            <a:ext cx="330200" cy="330200"/>
          </a:xfrm>
          <a:prstGeom prst="rect">
            <a:avLst/>
          </a:prstGeom>
        </p:spPr>
      </p:pic>
      <p:pic>
        <p:nvPicPr>
          <p:cNvPr id="3" name="Picture 2" descr="Уурхайн талбайн өнөөгийн байдал, 2026 оны 7 сар">
            <a:extLst>
              <a:ext uri="{FF2B5EF4-FFF2-40B4-BE49-F238E27FC236}">
                <a16:creationId xmlns:a16="http://schemas.microsoft.com/office/drawing/2014/main" id="{91314BBD-5819-F8D6-9A29-678BF83369B4}"/>
              </a:ext>
            </a:extLst>
          </p:cNvPr>
          <p:cNvPicPr>
            <a:picLocks noChangeAspect="1"/>
          </p:cNvPicPr>
          <p:nvPr/>
        </p:nvPicPr>
        <p:blipFill>
          <a:blip r:embed="rId4"/>
          <a:srcRect l="11972" r="11972"/>
          <a:stretch>
            <a:fillRect/>
          </a:stretch>
        </p:blipFill>
        <p:spPr>
          <a:xfrm>
            <a:off x="7467600" y="1625600"/>
            <a:ext cx="4114800" cy="4013200"/>
          </a:xfrm>
          <a:prstGeom prst="rect">
            <a:avLst/>
          </a:prstGeom>
        </p:spPr>
      </p:pic>
    </p:spTree>
    <p:extLst>
      <p:ext uri="{BB962C8B-B14F-4D97-AF65-F5344CB8AC3E}">
        <p14:creationId xmlns:p14="http://schemas.microsoft.com/office/powerpoint/2010/main" val="12468252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74D76-CCA3-7BC2-7C4C-790A23EDE74E}"/>
              </a:ext>
            </a:extLst>
          </p:cNvPr>
          <p:cNvSpPr>
            <a:spLocks noGrp="1"/>
          </p:cNvSpPr>
          <p:nvPr>
            <p:ph type="title"/>
          </p:nvPr>
        </p:nvSpPr>
        <p:spPr/>
        <p:txBody>
          <a:bodyPr>
            <a:normAutofit/>
          </a:bodyPr>
          <a:lstStyle/>
          <a:p>
            <a:r>
              <a:rPr lang="mn-MN" dirty="0"/>
              <a:t>Ордын байршил, геологийн судалгаа</a:t>
            </a:r>
            <a:endParaRPr lang="en-US" dirty="0"/>
          </a:p>
        </p:txBody>
      </p:sp>
      <p:pic>
        <p:nvPicPr>
          <p:cNvPr id="900" name="!!Truck" descr="Автосамосвал"/>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24000" y="6464300"/>
            <a:ext cx="330200" cy="330200"/>
          </a:xfrm>
          <a:prstGeom prst="rect">
            <a:avLst/>
          </a:prstGeom>
        </p:spPr>
      </p:pic>
      <p:sp>
        <p:nvSpPr>
          <p:cNvPr id="4" name="Loc head">
            <a:extLst>
              <a:ext uri="{FF2B5EF4-FFF2-40B4-BE49-F238E27FC236}">
                <a16:creationId xmlns:a16="http://schemas.microsoft.com/office/drawing/2014/main" id="{A949AC2D-58B0-435F-BB18-FEC837263960}"/>
              </a:ext>
            </a:extLst>
          </p:cNvPr>
          <p:cNvSpPr txBox="1"/>
          <p:nvPr/>
        </p:nvSpPr>
        <p:spPr>
          <a:xfrm>
            <a:off x="609600" y="1625600"/>
            <a:ext cx="5207000" cy="304800"/>
          </a:xfrm>
          <a:prstGeom prst="rect">
            <a:avLst/>
          </a:prstGeom>
          <a:noFill/>
        </p:spPr>
        <p:txBody>
          <a:bodyPr vertOverflow="overflow" vert="horz" wrap="square" rtlCol="0" anchor="t">
            <a:spAutoFit/>
          </a:bodyPr>
          <a:lstStyle/>
          <a:p>
            <a:pPr algn="l"/>
            <a:r>
              <a:rPr lang="mn-MN" sz="1600" b="1">
                <a:solidFill>
                  <a:srgbClr val="F5E614"/>
                </a:solidFill>
                <a:latin typeface="Arial"/>
                <a:cs typeface="Arial"/>
              </a:rPr>
              <a:t>Байршил</a:t>
            </a:r>
            <a:endParaRPr lang="en-US" sz="1600" b="1">
              <a:solidFill>
                <a:srgbClr val="F5E614"/>
              </a:solidFill>
              <a:latin typeface="Arial"/>
              <a:cs typeface="Arial"/>
            </a:endParaRPr>
          </a:p>
        </p:txBody>
      </p:sp>
      <p:sp>
        <p:nvSpPr>
          <p:cNvPr id="5" name="Loc text">
            <a:extLst>
              <a:ext uri="{FF2B5EF4-FFF2-40B4-BE49-F238E27FC236}">
                <a16:creationId xmlns:a16="http://schemas.microsoft.com/office/drawing/2014/main" id="{782B2EF9-6D09-412A-B299-2A722433C091}"/>
              </a:ext>
            </a:extLst>
          </p:cNvPr>
          <p:cNvSpPr txBox="1"/>
          <p:nvPr/>
        </p:nvSpPr>
        <p:spPr>
          <a:xfrm>
            <a:off x="609600" y="1981200"/>
            <a:ext cx="5207000" cy="523220"/>
          </a:xfrm>
          <a:prstGeom prst="rect">
            <a:avLst/>
          </a:prstGeom>
          <a:noFill/>
        </p:spPr>
        <p:txBody>
          <a:bodyPr vertOverflow="overflow" vert="horz" wrap="square" rtlCol="0" anchor="t">
            <a:spAutoFit/>
          </a:bodyPr>
          <a:lstStyle/>
          <a:p>
            <a:pPr algn="l"/>
            <a:r>
              <a:rPr lang="mn-MN" sz="1400" dirty="0">
                <a:solidFill>
                  <a:srgbClr val="D6D6D8"/>
                </a:solidFill>
                <a:latin typeface="Arial"/>
                <a:cs typeface="Arial"/>
              </a:rPr>
              <a:t>Хэнтий аймгийн Цэнхэрмандал сумын нутагт, сумын төвөөс 12 км хойш, Улаанбаатар хотоос 200 км зүүн урагш оршино.</a:t>
            </a:r>
            <a:endParaRPr lang="en-US" sz="1400" dirty="0">
              <a:solidFill>
                <a:srgbClr val="D6D6D8"/>
              </a:solidFill>
              <a:latin typeface="Arial"/>
              <a:cs typeface="Arial"/>
            </a:endParaRPr>
          </a:p>
        </p:txBody>
      </p:sp>
      <p:graphicFrame>
        <p:nvGraphicFramePr>
          <p:cNvPr id="9" name="Geo table">
            <a:extLst>
              <a:ext uri="{FF2B5EF4-FFF2-40B4-BE49-F238E27FC236}">
                <a16:creationId xmlns:a16="http://schemas.microsoft.com/office/drawing/2014/main" id="{96FFB70B-CE4A-46E5-8BB1-3DED3993962F}"/>
              </a:ext>
            </a:extLst>
          </p:cNvPr>
          <p:cNvGraphicFramePr>
            <a:graphicFrameLocks noGrp="1"/>
          </p:cNvGraphicFramePr>
          <p:nvPr/>
        </p:nvGraphicFramePr>
        <p:xfrm>
          <a:off x="6223000" y="1625600"/>
          <a:ext cx="5359400" cy="1574800"/>
        </p:xfrm>
        <a:graphic>
          <a:graphicData uri="http://schemas.openxmlformats.org/drawingml/2006/table">
            <a:tbl>
              <a:tblPr/>
              <a:tblGrid>
                <a:gridCol w="812800">
                  <a:extLst>
                    <a:ext uri="{9D8B030D-6E8A-4147-A177-3AD203B41FA5}">
                      <a16:colId xmlns:a16="http://schemas.microsoft.com/office/drawing/2014/main" val="3510481179"/>
                    </a:ext>
                  </a:extLst>
                </a:gridCol>
                <a:gridCol w="4546600">
                  <a:extLst>
                    <a:ext uri="{9D8B030D-6E8A-4147-A177-3AD203B41FA5}">
                      <a16:colId xmlns:a16="http://schemas.microsoft.com/office/drawing/2014/main" val="1205024083"/>
                    </a:ext>
                  </a:extLst>
                </a:gridCol>
              </a:tblGrid>
              <a:tr h="457200">
                <a:tc>
                  <a:txBody>
                    <a:bodyPr/>
                    <a:lstStyle/>
                    <a:p>
                      <a:pPr algn="l"/>
                      <a:r>
                        <a:rPr lang="en-US" sz="1300" b="1" dirty="0" err="1">
                          <a:solidFill>
                            <a:srgbClr val="F5E614"/>
                          </a:solidFill>
                        </a:rPr>
                        <a:t>Он</a:t>
                      </a:r>
                      <a:endParaRPr lang="en-US" sz="1300" b="1" dirty="0">
                        <a:solidFill>
                          <a:srgbClr val="F5E614"/>
                        </a:solidFill>
                      </a:endParaRPr>
                    </a:p>
                  </a:txBody>
                  <a:tcPr marL="0" marT="36000" marB="36000" anchor="ctr">
                    <a:lnL w="0">
                      <a:noFill/>
                    </a:lnL>
                    <a:lnR w="0">
                      <a:noFill/>
                    </a:lnR>
                    <a:lnT w="0">
                      <a:noFill/>
                    </a:lnT>
                    <a:lnB w="19050">
                      <a:solidFill>
                        <a:srgbClr val="F5E614"/>
                      </a:solidFill>
                    </a:lnB>
                    <a:noFill/>
                  </a:tcPr>
                </a:tc>
                <a:tc>
                  <a:txBody>
                    <a:bodyPr/>
                    <a:lstStyle/>
                    <a:p>
                      <a:pPr algn="l"/>
                      <a:r>
                        <a:rPr lang="mn-MN" sz="1300" b="1" noProof="0" dirty="0">
                          <a:solidFill>
                            <a:srgbClr val="F5E614"/>
                          </a:solidFill>
                        </a:rPr>
                        <a:t>Геологийн судалгаа</a:t>
                      </a:r>
                    </a:p>
                  </a:txBody>
                  <a:tcPr marT="36000" marB="36000" anchor="ctr">
                    <a:lnL w="0">
                      <a:noFill/>
                    </a:lnL>
                    <a:lnR w="0">
                      <a:noFill/>
                    </a:lnR>
                    <a:lnT w="0">
                      <a:noFill/>
                    </a:lnT>
                    <a:lnB w="19050">
                      <a:solidFill>
                        <a:srgbClr val="F5E614"/>
                      </a:solidFill>
                    </a:lnB>
                    <a:noFill/>
                  </a:tcPr>
                </a:tc>
                <a:extLst>
                  <a:ext uri="{0D108BD9-81ED-4DB2-BD59-A6C34878D82A}">
                    <a16:rowId xmlns:a16="http://schemas.microsoft.com/office/drawing/2014/main" val="1655444466"/>
                  </a:ext>
                </a:extLst>
              </a:tr>
              <a:tr h="558800">
                <a:tc>
                  <a:txBody>
                    <a:bodyPr/>
                    <a:lstStyle/>
                    <a:p>
                      <a:pPr algn="l"/>
                      <a:r>
                        <a:rPr lang="en-US" sz="1400" b="1">
                          <a:solidFill>
                            <a:srgbClr val="F2F2F0"/>
                          </a:solidFill>
                        </a:rPr>
                        <a:t>1945</a:t>
                      </a:r>
                    </a:p>
                  </a:txBody>
                  <a:tcPr marL="0" marT="36000" marB="36000" anchor="ctr">
                    <a:lnL w="0">
                      <a:noFill/>
                    </a:lnL>
                    <a:lnR w="0">
                      <a:noFill/>
                    </a:lnR>
                    <a:lnT w="19050" cap="flat" cmpd="sng" algn="ctr">
                      <a:solidFill>
                        <a:srgbClr val="F5E614"/>
                      </a:solidFill>
                      <a:prstDash val="solid"/>
                      <a:round/>
                      <a:headEnd type="none" w="med" len="med"/>
                      <a:tailEnd type="none" w="med" len="med"/>
                    </a:lnT>
                    <a:lnB w="9525">
                      <a:solidFill>
                        <a:srgbClr val="3A3A40"/>
                      </a:solidFill>
                    </a:lnB>
                    <a:noFill/>
                  </a:tcPr>
                </a:tc>
                <a:tc>
                  <a:txBody>
                    <a:bodyPr/>
                    <a:lstStyle/>
                    <a:p>
                      <a:pPr algn="l"/>
                      <a:r>
                        <a:rPr lang="mn-MN" sz="1400" b="0" noProof="0" dirty="0">
                          <a:solidFill>
                            <a:srgbClr val="D6D6D8"/>
                          </a:solidFill>
                        </a:rPr>
                        <a:t>Маринов, Хасин нар Хужхааны шороон ордыг илрүүлэв</a:t>
                      </a:r>
                    </a:p>
                  </a:txBody>
                  <a:tcPr marT="36000" marB="36000" anchor="ctr">
                    <a:lnL w="0">
                      <a:noFill/>
                    </a:lnL>
                    <a:lnR w="0">
                      <a:noFill/>
                    </a:lnR>
                    <a:lnT w="19050" cap="flat" cmpd="sng" algn="ctr">
                      <a:solidFill>
                        <a:srgbClr val="F5E614"/>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578861926"/>
                  </a:ext>
                </a:extLst>
              </a:tr>
              <a:tr h="558800">
                <a:tc>
                  <a:txBody>
                    <a:bodyPr/>
                    <a:lstStyle/>
                    <a:p>
                      <a:pPr algn="l"/>
                      <a:r>
                        <a:rPr lang="en-US" sz="1400" b="1">
                          <a:solidFill>
                            <a:srgbClr val="F2F2F0"/>
                          </a:solidFill>
                        </a:rPr>
                        <a:t>2011</a:t>
                      </a:r>
                    </a:p>
                  </a:txBody>
                  <a:tcPr marL="0" marT="36000" marB="36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l"/>
                      <a:r>
                        <a:rPr lang="mn-MN" sz="1400" b="1" noProof="0" dirty="0">
                          <a:solidFill>
                            <a:srgbClr val="F2F2F0"/>
                          </a:solidFill>
                        </a:rPr>
                        <a:t>ЭБМЗ Жалга-1 ордын нөөцийг бүртгэж хүлээн авав</a:t>
                      </a:r>
                    </a:p>
                  </a:txBody>
                  <a:tcPr marT="36000" marB="36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2996549739"/>
                  </a:ext>
                </a:extLst>
              </a:tr>
            </a:tbl>
          </a:graphicData>
        </a:graphic>
      </p:graphicFrame>
      <p:pic>
        <p:nvPicPr>
          <p:cNvPr id="6" name="Picture 5">
            <a:extLst>
              <a:ext uri="{FF2B5EF4-FFF2-40B4-BE49-F238E27FC236}">
                <a16:creationId xmlns:a16="http://schemas.microsoft.com/office/drawing/2014/main" id="{3719E4AB-7A9B-1E4F-0E44-971D08384CE7}"/>
              </a:ext>
            </a:extLst>
          </p:cNvPr>
          <p:cNvPicPr>
            <a:picLocks noChangeAspect="1"/>
          </p:cNvPicPr>
          <p:nvPr/>
        </p:nvPicPr>
        <p:blipFill>
          <a:blip r:embed="rId4"/>
          <a:stretch>
            <a:fillRect/>
          </a:stretch>
        </p:blipFill>
        <p:spPr>
          <a:xfrm>
            <a:off x="609599" y="2555220"/>
            <a:ext cx="5210543" cy="3687318"/>
          </a:xfrm>
          <a:prstGeom prst="rect">
            <a:avLst/>
          </a:prstGeom>
        </p:spPr>
      </p:pic>
      <p:sp>
        <p:nvSpPr>
          <p:cNvPr id="3" name="Operating regime">
            <a:extLst>
              <a:ext uri="{FF2B5EF4-FFF2-40B4-BE49-F238E27FC236}">
                <a16:creationId xmlns:a16="http://schemas.microsoft.com/office/drawing/2014/main" id="{203D22CD-5417-26AE-F6E4-87B59F64D027}"/>
              </a:ext>
            </a:extLst>
          </p:cNvPr>
          <p:cNvSpPr txBox="1"/>
          <p:nvPr/>
        </p:nvSpPr>
        <p:spPr>
          <a:xfrm>
            <a:off x="6870700" y="3403600"/>
            <a:ext cx="4711700" cy="1803400"/>
          </a:xfrm>
          <a:prstGeom prst="rect">
            <a:avLst/>
          </a:prstGeom>
          <a:solidFill>
            <a:srgbClr val="2C2C30"/>
          </a:solidFill>
        </p:spPr>
        <p:txBody>
          <a:bodyPr vertOverflow="overflow" vert="horz" wrap="square" lIns="203200" tIns="152400" rIns="203200" bIns="101600" rtlCol="0" anchor="t">
            <a:noAutofit/>
          </a:bodyPr>
          <a:lstStyle/>
          <a:p>
            <a:pPr>
              <a:spcBef>
                <a:spcPts val="0"/>
              </a:spcBef>
              <a:buNone/>
              <a:tabLst>
                <a:tab pos="3048000" algn="r"/>
                <a:tab pos="4254500" algn="r"/>
              </a:tabLst>
            </a:pPr>
            <a:r>
              <a:rPr lang="mn-MN" sz="1500" b="1" dirty="0">
                <a:solidFill>
                  <a:srgbClr val="F2F2F0"/>
                </a:solidFill>
              </a:rPr>
              <a:t>Ажиллах горим</a:t>
            </a:r>
            <a:r>
              <a:rPr lang="mn-MN" sz="1300" b="1" dirty="0">
                <a:solidFill>
                  <a:srgbClr val="F5E614"/>
                </a:solidFill>
              </a:rPr>
              <a:t>	Уурхай	Үйлдвэр</a:t>
            </a:r>
          </a:p>
          <a:p>
            <a:pPr>
              <a:spcBef>
                <a:spcPts val="600"/>
              </a:spcBef>
              <a:buNone/>
              <a:tabLst>
                <a:tab pos="3048000" algn="r"/>
                <a:tab pos="4254500" algn="r"/>
              </a:tabLst>
            </a:pPr>
            <a:r>
              <a:rPr lang="mn-MN" sz="1400" dirty="0">
                <a:solidFill>
                  <a:srgbClr val="D6D6D8"/>
                </a:solidFill>
              </a:rPr>
              <a:t>Ажлын улирал	</a:t>
            </a:r>
            <a:r>
              <a:rPr lang="mn-MN" sz="1400" b="1" dirty="0">
                <a:solidFill>
                  <a:srgbClr val="F2F2F0"/>
                </a:solidFill>
              </a:rPr>
              <a:t>4–9 сар</a:t>
            </a:r>
            <a:r>
              <a:rPr lang="mn-MN" sz="1400" dirty="0">
                <a:solidFill>
                  <a:srgbClr val="D6D6D8"/>
                </a:solidFill>
              </a:rPr>
              <a:t>	</a:t>
            </a:r>
            <a:r>
              <a:rPr lang="mn-MN" sz="1400" b="1" dirty="0">
                <a:solidFill>
                  <a:srgbClr val="F2F2F0"/>
                </a:solidFill>
              </a:rPr>
              <a:t>4–10 сар</a:t>
            </a:r>
          </a:p>
          <a:p>
            <a:pPr>
              <a:spcBef>
                <a:spcPts val="300"/>
              </a:spcBef>
              <a:buNone/>
              <a:tabLst>
                <a:tab pos="3048000" algn="r"/>
                <a:tab pos="4254500" algn="r"/>
              </a:tabLst>
            </a:pPr>
            <a:r>
              <a:rPr lang="mn-MN" sz="1400" dirty="0">
                <a:solidFill>
                  <a:srgbClr val="D6D6D8"/>
                </a:solidFill>
              </a:rPr>
              <a:t>Жилийн ажлын хоног	</a:t>
            </a:r>
            <a:r>
              <a:rPr lang="mn-MN" sz="1400" b="1" dirty="0">
                <a:solidFill>
                  <a:srgbClr val="F2F2F0"/>
                </a:solidFill>
              </a:rPr>
              <a:t>169</a:t>
            </a:r>
            <a:r>
              <a:rPr lang="mn-MN" sz="1400" dirty="0">
                <a:solidFill>
                  <a:srgbClr val="D6D6D8"/>
                </a:solidFill>
              </a:rPr>
              <a:t>	</a:t>
            </a:r>
            <a:r>
              <a:rPr lang="mn-MN" sz="1400" b="1" dirty="0">
                <a:solidFill>
                  <a:srgbClr val="F2F2F0"/>
                </a:solidFill>
              </a:rPr>
              <a:t>181</a:t>
            </a:r>
          </a:p>
          <a:p>
            <a:pPr>
              <a:spcBef>
                <a:spcPts val="300"/>
              </a:spcBef>
              <a:buNone/>
              <a:tabLst>
                <a:tab pos="3048000" algn="r"/>
                <a:tab pos="4254500" algn="r"/>
              </a:tabLst>
            </a:pPr>
            <a:r>
              <a:rPr lang="mn-MN" sz="1400" dirty="0">
                <a:solidFill>
                  <a:srgbClr val="D6D6D8"/>
                </a:solidFill>
              </a:rPr>
              <a:t>Ээлж	</a:t>
            </a:r>
            <a:r>
              <a:rPr lang="mn-MN" sz="1400" b="1" dirty="0">
                <a:solidFill>
                  <a:srgbClr val="F2F2F0"/>
                </a:solidFill>
              </a:rPr>
              <a:t>2 × 12 цаг</a:t>
            </a:r>
            <a:r>
              <a:rPr lang="mn-MN" sz="1400" dirty="0">
                <a:solidFill>
                  <a:srgbClr val="D6D6D8"/>
                </a:solidFill>
              </a:rPr>
              <a:t>	</a:t>
            </a:r>
            <a:r>
              <a:rPr lang="mn-MN" sz="1400" b="1" dirty="0">
                <a:solidFill>
                  <a:srgbClr val="F2F2F0"/>
                </a:solidFill>
              </a:rPr>
              <a:t>2 × 12 цаг</a:t>
            </a:r>
          </a:p>
          <a:p>
            <a:pPr>
              <a:spcBef>
                <a:spcPts val="300"/>
              </a:spcBef>
              <a:buNone/>
              <a:tabLst>
                <a:tab pos="3048000" algn="r"/>
                <a:tab pos="4254500" algn="r"/>
              </a:tabLst>
            </a:pPr>
            <a:r>
              <a:rPr lang="mn-MN" sz="1400" dirty="0">
                <a:solidFill>
                  <a:srgbClr val="D6D6D8"/>
                </a:solidFill>
              </a:rPr>
              <a:t>Долоо хоногт	</a:t>
            </a:r>
            <a:r>
              <a:rPr lang="mn-MN" sz="1400" b="1" dirty="0">
                <a:solidFill>
                  <a:srgbClr val="F2F2F0"/>
                </a:solidFill>
              </a:rPr>
              <a:t>тасралтгүй</a:t>
            </a:r>
            <a:r>
              <a:rPr lang="mn-MN" sz="1400" dirty="0">
                <a:solidFill>
                  <a:srgbClr val="D6D6D8"/>
                </a:solidFill>
              </a:rPr>
              <a:t>	</a:t>
            </a:r>
            <a:r>
              <a:rPr lang="mn-MN" sz="1400" b="1" dirty="0">
                <a:solidFill>
                  <a:srgbClr val="F2F2F0"/>
                </a:solidFill>
              </a:rPr>
              <a:t>—</a:t>
            </a:r>
          </a:p>
          <a:p>
            <a:pPr>
              <a:spcBef>
                <a:spcPts val="300"/>
              </a:spcBef>
              <a:buNone/>
              <a:tabLst>
                <a:tab pos="3048000" algn="r"/>
                <a:tab pos="4254500" algn="r"/>
              </a:tabLst>
            </a:pPr>
            <a:r>
              <a:rPr lang="mn-MN" sz="1400" dirty="0">
                <a:solidFill>
                  <a:srgbClr val="D6D6D8"/>
                </a:solidFill>
              </a:rPr>
              <a:t>Цаг ашиглалтын итгэлцүүр	</a:t>
            </a:r>
            <a:r>
              <a:rPr lang="mn-MN" sz="1400" b="1" dirty="0">
                <a:solidFill>
                  <a:srgbClr val="F2F2F0"/>
                </a:solidFill>
              </a:rPr>
              <a:t>0.83</a:t>
            </a:r>
            <a:r>
              <a:rPr lang="mn-MN" sz="1400" dirty="0">
                <a:solidFill>
                  <a:srgbClr val="D6D6D8"/>
                </a:solidFill>
              </a:rPr>
              <a:t>	</a:t>
            </a:r>
            <a:r>
              <a:rPr lang="mn-MN" sz="1400" b="1" dirty="0">
                <a:solidFill>
                  <a:srgbClr val="F2F2F0"/>
                </a:solidFill>
              </a:rPr>
              <a:t>0.85</a:t>
            </a:r>
          </a:p>
        </p:txBody>
      </p:sp>
    </p:spTree>
    <p:extLst>
      <p:ext uri="{BB962C8B-B14F-4D97-AF65-F5344CB8AC3E}">
        <p14:creationId xmlns:p14="http://schemas.microsoft.com/office/powerpoint/2010/main" val="15022461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270D0-529D-EB33-520E-BC66AA353709}"/>
              </a:ext>
            </a:extLst>
          </p:cNvPr>
          <p:cNvSpPr>
            <a:spLocks noGrp="1"/>
          </p:cNvSpPr>
          <p:nvPr>
            <p:ph type="title"/>
          </p:nvPr>
        </p:nvSpPr>
        <p:spPr/>
        <p:txBody>
          <a:bodyPr>
            <a:normAutofit/>
          </a:bodyPr>
          <a:lstStyle/>
          <a:p>
            <a:r>
              <a:rPr lang="mn-MN" dirty="0"/>
              <a:t>Ордын нөөц</a:t>
            </a:r>
            <a:endParaRPr lang="en-US" dirty="0"/>
          </a:p>
        </p:txBody>
      </p:sp>
      <p:pic>
        <p:nvPicPr>
          <p:cNvPr id="900" name="!!Truck" descr="Автосамосвал"/>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81200" y="6464300"/>
            <a:ext cx="330200" cy="330200"/>
          </a:xfrm>
          <a:prstGeom prst="rect">
            <a:avLst/>
          </a:prstGeom>
        </p:spPr>
      </p:pic>
      <p:graphicFrame>
        <p:nvGraphicFramePr>
          <p:cNvPr id="61" name="3D chart Элс"/>
          <p:cNvGraphicFramePr/>
          <p:nvPr/>
        </p:nvGraphicFramePr>
        <p:xfrm>
          <a:off x="609600" y="4038600"/>
          <a:ext cx="5334000" cy="1981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2" name="3D chart Хөрс"/>
          <p:cNvGraphicFramePr/>
          <p:nvPr/>
        </p:nvGraphicFramePr>
        <p:xfrm>
          <a:off x="6248400" y="4038600"/>
          <a:ext cx="5334000" cy="1981200"/>
        </p:xfrm>
        <a:graphic>
          <a:graphicData uri="http://schemas.openxmlformats.org/drawingml/2006/chart">
            <c:chart xmlns:c="http://schemas.openxmlformats.org/drawingml/2006/chart" xmlns:r="http://schemas.openxmlformats.org/officeDocument/2006/relationships" r:id="rId5"/>
          </a:graphicData>
        </a:graphic>
      </p:graphicFrame>
      <p:sp>
        <p:nvSpPr>
          <p:cNvPr id="3" name="Sand total">
            <a:extLst>
              <a:ext uri="{FF2B5EF4-FFF2-40B4-BE49-F238E27FC236}">
                <a16:creationId xmlns:a16="http://schemas.microsoft.com/office/drawing/2014/main" id="{F8CAC2B4-9CFF-4710-81F8-B91BE0F8492B}"/>
              </a:ext>
            </a:extLst>
          </p:cNvPr>
          <p:cNvSpPr txBox="1"/>
          <p:nvPr/>
        </p:nvSpPr>
        <p:spPr>
          <a:xfrm>
            <a:off x="609600" y="6070600"/>
            <a:ext cx="5334000" cy="254000"/>
          </a:xfrm>
          <a:prstGeom prst="rect">
            <a:avLst/>
          </a:prstGeom>
          <a:noFill/>
        </p:spPr>
        <p:txBody>
          <a:bodyPr vertOverflow="overflow" vert="horz" wrap="square" lIns="0" tIns="0" rIns="0" bIns="0" rtlCol="0" anchor="t">
            <a:noAutofit/>
          </a:bodyPr>
          <a:lstStyle/>
          <a:p>
            <a:pPr algn="ctr"/>
            <a:r>
              <a:rPr lang="ru-RU" sz="1400" b="1">
                <a:solidFill>
                  <a:srgbClr val="F2F2F0"/>
                </a:solidFill>
                <a:latin typeface="Arial"/>
                <a:cs typeface="Arial"/>
              </a:rPr>
              <a:t>Нийт = 1,902.9 мян.м³ элс</a:t>
            </a:r>
            <a:endParaRPr lang="en-US" sz="1400" b="1">
              <a:solidFill>
                <a:srgbClr val="F2F2F0"/>
              </a:solidFill>
              <a:latin typeface="Arial"/>
              <a:cs typeface="Arial"/>
            </a:endParaRPr>
          </a:p>
        </p:txBody>
      </p:sp>
      <p:sp>
        <p:nvSpPr>
          <p:cNvPr id="5" name="OB total">
            <a:extLst>
              <a:ext uri="{FF2B5EF4-FFF2-40B4-BE49-F238E27FC236}">
                <a16:creationId xmlns:a16="http://schemas.microsoft.com/office/drawing/2014/main" id="{6FF81742-49B8-4A1F-BB13-9704C4C7DD4F}"/>
              </a:ext>
            </a:extLst>
          </p:cNvPr>
          <p:cNvSpPr txBox="1"/>
          <p:nvPr/>
        </p:nvSpPr>
        <p:spPr>
          <a:xfrm>
            <a:off x="6248400" y="6070600"/>
            <a:ext cx="5334000" cy="254000"/>
          </a:xfrm>
          <a:prstGeom prst="rect">
            <a:avLst/>
          </a:prstGeom>
          <a:noFill/>
        </p:spPr>
        <p:txBody>
          <a:bodyPr vertOverflow="overflow" vert="horz" wrap="square" lIns="0" tIns="0" rIns="0" bIns="0" rtlCol="0" anchor="t">
            <a:noAutofit/>
          </a:bodyPr>
          <a:lstStyle/>
          <a:p>
            <a:pPr algn="ctr"/>
            <a:r>
              <a:rPr lang="ru-RU" sz="1400" b="1">
                <a:solidFill>
                  <a:srgbClr val="F2F2F0"/>
                </a:solidFill>
                <a:latin typeface="Arial"/>
                <a:cs typeface="Arial"/>
              </a:rPr>
              <a:t>Нийт = 1,860.9 мян.м³ хөрс</a:t>
            </a:r>
            <a:endParaRPr lang="en-US" sz="1400" b="1">
              <a:solidFill>
                <a:srgbClr val="F2F2F0"/>
              </a:solidFill>
              <a:latin typeface="Arial"/>
              <a:cs typeface="Arial"/>
            </a:endParaRPr>
          </a:p>
        </p:txBody>
      </p:sp>
      <p:sp>
        <p:nvSpPr>
          <p:cNvPr id="400" name="Eq panel"/>
          <p:cNvSpPr/>
          <p:nvPr/>
        </p:nvSpPr>
        <p:spPr>
          <a:xfrm>
            <a:off x="609600" y="1676400"/>
            <a:ext cx="10972800" cy="2260600"/>
          </a:xfrm>
          <a:prstGeom prst="rect">
            <a:avLst/>
          </a:prstGeom>
          <a:solidFill>
            <a:srgbClr val="2C2C30"/>
          </a:solidFill>
          <a:ln>
            <a:noFill/>
          </a:ln>
        </p:spPr>
        <p:txBody>
          <a:bodyPr/>
          <a:lstStyle/>
          <a:p>
            <a:endParaRPr lang="mn-MN" dirty="0"/>
          </a:p>
        </p:txBody>
      </p:sp>
      <p:sp>
        <p:nvSpPr>
          <p:cNvPr id="401" name="Eq label 0"/>
          <p:cNvSpPr txBox="1"/>
          <p:nvPr/>
        </p:nvSpPr>
        <p:spPr>
          <a:xfrm>
            <a:off x="838200" y="1854200"/>
            <a:ext cx="1371600" cy="508000"/>
          </a:xfrm>
          <a:prstGeom prst="rect">
            <a:avLst/>
          </a:prstGeom>
          <a:noFill/>
          <a:ln>
            <a:noFill/>
          </a:ln>
        </p:spPr>
        <p:txBody>
          <a:bodyPr wrap="square" lIns="0" tIns="0" rIns="0" bIns="0" anchor="b">
            <a:noAutofit/>
          </a:bodyPr>
          <a:lstStyle/>
          <a:p>
            <a:pPr algn="l">
              <a:buNone/>
            </a:pPr>
            <a:r>
              <a:rPr lang="mn-MN" sz="1400" b="1" dirty="0">
                <a:solidFill>
                  <a:srgbClr val="F2F2F0"/>
                </a:solidFill>
              </a:rPr>
              <a:t>Геологийн</a:t>
            </a:r>
            <a:br>
              <a:rPr lang="mn-MN" sz="1400" dirty="0"/>
            </a:br>
            <a:r>
              <a:rPr lang="mn-MN" sz="1400" b="1" dirty="0">
                <a:solidFill>
                  <a:srgbClr val="F2F2F0"/>
                </a:solidFill>
              </a:rPr>
              <a:t>нөөц, B+C</a:t>
            </a:r>
          </a:p>
        </p:txBody>
      </p:sp>
      <p:sp>
        <p:nvSpPr>
          <p:cNvPr id="402" name="Eq value 0"/>
          <p:cNvSpPr txBox="1"/>
          <p:nvPr/>
        </p:nvSpPr>
        <p:spPr>
          <a:xfrm>
            <a:off x="838200" y="2413000"/>
            <a:ext cx="1371600" cy="431800"/>
          </a:xfrm>
          <a:prstGeom prst="rect">
            <a:avLst/>
          </a:prstGeom>
          <a:noFill/>
          <a:ln>
            <a:noFill/>
          </a:ln>
        </p:spPr>
        <p:txBody>
          <a:bodyPr wrap="square" lIns="0" tIns="0" rIns="0" bIns="0" anchor="t">
            <a:noAutofit/>
          </a:bodyPr>
          <a:lstStyle/>
          <a:p>
            <a:pPr algn="l">
              <a:buNone/>
            </a:pPr>
            <a:r>
              <a:rPr lang="mn-MN" sz="2400" b="1" dirty="0">
                <a:solidFill>
                  <a:srgbClr val="F2F2F0"/>
                </a:solidFill>
                <a:latin typeface="+mj-lt"/>
              </a:rPr>
              <a:t>2,041.4</a:t>
            </a:r>
          </a:p>
        </p:txBody>
      </p:sp>
      <p:sp>
        <p:nvSpPr>
          <p:cNvPr id="403" name="Eq op 0"/>
          <p:cNvSpPr txBox="1"/>
          <p:nvPr/>
        </p:nvSpPr>
        <p:spPr>
          <a:xfrm>
            <a:off x="2209800" y="2413000"/>
            <a:ext cx="203200" cy="431800"/>
          </a:xfrm>
          <a:prstGeom prst="rect">
            <a:avLst/>
          </a:prstGeom>
          <a:noFill/>
          <a:ln>
            <a:noFill/>
          </a:ln>
        </p:spPr>
        <p:txBody>
          <a:bodyPr wrap="square" lIns="0" tIns="0" rIns="0" bIns="0" anchor="t">
            <a:noAutofit/>
          </a:bodyPr>
          <a:lstStyle/>
          <a:p>
            <a:pPr algn="ctr">
              <a:buNone/>
            </a:pPr>
            <a:r>
              <a:rPr lang="mn-MN" sz="2400" b="1" dirty="0">
                <a:solidFill>
                  <a:srgbClr val="F5E614"/>
                </a:solidFill>
              </a:rPr>
              <a:t>−</a:t>
            </a:r>
          </a:p>
        </p:txBody>
      </p:sp>
      <p:sp>
        <p:nvSpPr>
          <p:cNvPr id="404" name="Eq label 1"/>
          <p:cNvSpPr txBox="1"/>
          <p:nvPr/>
        </p:nvSpPr>
        <p:spPr>
          <a:xfrm>
            <a:off x="2413000" y="1854200"/>
            <a:ext cx="1219200" cy="508000"/>
          </a:xfrm>
          <a:prstGeom prst="rect">
            <a:avLst/>
          </a:prstGeom>
          <a:noFill/>
          <a:ln>
            <a:noFill/>
          </a:ln>
        </p:spPr>
        <p:txBody>
          <a:bodyPr wrap="square" lIns="0" tIns="0" rIns="0" bIns="0" anchor="b">
            <a:noAutofit/>
          </a:bodyPr>
          <a:lstStyle/>
          <a:p>
            <a:pPr algn="l">
              <a:buNone/>
            </a:pPr>
            <a:r>
              <a:rPr lang="mn-MN" sz="1400" b="1" dirty="0">
                <a:solidFill>
                  <a:srgbClr val="F2F2F0"/>
                </a:solidFill>
              </a:rPr>
              <a:t>Хүрээнд</a:t>
            </a:r>
            <a:br>
              <a:rPr lang="mn-MN" sz="1400" dirty="0"/>
            </a:br>
            <a:r>
              <a:rPr lang="mn-MN" sz="1400" b="1" dirty="0">
                <a:solidFill>
                  <a:srgbClr val="F2F2F0"/>
                </a:solidFill>
              </a:rPr>
              <a:t>өртөхгүй</a:t>
            </a:r>
          </a:p>
        </p:txBody>
      </p:sp>
      <p:sp>
        <p:nvSpPr>
          <p:cNvPr id="405" name="Eq value 1"/>
          <p:cNvSpPr txBox="1"/>
          <p:nvPr/>
        </p:nvSpPr>
        <p:spPr>
          <a:xfrm>
            <a:off x="2413000" y="2413000"/>
            <a:ext cx="1219200" cy="431800"/>
          </a:xfrm>
          <a:prstGeom prst="rect">
            <a:avLst/>
          </a:prstGeom>
          <a:noFill/>
          <a:ln>
            <a:noFill/>
          </a:ln>
        </p:spPr>
        <p:txBody>
          <a:bodyPr wrap="square" lIns="0" tIns="0" rIns="0" bIns="0" anchor="t">
            <a:noAutofit/>
          </a:bodyPr>
          <a:lstStyle/>
          <a:p>
            <a:pPr algn="l">
              <a:buNone/>
            </a:pPr>
            <a:r>
              <a:rPr lang="mn-MN" sz="2400" b="1" dirty="0">
                <a:solidFill>
                  <a:srgbClr val="F2F2F0"/>
                </a:solidFill>
                <a:latin typeface="+mj-lt"/>
              </a:rPr>
              <a:t>258.9</a:t>
            </a:r>
          </a:p>
        </p:txBody>
      </p:sp>
      <p:sp>
        <p:nvSpPr>
          <p:cNvPr id="406" name="Eq op 1"/>
          <p:cNvSpPr txBox="1"/>
          <p:nvPr/>
        </p:nvSpPr>
        <p:spPr>
          <a:xfrm>
            <a:off x="3632200" y="2413000"/>
            <a:ext cx="203200" cy="431800"/>
          </a:xfrm>
          <a:prstGeom prst="rect">
            <a:avLst/>
          </a:prstGeom>
          <a:noFill/>
          <a:ln>
            <a:noFill/>
          </a:ln>
        </p:spPr>
        <p:txBody>
          <a:bodyPr wrap="square" lIns="0" tIns="0" rIns="0" bIns="0" anchor="t">
            <a:noAutofit/>
          </a:bodyPr>
          <a:lstStyle/>
          <a:p>
            <a:pPr algn="ctr">
              <a:buNone/>
            </a:pPr>
            <a:r>
              <a:rPr lang="mn-MN" sz="2400" b="1" dirty="0">
                <a:solidFill>
                  <a:srgbClr val="F5E614"/>
                </a:solidFill>
              </a:rPr>
              <a:t>=</a:t>
            </a:r>
          </a:p>
        </p:txBody>
      </p:sp>
      <p:sp>
        <p:nvSpPr>
          <p:cNvPr id="407" name="Eq label 2"/>
          <p:cNvSpPr txBox="1"/>
          <p:nvPr/>
        </p:nvSpPr>
        <p:spPr>
          <a:xfrm>
            <a:off x="3835400" y="1854200"/>
            <a:ext cx="1879600" cy="508000"/>
          </a:xfrm>
          <a:prstGeom prst="rect">
            <a:avLst/>
          </a:prstGeom>
          <a:noFill/>
          <a:ln>
            <a:noFill/>
          </a:ln>
        </p:spPr>
        <p:txBody>
          <a:bodyPr wrap="square" lIns="0" tIns="0" rIns="0" bIns="0" anchor="b">
            <a:noAutofit/>
          </a:bodyPr>
          <a:lstStyle/>
          <a:p>
            <a:pPr algn="l">
              <a:buNone/>
            </a:pPr>
            <a:r>
              <a:rPr lang="mn-MN" sz="1400" b="1" dirty="0">
                <a:solidFill>
                  <a:srgbClr val="F2F2F0"/>
                </a:solidFill>
              </a:rPr>
              <a:t>Ил уурхайн</a:t>
            </a:r>
            <a:br>
              <a:rPr lang="mn-MN" sz="1400" dirty="0"/>
            </a:br>
            <a:r>
              <a:rPr lang="mn-MN" sz="1400" b="1" dirty="0">
                <a:solidFill>
                  <a:srgbClr val="F2F2F0"/>
                </a:solidFill>
              </a:rPr>
              <a:t>хүрээнд өртөх нөөц</a:t>
            </a:r>
          </a:p>
        </p:txBody>
      </p:sp>
      <p:sp>
        <p:nvSpPr>
          <p:cNvPr id="408" name="Eq value 2"/>
          <p:cNvSpPr txBox="1"/>
          <p:nvPr/>
        </p:nvSpPr>
        <p:spPr>
          <a:xfrm>
            <a:off x="3835400" y="2413000"/>
            <a:ext cx="1879600" cy="431800"/>
          </a:xfrm>
          <a:prstGeom prst="rect">
            <a:avLst/>
          </a:prstGeom>
          <a:noFill/>
          <a:ln>
            <a:noFill/>
          </a:ln>
        </p:spPr>
        <p:txBody>
          <a:bodyPr wrap="square" lIns="0" tIns="0" rIns="0" bIns="0" anchor="t">
            <a:noAutofit/>
          </a:bodyPr>
          <a:lstStyle/>
          <a:p>
            <a:pPr algn="l">
              <a:buNone/>
            </a:pPr>
            <a:r>
              <a:rPr lang="mn-MN" sz="2400" b="1" dirty="0">
                <a:solidFill>
                  <a:srgbClr val="F2F2F0"/>
                </a:solidFill>
                <a:latin typeface="+mj-lt"/>
              </a:rPr>
              <a:t>1,782.5</a:t>
            </a:r>
          </a:p>
        </p:txBody>
      </p:sp>
      <p:sp>
        <p:nvSpPr>
          <p:cNvPr id="409" name="Eq op 2"/>
          <p:cNvSpPr txBox="1"/>
          <p:nvPr/>
        </p:nvSpPr>
        <p:spPr>
          <a:xfrm>
            <a:off x="5715000" y="2413000"/>
            <a:ext cx="203200" cy="431800"/>
          </a:xfrm>
          <a:prstGeom prst="rect">
            <a:avLst/>
          </a:prstGeom>
          <a:noFill/>
          <a:ln>
            <a:noFill/>
          </a:ln>
        </p:spPr>
        <p:txBody>
          <a:bodyPr wrap="square" lIns="0" tIns="0" rIns="0" bIns="0" anchor="t">
            <a:noAutofit/>
          </a:bodyPr>
          <a:lstStyle/>
          <a:p>
            <a:pPr algn="ctr">
              <a:buNone/>
            </a:pPr>
            <a:r>
              <a:rPr lang="mn-MN" sz="2400" b="1" dirty="0">
                <a:solidFill>
                  <a:srgbClr val="F5E614"/>
                </a:solidFill>
              </a:rPr>
              <a:t>−</a:t>
            </a:r>
          </a:p>
        </p:txBody>
      </p:sp>
      <p:sp>
        <p:nvSpPr>
          <p:cNvPr id="410" name="Eq label 3"/>
          <p:cNvSpPr txBox="1"/>
          <p:nvPr/>
        </p:nvSpPr>
        <p:spPr>
          <a:xfrm>
            <a:off x="5918200" y="1854200"/>
            <a:ext cx="1752600" cy="508000"/>
          </a:xfrm>
          <a:prstGeom prst="rect">
            <a:avLst/>
          </a:prstGeom>
          <a:noFill/>
          <a:ln>
            <a:noFill/>
          </a:ln>
        </p:spPr>
        <p:txBody>
          <a:bodyPr wrap="square" lIns="0" tIns="0" rIns="0" bIns="0" anchor="b">
            <a:noAutofit/>
          </a:bodyPr>
          <a:lstStyle/>
          <a:p>
            <a:pPr algn="l">
              <a:buNone/>
            </a:pPr>
            <a:r>
              <a:rPr lang="mn-MN" sz="1400" b="1" dirty="0">
                <a:solidFill>
                  <a:srgbClr val="F2F2F0"/>
                </a:solidFill>
              </a:rPr>
              <a:t>Хаягдал</a:t>
            </a:r>
          </a:p>
        </p:txBody>
      </p:sp>
      <p:sp>
        <p:nvSpPr>
          <p:cNvPr id="411" name="Eq value 3"/>
          <p:cNvSpPr txBox="1"/>
          <p:nvPr/>
        </p:nvSpPr>
        <p:spPr>
          <a:xfrm>
            <a:off x="5918200" y="2413000"/>
            <a:ext cx="1752600" cy="431800"/>
          </a:xfrm>
          <a:prstGeom prst="rect">
            <a:avLst/>
          </a:prstGeom>
          <a:noFill/>
          <a:ln>
            <a:noFill/>
          </a:ln>
        </p:spPr>
        <p:txBody>
          <a:bodyPr wrap="square" lIns="0" tIns="0" rIns="0" bIns="0" anchor="t">
            <a:noAutofit/>
          </a:bodyPr>
          <a:lstStyle/>
          <a:p>
            <a:pPr algn="l">
              <a:buNone/>
            </a:pPr>
            <a:r>
              <a:rPr lang="mn-MN" sz="2400" b="1" dirty="0">
                <a:solidFill>
                  <a:srgbClr val="F2F2F0"/>
                </a:solidFill>
                <a:latin typeface="+mj-lt"/>
              </a:rPr>
              <a:t>0.85%</a:t>
            </a:r>
          </a:p>
        </p:txBody>
      </p:sp>
      <p:sp>
        <p:nvSpPr>
          <p:cNvPr id="412" name="Eq note 3"/>
          <p:cNvSpPr txBox="1"/>
          <p:nvPr/>
        </p:nvSpPr>
        <p:spPr>
          <a:xfrm>
            <a:off x="5918200" y="2895600"/>
            <a:ext cx="1676400" cy="635000"/>
          </a:xfrm>
          <a:prstGeom prst="rect">
            <a:avLst/>
          </a:prstGeom>
          <a:noFill/>
          <a:ln>
            <a:noFill/>
          </a:ln>
        </p:spPr>
        <p:txBody>
          <a:bodyPr wrap="square" lIns="0" tIns="0" rIns="0" bIns="0" anchor="t">
            <a:noAutofit/>
          </a:bodyPr>
          <a:lstStyle/>
          <a:p>
            <a:pPr algn="l">
              <a:buNone/>
            </a:pPr>
            <a:r>
              <a:rPr lang="mn-MN" sz="1200" dirty="0">
                <a:solidFill>
                  <a:srgbClr val="C8C8CC"/>
                </a:solidFill>
              </a:rPr>
              <a:t>Ухаж ачих болон тээвэрлэх үеийн хаягдал</a:t>
            </a:r>
          </a:p>
        </p:txBody>
      </p:sp>
      <p:sp>
        <p:nvSpPr>
          <p:cNvPr id="413" name="Eq op 3"/>
          <p:cNvSpPr txBox="1"/>
          <p:nvPr/>
        </p:nvSpPr>
        <p:spPr>
          <a:xfrm>
            <a:off x="7670800" y="2413000"/>
            <a:ext cx="203200" cy="431800"/>
          </a:xfrm>
          <a:prstGeom prst="rect">
            <a:avLst/>
          </a:prstGeom>
          <a:noFill/>
          <a:ln>
            <a:noFill/>
          </a:ln>
        </p:spPr>
        <p:txBody>
          <a:bodyPr wrap="square" lIns="0" tIns="0" rIns="0" bIns="0" anchor="t">
            <a:noAutofit/>
          </a:bodyPr>
          <a:lstStyle/>
          <a:p>
            <a:pPr algn="ctr">
              <a:buNone/>
            </a:pPr>
            <a:r>
              <a:rPr lang="mn-MN" sz="2400" b="1" dirty="0">
                <a:solidFill>
                  <a:srgbClr val="F5E614"/>
                </a:solidFill>
              </a:rPr>
              <a:t>+</a:t>
            </a:r>
          </a:p>
        </p:txBody>
      </p:sp>
      <p:sp>
        <p:nvSpPr>
          <p:cNvPr id="414" name="Eq label 4"/>
          <p:cNvSpPr txBox="1"/>
          <p:nvPr/>
        </p:nvSpPr>
        <p:spPr>
          <a:xfrm>
            <a:off x="7874000" y="1854200"/>
            <a:ext cx="1752600" cy="508000"/>
          </a:xfrm>
          <a:prstGeom prst="rect">
            <a:avLst/>
          </a:prstGeom>
          <a:noFill/>
          <a:ln>
            <a:noFill/>
          </a:ln>
        </p:spPr>
        <p:txBody>
          <a:bodyPr wrap="square" lIns="0" tIns="0" rIns="0" bIns="0" anchor="b">
            <a:noAutofit/>
          </a:bodyPr>
          <a:lstStyle/>
          <a:p>
            <a:pPr algn="l">
              <a:buNone/>
            </a:pPr>
            <a:r>
              <a:rPr lang="mn-MN" sz="1400" b="1" dirty="0">
                <a:solidFill>
                  <a:srgbClr val="F2F2F0"/>
                </a:solidFill>
              </a:rPr>
              <a:t>Бохирдол</a:t>
            </a:r>
          </a:p>
        </p:txBody>
      </p:sp>
      <p:sp>
        <p:nvSpPr>
          <p:cNvPr id="415" name="Eq value 4"/>
          <p:cNvSpPr txBox="1"/>
          <p:nvPr/>
        </p:nvSpPr>
        <p:spPr>
          <a:xfrm>
            <a:off x="7874000" y="2413000"/>
            <a:ext cx="1752600" cy="431800"/>
          </a:xfrm>
          <a:prstGeom prst="rect">
            <a:avLst/>
          </a:prstGeom>
          <a:noFill/>
          <a:ln>
            <a:noFill/>
          </a:ln>
        </p:spPr>
        <p:txBody>
          <a:bodyPr wrap="square" lIns="0" tIns="0" rIns="0" bIns="0" anchor="t">
            <a:noAutofit/>
          </a:bodyPr>
          <a:lstStyle/>
          <a:p>
            <a:pPr algn="l">
              <a:buNone/>
            </a:pPr>
            <a:r>
              <a:rPr lang="mn-MN" sz="2400" b="1" dirty="0">
                <a:solidFill>
                  <a:srgbClr val="F2F2F0"/>
                </a:solidFill>
                <a:latin typeface="+mj-lt"/>
              </a:rPr>
              <a:t>8%</a:t>
            </a:r>
          </a:p>
        </p:txBody>
      </p:sp>
      <p:sp>
        <p:nvSpPr>
          <p:cNvPr id="416" name="Eq note 4"/>
          <p:cNvSpPr txBox="1"/>
          <p:nvPr/>
        </p:nvSpPr>
        <p:spPr>
          <a:xfrm>
            <a:off x="7874000" y="2895600"/>
            <a:ext cx="2032000" cy="635000"/>
          </a:xfrm>
          <a:prstGeom prst="rect">
            <a:avLst/>
          </a:prstGeom>
          <a:noFill/>
          <a:ln>
            <a:noFill/>
          </a:ln>
        </p:spPr>
        <p:txBody>
          <a:bodyPr wrap="square" lIns="0" tIns="0" rIns="0" bIns="0" anchor="t">
            <a:noAutofit/>
          </a:bodyPr>
          <a:lstStyle/>
          <a:p>
            <a:pPr algn="l">
              <a:buNone/>
            </a:pPr>
            <a:r>
              <a:rPr lang="mn-MN" sz="1200" dirty="0">
                <a:solidFill>
                  <a:srgbClr val="C8C8CC"/>
                </a:solidFill>
              </a:rPr>
              <a:t>Хаягдал бага байлгах үүднээс бүх талаас нь бохирдуулж авна.</a:t>
            </a:r>
          </a:p>
        </p:txBody>
      </p:sp>
      <p:sp>
        <p:nvSpPr>
          <p:cNvPr id="417" name="Eq op 4"/>
          <p:cNvSpPr txBox="1"/>
          <p:nvPr/>
        </p:nvSpPr>
        <p:spPr>
          <a:xfrm>
            <a:off x="9626600" y="2413000"/>
            <a:ext cx="203200" cy="431800"/>
          </a:xfrm>
          <a:prstGeom prst="rect">
            <a:avLst/>
          </a:prstGeom>
          <a:noFill/>
          <a:ln>
            <a:noFill/>
          </a:ln>
        </p:spPr>
        <p:txBody>
          <a:bodyPr wrap="square" lIns="0" tIns="0" rIns="0" bIns="0" anchor="t">
            <a:noAutofit/>
          </a:bodyPr>
          <a:lstStyle/>
          <a:p>
            <a:pPr algn="ctr">
              <a:buNone/>
            </a:pPr>
            <a:r>
              <a:rPr lang="mn-MN" sz="2400" b="1" dirty="0">
                <a:solidFill>
                  <a:srgbClr val="F5E614"/>
                </a:solidFill>
              </a:rPr>
              <a:t>=</a:t>
            </a:r>
          </a:p>
        </p:txBody>
      </p:sp>
      <p:sp>
        <p:nvSpPr>
          <p:cNvPr id="418" name="Eq label 5"/>
          <p:cNvSpPr txBox="1"/>
          <p:nvPr/>
        </p:nvSpPr>
        <p:spPr>
          <a:xfrm>
            <a:off x="9829800" y="1854200"/>
            <a:ext cx="1498600" cy="508000"/>
          </a:xfrm>
          <a:prstGeom prst="rect">
            <a:avLst/>
          </a:prstGeom>
          <a:noFill/>
          <a:ln>
            <a:noFill/>
          </a:ln>
        </p:spPr>
        <p:txBody>
          <a:bodyPr wrap="square" lIns="0" tIns="0" rIns="0" bIns="0" anchor="b">
            <a:noAutofit/>
          </a:bodyPr>
          <a:lstStyle/>
          <a:p>
            <a:pPr algn="l">
              <a:buNone/>
            </a:pPr>
            <a:r>
              <a:rPr lang="mn-MN" sz="1400" b="1" dirty="0">
                <a:solidFill>
                  <a:srgbClr val="F2F2F0"/>
                </a:solidFill>
              </a:rPr>
              <a:t>Үйлдвэрлэлийн</a:t>
            </a:r>
            <a:br>
              <a:rPr lang="mn-MN" sz="1400" dirty="0"/>
            </a:br>
            <a:r>
              <a:rPr lang="mn-MN" sz="1400" b="1" dirty="0">
                <a:solidFill>
                  <a:srgbClr val="F2F2F0"/>
                </a:solidFill>
              </a:rPr>
              <a:t>нөөц</a:t>
            </a:r>
          </a:p>
        </p:txBody>
      </p:sp>
      <p:sp>
        <p:nvSpPr>
          <p:cNvPr id="419" name="Eq value 5"/>
          <p:cNvSpPr txBox="1"/>
          <p:nvPr/>
        </p:nvSpPr>
        <p:spPr>
          <a:xfrm>
            <a:off x="9829800" y="2413000"/>
            <a:ext cx="1498600" cy="431800"/>
          </a:xfrm>
          <a:prstGeom prst="rect">
            <a:avLst/>
          </a:prstGeom>
          <a:noFill/>
          <a:ln>
            <a:noFill/>
          </a:ln>
        </p:spPr>
        <p:txBody>
          <a:bodyPr wrap="square" lIns="0" tIns="0" rIns="0" bIns="0" anchor="t">
            <a:noAutofit/>
          </a:bodyPr>
          <a:lstStyle/>
          <a:p>
            <a:pPr algn="l">
              <a:buNone/>
            </a:pPr>
            <a:r>
              <a:rPr lang="mn-MN" sz="2400" b="1" dirty="0">
                <a:solidFill>
                  <a:srgbClr val="F5E614"/>
                </a:solidFill>
                <a:latin typeface="+mj-lt"/>
              </a:rPr>
              <a:t>1,902.9</a:t>
            </a:r>
          </a:p>
        </p:txBody>
      </p:sp>
      <p:sp>
        <p:nvSpPr>
          <p:cNvPr id="420" name="Eq divider"/>
          <p:cNvSpPr/>
          <p:nvPr/>
        </p:nvSpPr>
        <p:spPr>
          <a:xfrm>
            <a:off x="838200" y="3581400"/>
            <a:ext cx="10515600" cy="12700"/>
          </a:xfrm>
          <a:prstGeom prst="rect">
            <a:avLst/>
          </a:prstGeom>
          <a:solidFill>
            <a:srgbClr val="46464C"/>
          </a:solidFill>
          <a:ln>
            <a:noFill/>
          </a:ln>
        </p:spPr>
        <p:txBody>
          <a:bodyPr/>
          <a:lstStyle/>
          <a:p>
            <a:endParaRPr lang="mn-MN" dirty="0"/>
          </a:p>
        </p:txBody>
      </p:sp>
      <p:sp>
        <p:nvSpPr>
          <p:cNvPr id="422" name="Eq unit"/>
          <p:cNvSpPr txBox="1"/>
          <p:nvPr/>
        </p:nvSpPr>
        <p:spPr>
          <a:xfrm>
            <a:off x="746760" y="3644900"/>
            <a:ext cx="10751334" cy="241300"/>
          </a:xfrm>
          <a:prstGeom prst="rect">
            <a:avLst/>
          </a:prstGeom>
          <a:noFill/>
          <a:ln>
            <a:noFill/>
          </a:ln>
        </p:spPr>
        <p:txBody>
          <a:bodyPr wrap="square" lIns="0" tIns="0" rIns="0" bIns="0" anchor="t">
            <a:noAutofit/>
          </a:bodyPr>
          <a:lstStyle/>
          <a:p>
            <a:pPr algn="l">
              <a:buNone/>
            </a:pPr>
            <a:r>
              <a:rPr lang="mn-MN" sz="1400" dirty="0">
                <a:solidFill>
                  <a:srgbClr val="C8C8CC"/>
                </a:solidFill>
              </a:rPr>
              <a:t>Элсний хэмжээ, мян.м³  </a:t>
            </a:r>
            <a:r>
              <a:rPr lang="en-US" sz="1400" dirty="0">
                <a:solidFill>
                  <a:srgbClr val="C8C8CC"/>
                </a:solidFill>
              </a:rPr>
              <a:t>                                                                                            </a:t>
            </a:r>
            <a:r>
              <a:rPr lang="mn-MN" sz="1400" dirty="0">
                <a:solidFill>
                  <a:srgbClr val="C8C8CC"/>
                </a:solidFill>
              </a:rPr>
              <a:t>· Хөрс хуулалтын дундаж коэффициент </a:t>
            </a:r>
            <a:r>
              <a:rPr lang="mn-MN" sz="1400" b="1" dirty="0">
                <a:solidFill>
                  <a:srgbClr val="F5E614"/>
                </a:solidFill>
              </a:rPr>
              <a:t>0.98 м³/м³</a:t>
            </a:r>
            <a:r>
              <a:rPr lang="en-US" sz="1400" b="1" dirty="0">
                <a:solidFill>
                  <a:srgbClr val="F5E614"/>
                </a:solidFill>
              </a:rPr>
              <a:t>  </a:t>
            </a:r>
            <a:endParaRPr lang="mn-MN" sz="1400" b="1" dirty="0">
              <a:solidFill>
                <a:srgbClr val="F5E614"/>
              </a:solidFill>
            </a:endParaRPr>
          </a:p>
        </p:txBody>
      </p:sp>
    </p:spTree>
    <p:extLst>
      <p:ext uri="{BB962C8B-B14F-4D97-AF65-F5344CB8AC3E}">
        <p14:creationId xmlns:p14="http://schemas.microsoft.com/office/powerpoint/2010/main" val="35199890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270D0-529D-EB33-520E-BC66AA353709}"/>
              </a:ext>
            </a:extLst>
          </p:cNvPr>
          <p:cNvSpPr>
            <a:spLocks noGrp="1"/>
          </p:cNvSpPr>
          <p:nvPr>
            <p:ph type="title"/>
          </p:nvPr>
        </p:nvSpPr>
        <p:spPr/>
        <p:txBody>
          <a:bodyPr>
            <a:normAutofit/>
          </a:bodyPr>
          <a:lstStyle/>
          <a:p>
            <a:r>
              <a:rPr lang="mn-MN" dirty="0"/>
              <a:t>Нөөцийн блокийн байршил</a:t>
            </a:r>
            <a:endParaRPr lang="en-US" dirty="0"/>
          </a:p>
        </p:txBody>
      </p:sp>
      <p:pic>
        <p:nvPicPr>
          <p:cNvPr id="900" name="!!Truck" descr="Автосамосвал"/>
          <p:cNvPicPr>
            <a:picLocks noChangeAspect="1"/>
          </p:cNvPicPr>
          <p:nvPr/>
        </p:nvPicPr>
        <p:blipFill>
          <a:blip r:embed="rId2">
            <a:extLst>
              <a:ext uri="{96DAC541-7B7A-43D3-8B79-37D633B846F1}">
                <asvg:svgBlip xmlns:asvg="http://schemas.microsoft.com/office/drawing/2016/SVG/main" r:embed="rId3"/>
              </a:ext>
            </a:extLst>
          </a:blip>
          <a:srcRect/>
          <a:stretch>
            <a:fillRect/>
          </a:stretch>
        </p:blipFill>
        <p:spPr>
          <a:xfrm>
            <a:off x="2438400" y="6464300"/>
            <a:ext cx="330200" cy="330200"/>
          </a:xfrm>
          <a:prstGeom prst="rect">
            <a:avLst/>
          </a:prstGeom>
        </p:spPr>
      </p:pic>
      <p:pic>
        <p:nvPicPr>
          <p:cNvPr id="3" name="Picture 2">
            <a:extLst>
              <a:ext uri="{FF2B5EF4-FFF2-40B4-BE49-F238E27FC236}">
                <a16:creationId xmlns:a16="http://schemas.microsoft.com/office/drawing/2014/main" id="{4B0615DE-A746-20A8-D075-D4100EA3E7F3}"/>
              </a:ext>
            </a:extLst>
          </p:cNvPr>
          <p:cNvPicPr>
            <a:picLocks noChangeAspect="1"/>
          </p:cNvPicPr>
          <p:nvPr/>
        </p:nvPicPr>
        <p:blipFill>
          <a:blip r:embed="rId4"/>
          <a:srcRect l="3000" t="17000" b="4000"/>
          <a:stretch>
            <a:fillRect/>
          </a:stretch>
        </p:blipFill>
        <p:spPr>
          <a:xfrm>
            <a:off x="609600" y="2032000"/>
            <a:ext cx="6604000" cy="4064000"/>
          </a:xfrm>
          <a:prstGeom prst="rect">
            <a:avLst/>
          </a:prstGeom>
        </p:spPr>
      </p:pic>
      <p:sp>
        <p:nvSpPr>
          <p:cNvPr id="6" name="Reserve legend">
            <a:extLst>
              <a:ext uri="{FF2B5EF4-FFF2-40B4-BE49-F238E27FC236}">
                <a16:creationId xmlns:a16="http://schemas.microsoft.com/office/drawing/2014/main" id="{8C8AA971-F207-4CA7-A1B4-AA827EBB55F5}"/>
              </a:ext>
            </a:extLst>
          </p:cNvPr>
          <p:cNvSpPr txBox="1"/>
          <p:nvPr/>
        </p:nvSpPr>
        <p:spPr>
          <a:xfrm>
            <a:off x="7518400" y="1155700"/>
            <a:ext cx="4064000" cy="1422400"/>
          </a:xfrm>
          <a:prstGeom prst="rect">
            <a:avLst/>
          </a:prstGeom>
          <a:solidFill>
            <a:srgbClr val="2C2C30"/>
          </a:solidFill>
        </p:spPr>
        <p:txBody>
          <a:bodyPr vertOverflow="overflow" vert="horz" wrap="square" lIns="203200" tIns="152400" rIns="203200" bIns="101600" rtlCol="0" anchor="t">
            <a:noAutofit/>
          </a:bodyPr>
          <a:lstStyle/>
          <a:p>
            <a:pPr>
              <a:spcBef>
                <a:spcPts val="0"/>
              </a:spcBef>
              <a:buNone/>
            </a:pPr>
            <a:r>
              <a:rPr lang="mn-MN" sz="1500" b="1" dirty="0">
                <a:solidFill>
                  <a:srgbClr val="F2F2F0"/>
                </a:solidFill>
              </a:rPr>
              <a:t>Тэмдэглэгээ</a:t>
            </a:r>
          </a:p>
          <a:p>
            <a:pPr>
              <a:spcBef>
                <a:spcPts val="500"/>
              </a:spcBef>
              <a:buNone/>
            </a:pPr>
            <a:r>
              <a:rPr lang="mn-MN" sz="1400" b="1" dirty="0">
                <a:solidFill>
                  <a:srgbClr val="E0201B"/>
                </a:solidFill>
              </a:rPr>
              <a:t>■  </a:t>
            </a:r>
            <a:r>
              <a:rPr lang="mn-MN" sz="1400" dirty="0">
                <a:solidFill>
                  <a:srgbClr val="D6D6D8"/>
                </a:solidFill>
              </a:rPr>
              <a:t>Дээд давхарга, B′</a:t>
            </a:r>
          </a:p>
          <a:p>
            <a:pPr>
              <a:spcBef>
                <a:spcPts val="300"/>
              </a:spcBef>
              <a:buNone/>
            </a:pPr>
            <a:r>
              <a:rPr lang="mn-MN" sz="1400" b="1" dirty="0">
                <a:solidFill>
                  <a:srgbClr val="2EC832"/>
                </a:solidFill>
              </a:rPr>
              <a:t>■  </a:t>
            </a:r>
            <a:r>
              <a:rPr lang="mn-MN" sz="1400" dirty="0">
                <a:solidFill>
                  <a:srgbClr val="D6D6D8"/>
                </a:solidFill>
              </a:rPr>
              <a:t>Доод давхарга, B      </a:t>
            </a:r>
            <a:r>
              <a:rPr lang="mn-MN" sz="1400" b="1" dirty="0">
                <a:solidFill>
                  <a:srgbClr val="2030D0"/>
                </a:solidFill>
              </a:rPr>
              <a:t>■  </a:t>
            </a:r>
            <a:r>
              <a:rPr lang="mn-MN" sz="1400" dirty="0">
                <a:solidFill>
                  <a:srgbClr val="D6D6D8"/>
                </a:solidFill>
              </a:rPr>
              <a:t>C нөөц</a:t>
            </a:r>
          </a:p>
          <a:p>
            <a:pPr>
              <a:spcBef>
                <a:spcPts val="600"/>
              </a:spcBef>
              <a:buNone/>
            </a:pPr>
            <a:r>
              <a:rPr lang="mn-MN" sz="1400" dirty="0">
                <a:solidFill>
                  <a:srgbClr val="D6D6D8"/>
                </a:solidFill>
              </a:rPr>
              <a:t>Доголын өндөр: хөрс </a:t>
            </a:r>
            <a:r>
              <a:rPr lang="mn-MN" sz="1400" b="1" dirty="0">
                <a:solidFill>
                  <a:srgbClr val="F2F2F0"/>
                </a:solidFill>
              </a:rPr>
              <a:t>5 м</a:t>
            </a:r>
            <a:r>
              <a:rPr lang="mn-MN" sz="1400" dirty="0">
                <a:solidFill>
                  <a:srgbClr val="D6D6D8"/>
                </a:solidFill>
              </a:rPr>
              <a:t>  ·  элс </a:t>
            </a:r>
            <a:r>
              <a:rPr lang="mn-MN" sz="1400" b="1" dirty="0">
                <a:solidFill>
                  <a:srgbClr val="F2F2F0"/>
                </a:solidFill>
              </a:rPr>
              <a:t>1–5 м</a:t>
            </a:r>
          </a:p>
        </p:txBody>
      </p:sp>
      <p:sp>
        <p:nvSpPr>
          <p:cNvPr id="4" name="Image label">
            <a:extLst>
              <a:ext uri="{FF2B5EF4-FFF2-40B4-BE49-F238E27FC236}">
                <a16:creationId xmlns:a16="http://schemas.microsoft.com/office/drawing/2014/main" id="{4679D926-690F-45E7-82CA-EE7E5279EE88}"/>
              </a:ext>
            </a:extLst>
          </p:cNvPr>
          <p:cNvSpPr txBox="1"/>
          <p:nvPr/>
        </p:nvSpPr>
        <p:spPr>
          <a:xfrm>
            <a:off x="609600" y="1727200"/>
            <a:ext cx="5588000" cy="279400"/>
          </a:xfrm>
          <a:prstGeom prst="rect">
            <a:avLst/>
          </a:prstGeom>
          <a:noFill/>
        </p:spPr>
        <p:txBody>
          <a:bodyPr vertOverflow="overflow" vert="horz" wrap="square" lIns="0" tIns="0" rIns="0" bIns="0" rtlCol="0" anchor="t">
            <a:noAutofit/>
          </a:bodyPr>
          <a:lstStyle/>
          <a:p>
            <a:pPr algn="l"/>
            <a:r>
              <a:rPr lang="mn-MN" sz="1400" b="1">
                <a:solidFill>
                  <a:srgbClr val="D6D6D8"/>
                </a:solidFill>
                <a:latin typeface="Arial"/>
                <a:cs typeface="Arial"/>
              </a:rPr>
              <a:t>Баруун урдаас харагдац</a:t>
            </a:r>
            <a:endParaRPr lang="en-US" sz="1400" b="1">
              <a:solidFill>
                <a:srgbClr val="D6D6D8"/>
              </a:solidFill>
              <a:latin typeface="Arial"/>
              <a:cs typeface="Arial"/>
            </a:endParaRPr>
          </a:p>
        </p:txBody>
      </p:sp>
      <p:sp>
        <p:nvSpPr>
          <p:cNvPr id="5" name="Operating regime">
            <a:extLst>
              <a:ext uri="{FF2B5EF4-FFF2-40B4-BE49-F238E27FC236}">
                <a16:creationId xmlns:a16="http://schemas.microsoft.com/office/drawing/2014/main" id="{1C58B0B8-03D1-DB37-C0A0-C6F3BB780F9C}"/>
              </a:ext>
            </a:extLst>
          </p:cNvPr>
          <p:cNvSpPr txBox="1"/>
          <p:nvPr/>
        </p:nvSpPr>
        <p:spPr>
          <a:xfrm>
            <a:off x="7518400" y="2885524"/>
            <a:ext cx="4064000" cy="2788753"/>
          </a:xfrm>
          <a:prstGeom prst="rect">
            <a:avLst/>
          </a:prstGeom>
          <a:solidFill>
            <a:srgbClr val="2C2C30"/>
          </a:solidFill>
        </p:spPr>
        <p:txBody>
          <a:bodyPr vertOverflow="overflow" vert="horz" wrap="square" lIns="203200" tIns="152400" rIns="203200" bIns="101600" rtlCol="0" anchor="t">
            <a:noAutofit/>
          </a:bodyPr>
          <a:lstStyle/>
          <a:p>
            <a:pPr algn="just"/>
            <a:r>
              <a:rPr lang="mn-MN" sz="1400" dirty="0"/>
              <a:t>Тус орд дээд давхаргатаа бодитой В зэрэглэлийн 7 блок, боломжтой С зэрэглэлийн 2 блок, доод давхаргатаа бодитой В зэрэглэлийн 2 блок, боломжтой С зэрэглэлийн 2 блокоос тус тус бүрдэнэ. Уулын ажлыг явуулахдаа дотоод овоолготой ашиглалтын систем ашиглахыг эрмэлзэж байгаа нь хөрс хуулалтын ажлыг ашиглагдсан орон зайд дотоод овоолго үүсгэх болон процессуудын хоорондын уялдаа холбоог уян хатан байлгах боломжийг бий болгож байгаа юм.</a:t>
            </a:r>
            <a:endParaRPr lang="en-US" sz="1400" dirty="0"/>
          </a:p>
        </p:txBody>
      </p:sp>
    </p:spTree>
    <p:extLst>
      <p:ext uri="{BB962C8B-B14F-4D97-AF65-F5344CB8AC3E}">
        <p14:creationId xmlns:p14="http://schemas.microsoft.com/office/powerpoint/2010/main" val="7836062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93E85-2FC5-2ED6-D8A0-E82B71B852CB}"/>
              </a:ext>
            </a:extLst>
          </p:cNvPr>
          <p:cNvSpPr>
            <a:spLocks noGrp="1"/>
          </p:cNvSpPr>
          <p:nvPr>
            <p:ph type="title"/>
          </p:nvPr>
        </p:nvSpPr>
        <p:spPr/>
        <p:txBody>
          <a:bodyPr/>
          <a:lstStyle/>
          <a:p>
            <a:r>
              <a:rPr lang="mn-MN" dirty="0"/>
              <a:t>Авто тээвэртэй, дотоод болон гадаад овоолготой ашиглалтын систем</a:t>
            </a:r>
            <a:endParaRPr lang="en-US" dirty="0"/>
          </a:p>
        </p:txBody>
      </p:sp>
      <p:sp>
        <p:nvSpPr>
          <p:cNvPr id="34" name="Note bar"/>
          <p:cNvSpPr/>
          <p:nvPr/>
        </p:nvSpPr>
        <p:spPr>
          <a:xfrm>
            <a:off x="609600" y="5613400"/>
            <a:ext cx="50800" cy="660400"/>
          </a:xfrm>
          <a:prstGeom prst="rect">
            <a:avLst/>
          </a:prstGeom>
          <a:solidFill>
            <a:srgbClr val="F5E614"/>
          </a:solidFill>
          <a:ln>
            <a:noFill/>
          </a:ln>
        </p:spPr>
        <p:txBody>
          <a:bodyPr/>
          <a:lstStyle/>
          <a:p>
            <a:endParaRPr lang="mn-MN" dirty="0"/>
          </a:p>
        </p:txBody>
      </p:sp>
      <p:sp>
        <p:nvSpPr>
          <p:cNvPr id="35" name="Note"/>
          <p:cNvSpPr txBox="1"/>
          <p:nvPr/>
        </p:nvSpPr>
        <p:spPr>
          <a:xfrm>
            <a:off x="812800" y="5588000"/>
            <a:ext cx="10769600" cy="736600"/>
          </a:xfrm>
          <a:prstGeom prst="rect">
            <a:avLst/>
          </a:prstGeom>
          <a:noFill/>
          <a:ln>
            <a:noFill/>
          </a:ln>
        </p:spPr>
        <p:txBody>
          <a:bodyPr wrap="square" lIns="0" tIns="0" rIns="0" bIns="0" anchor="ctr">
            <a:noAutofit/>
          </a:bodyPr>
          <a:lstStyle/>
          <a:p>
            <a:pPr algn="l">
              <a:lnSpc>
                <a:spcPct val="105000"/>
              </a:lnSpc>
              <a:buNone/>
            </a:pPr>
            <a:r>
              <a:rPr lang="mn-MN" sz="1500" b="1" dirty="0">
                <a:solidFill>
                  <a:srgbClr val="F2F2F0"/>
                </a:solidFill>
              </a:rPr>
              <a:t>Дотоод овоолготой систем: </a:t>
            </a:r>
            <a:r>
              <a:rPr lang="mn-MN" sz="1500" dirty="0">
                <a:solidFill>
                  <a:srgbClr val="D6D6D8"/>
                </a:solidFill>
              </a:rPr>
              <a:t>ашигласан орон зайг хөрс, галь, эфелээр буцаан дүүргэж, нөхөн сэргээлтийг ашиглалтын эхнээс эхлүүлнэ. Хөрс хуулалтын доголын өндөр 5 м, элс олборлолтын доголын өндөр 1.0–5.0 м.</a:t>
            </a:r>
          </a:p>
        </p:txBody>
      </p:sp>
      <p:pic>
        <p:nvPicPr>
          <p:cNvPr id="900" name="!!Truck" descr="Автосамосвал"/>
          <p:cNvPicPr>
            <a:picLocks noChangeAspect="1"/>
          </p:cNvPicPr>
          <p:nvPr/>
        </p:nvPicPr>
        <p:blipFill>
          <a:blip r:embed="rId2">
            <a:clrChange>
              <a:clrFrom>
                <a:srgbClr val="FFFFFF"/>
              </a:clrFrom>
              <a:clrTo>
                <a:srgbClr val="FFFFFF">
                  <a:alpha val="0"/>
                </a:srgbClr>
              </a:clrTo>
            </a:clrChange>
            <a:extLst>
              <a:ext uri="{96DAC541-7B7A-43D3-8B79-37D633B846F1}">
                <asvg:svgBlip xmlns:asvg="http://schemas.microsoft.com/office/drawing/2016/SVG/main" r:embed="rId3"/>
              </a:ext>
            </a:extLst>
          </a:blip>
          <a:stretch>
            <a:fillRect/>
          </a:stretch>
        </p:blipFill>
        <p:spPr>
          <a:xfrm>
            <a:off x="2895600" y="6464300"/>
            <a:ext cx="330200" cy="330200"/>
          </a:xfrm>
          <a:prstGeom prst="rect">
            <a:avLst/>
          </a:prstGeom>
        </p:spPr>
      </p:pic>
      <p:pic>
        <p:nvPicPr>
          <p:cNvPr id="5" name="Picture 4">
            <a:extLst>
              <a:ext uri="{FF2B5EF4-FFF2-40B4-BE49-F238E27FC236}">
                <a16:creationId xmlns:a16="http://schemas.microsoft.com/office/drawing/2014/main" id="{065163D1-0406-2E87-86F3-B525FE402F18}"/>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9728200" y="3708400"/>
            <a:ext cx="1778000" cy="1308100"/>
          </a:xfrm>
          <a:prstGeom prst="rect">
            <a:avLst/>
          </a:prstGeom>
        </p:spPr>
      </p:pic>
      <p:pic>
        <p:nvPicPr>
          <p:cNvPr id="6" name="Picture 5">
            <a:extLst>
              <a:ext uri="{FF2B5EF4-FFF2-40B4-BE49-F238E27FC236}">
                <a16:creationId xmlns:a16="http://schemas.microsoft.com/office/drawing/2014/main" id="{9E8D975F-3AA2-924D-125E-345C3FCE8493}"/>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9728200" y="1828800"/>
            <a:ext cx="1778000" cy="1346200"/>
          </a:xfrm>
          <a:prstGeom prst="rect">
            <a:avLst/>
          </a:prstGeom>
        </p:spPr>
      </p:pic>
      <p:graphicFrame>
        <p:nvGraphicFramePr>
          <p:cNvPr id="4" name="Mechanization table">
            <a:extLst>
              <a:ext uri="{FF2B5EF4-FFF2-40B4-BE49-F238E27FC236}">
                <a16:creationId xmlns:a16="http://schemas.microsoft.com/office/drawing/2014/main" id="{BD3387CE-3EB3-4357-832C-D276208E2FA8}"/>
              </a:ext>
            </a:extLst>
          </p:cNvPr>
          <p:cNvGraphicFramePr>
            <a:graphicFrameLocks noGrp="1"/>
          </p:cNvGraphicFramePr>
          <p:nvPr>
            <p:extLst>
              <p:ext uri="{D42A27DB-BD31-4B8C-83A1-F6EECF244321}">
                <p14:modId xmlns:p14="http://schemas.microsoft.com/office/powerpoint/2010/main" val="1056683939"/>
              </p:ext>
            </p:extLst>
          </p:nvPr>
        </p:nvGraphicFramePr>
        <p:xfrm>
          <a:off x="609600" y="1727200"/>
          <a:ext cx="4419600" cy="2817520"/>
        </p:xfrm>
        <a:graphic>
          <a:graphicData uri="http://schemas.openxmlformats.org/drawingml/2006/table">
            <a:tbl>
              <a:tblPr/>
              <a:tblGrid>
                <a:gridCol w="1752600">
                  <a:extLst>
                    <a:ext uri="{9D8B030D-6E8A-4147-A177-3AD203B41FA5}">
                      <a16:colId xmlns:a16="http://schemas.microsoft.com/office/drawing/2014/main" val="20000"/>
                    </a:ext>
                  </a:extLst>
                </a:gridCol>
                <a:gridCol w="2235200">
                  <a:extLst>
                    <a:ext uri="{9D8B030D-6E8A-4147-A177-3AD203B41FA5}">
                      <a16:colId xmlns:a16="http://schemas.microsoft.com/office/drawing/2014/main" val="20001"/>
                    </a:ext>
                  </a:extLst>
                </a:gridCol>
                <a:gridCol w="431800">
                  <a:extLst>
                    <a:ext uri="{9D8B030D-6E8A-4147-A177-3AD203B41FA5}">
                      <a16:colId xmlns:a16="http://schemas.microsoft.com/office/drawing/2014/main" val="20002"/>
                    </a:ext>
                  </a:extLst>
                </a:gridCol>
              </a:tblGrid>
              <a:tr h="355600">
                <a:tc>
                  <a:txBody>
                    <a:bodyPr/>
                    <a:lstStyle/>
                    <a:p>
                      <a:pPr algn="l"/>
                      <a:r>
                        <a:rPr lang="mn-MN" sz="1300" b="1" dirty="0">
                          <a:solidFill>
                            <a:srgbClr val="F5E614"/>
                          </a:solidFill>
                        </a:rPr>
                        <a:t>Техник</a:t>
                      </a:r>
                    </a:p>
                  </a:txBody>
                  <a:tcPr marL="0" marT="27000" marB="27000" anchor="ctr">
                    <a:lnL w="0">
                      <a:noFill/>
                    </a:lnL>
                    <a:lnR w="0">
                      <a:noFill/>
                    </a:lnR>
                    <a:lnT w="0">
                      <a:noFill/>
                    </a:lnT>
                    <a:lnB w="19050">
                      <a:solidFill>
                        <a:srgbClr val="F5E614"/>
                      </a:solidFill>
                    </a:lnB>
                    <a:noFill/>
                  </a:tcPr>
                </a:tc>
                <a:tc>
                  <a:txBody>
                    <a:bodyPr/>
                    <a:lstStyle/>
                    <a:p>
                      <a:pPr algn="l"/>
                      <a:r>
                        <a:rPr lang="mn-MN" sz="1300" b="1" dirty="0">
                          <a:solidFill>
                            <a:srgbClr val="F5E614"/>
                          </a:solidFill>
                        </a:rPr>
                        <a:t>Марк, үзүүлэлт</a:t>
                      </a:r>
                    </a:p>
                  </a:txBody>
                  <a:tcPr marT="27000" marB="27000" anchor="ctr">
                    <a:lnL w="0">
                      <a:noFill/>
                    </a:lnL>
                    <a:lnR w="0">
                      <a:noFill/>
                    </a:lnR>
                    <a:lnT w="0">
                      <a:noFill/>
                    </a:lnT>
                    <a:lnB w="19050">
                      <a:solidFill>
                        <a:srgbClr val="F5E614"/>
                      </a:solidFill>
                    </a:lnB>
                    <a:noFill/>
                  </a:tcPr>
                </a:tc>
                <a:tc>
                  <a:txBody>
                    <a:bodyPr/>
                    <a:lstStyle/>
                    <a:p>
                      <a:pPr algn="r"/>
                      <a:r>
                        <a:rPr lang="mn-MN" sz="1300" b="1" dirty="0">
                          <a:solidFill>
                            <a:srgbClr val="F5E614"/>
                          </a:solidFill>
                        </a:rPr>
                        <a:t>Тоо</a:t>
                      </a:r>
                    </a:p>
                  </a:txBody>
                  <a:tcPr marR="0" marT="27000" marB="27000" anchor="ctr">
                    <a:lnL w="0">
                      <a:noFill/>
                    </a:lnL>
                    <a:lnR w="0">
                      <a:noFill/>
                    </a:lnR>
                    <a:lnT w="0">
                      <a:noFill/>
                    </a:lnT>
                    <a:lnB w="19050">
                      <a:solidFill>
                        <a:srgbClr val="F5E614"/>
                      </a:solidFill>
                    </a:lnB>
                    <a:noFill/>
                  </a:tcPr>
                </a:tc>
                <a:extLst>
                  <a:ext uri="{0D108BD9-81ED-4DB2-BD59-A6C34878D82A}">
                    <a16:rowId xmlns:a16="http://schemas.microsoft.com/office/drawing/2014/main" val="10000"/>
                  </a:ext>
                </a:extLst>
              </a:tr>
              <a:tr h="355600">
                <a:tc>
                  <a:txBody>
                    <a:bodyPr/>
                    <a:lstStyle/>
                    <a:p>
                      <a:pPr algn="l"/>
                      <a:r>
                        <a:rPr lang="mn-MN" sz="1400" b="1" dirty="0">
                          <a:solidFill>
                            <a:srgbClr val="F2F2F0"/>
                          </a:solidFill>
                        </a:rPr>
                        <a:t>Экскаватор</a:t>
                      </a:r>
                    </a:p>
                  </a:txBody>
                  <a:tcPr marL="0" marT="27000" marB="27000" anchor="ctr">
                    <a:lnL w="0">
                      <a:noFill/>
                    </a:lnL>
                    <a:lnR w="0">
                      <a:noFill/>
                    </a:lnR>
                    <a:lnT w="19050" cap="flat" cmpd="sng" algn="ctr">
                      <a:solidFill>
                        <a:srgbClr val="F5E614"/>
                      </a:solidFill>
                      <a:prstDash val="solid"/>
                      <a:round/>
                      <a:headEnd type="none" w="med" len="med"/>
                      <a:tailEnd type="none" w="med" len="med"/>
                    </a:lnT>
                    <a:lnB w="9525">
                      <a:solidFill>
                        <a:srgbClr val="3A3A40"/>
                      </a:solidFill>
                    </a:lnB>
                    <a:noFill/>
                  </a:tcPr>
                </a:tc>
                <a:tc>
                  <a:txBody>
                    <a:bodyPr/>
                    <a:lstStyle/>
                    <a:p>
                      <a:pPr algn="l"/>
                      <a:r>
                        <a:rPr lang="mn-MN" sz="1400" b="0" dirty="0">
                          <a:solidFill>
                            <a:srgbClr val="D6D6D8"/>
                          </a:solidFill>
                        </a:rPr>
                        <a:t>XCMG XE215C, 1.4 м³</a:t>
                      </a:r>
                    </a:p>
                  </a:txBody>
                  <a:tcPr marT="27000" marB="27000" anchor="ctr">
                    <a:lnL w="0">
                      <a:noFill/>
                    </a:lnL>
                    <a:lnR w="0">
                      <a:noFill/>
                    </a:lnR>
                    <a:lnT w="19050" cap="flat" cmpd="sng" algn="ctr">
                      <a:solidFill>
                        <a:srgbClr val="F5E614"/>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2</a:t>
                      </a:r>
                    </a:p>
                  </a:txBody>
                  <a:tcPr marR="0" marT="27000" marB="27000" anchor="ctr">
                    <a:lnL w="0">
                      <a:noFill/>
                    </a:lnL>
                    <a:lnR w="0">
                      <a:noFill/>
                    </a:lnR>
                    <a:lnT w="19050" cap="flat" cmpd="sng" algn="ctr">
                      <a:solidFill>
                        <a:srgbClr val="F5E614"/>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1"/>
                  </a:ext>
                </a:extLst>
              </a:tr>
              <a:tr h="355600">
                <a:tc>
                  <a:txBody>
                    <a:bodyPr/>
                    <a:lstStyle/>
                    <a:p>
                      <a:pPr algn="l"/>
                      <a:r>
                        <a:rPr lang="mn-MN" sz="1400" b="1" dirty="0">
                          <a:solidFill>
                            <a:srgbClr val="F2F2F0"/>
                          </a:solidFill>
                        </a:rPr>
                        <a:t>Автосамосвал</a:t>
                      </a:r>
                    </a:p>
                  </a:txBody>
                  <a:tcPr marL="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l"/>
                      <a:r>
                        <a:rPr lang="mn-MN" sz="1400" b="0" dirty="0">
                          <a:solidFill>
                            <a:srgbClr val="D6D6D8"/>
                          </a:solidFill>
                        </a:rPr>
                        <a:t>HOWO, 20 тн</a:t>
                      </a:r>
                    </a:p>
                  </a:txBody>
                  <a:tcPr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4</a:t>
                      </a:r>
                    </a:p>
                  </a:txBody>
                  <a:tcPr marR="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2"/>
                  </a:ext>
                </a:extLst>
              </a:tr>
              <a:tr h="355600">
                <a:tc>
                  <a:txBody>
                    <a:bodyPr/>
                    <a:lstStyle/>
                    <a:p>
                      <a:pPr algn="l"/>
                      <a:r>
                        <a:rPr lang="mn-MN" sz="1400" b="1" dirty="0">
                          <a:solidFill>
                            <a:srgbClr val="F2F2F0"/>
                          </a:solidFill>
                        </a:rPr>
                        <a:t>Бульдозер</a:t>
                      </a:r>
                    </a:p>
                  </a:txBody>
                  <a:tcPr marL="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l"/>
                      <a:r>
                        <a:rPr lang="mn-MN" sz="1400" b="0" dirty="0">
                          <a:solidFill>
                            <a:srgbClr val="D6D6D8"/>
                          </a:solidFill>
                        </a:rPr>
                        <a:t>Shantui SD23</a:t>
                      </a:r>
                    </a:p>
                  </a:txBody>
                  <a:tcPr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1</a:t>
                      </a:r>
                    </a:p>
                  </a:txBody>
                  <a:tcPr marR="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3"/>
                  </a:ext>
                </a:extLst>
              </a:tr>
              <a:tr h="355600">
                <a:tc>
                  <a:txBody>
                    <a:bodyPr/>
                    <a:lstStyle/>
                    <a:p>
                      <a:pPr algn="l"/>
                      <a:r>
                        <a:rPr lang="mn-MN" sz="1400" b="1" dirty="0">
                          <a:solidFill>
                            <a:srgbClr val="F2F2F0"/>
                          </a:solidFill>
                        </a:rPr>
                        <a:t>Утгуурт ачигч</a:t>
                      </a:r>
                    </a:p>
                  </a:txBody>
                  <a:tcPr marL="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l"/>
                      <a:r>
                        <a:rPr lang="mn-MN" sz="1400" b="0" dirty="0">
                          <a:solidFill>
                            <a:srgbClr val="D6D6D8"/>
                          </a:solidFill>
                        </a:rPr>
                        <a:t>XCMG ZL-50, 3 м³</a:t>
                      </a:r>
                    </a:p>
                  </a:txBody>
                  <a:tcPr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1</a:t>
                      </a:r>
                    </a:p>
                  </a:txBody>
                  <a:tcPr marR="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4"/>
                  </a:ext>
                </a:extLst>
              </a:tr>
              <a:tr h="355600">
                <a:tc>
                  <a:txBody>
                    <a:bodyPr/>
                    <a:lstStyle/>
                    <a:p>
                      <a:pPr algn="l"/>
                      <a:r>
                        <a:rPr lang="mn-MN" sz="1400" b="1" dirty="0">
                          <a:solidFill>
                            <a:srgbClr val="F2F2F0"/>
                          </a:solidFill>
                        </a:rPr>
                        <a:t>Түлшний машин</a:t>
                      </a:r>
                    </a:p>
                  </a:txBody>
                  <a:tcPr marL="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l"/>
                      <a:r>
                        <a:rPr lang="mn-MN" sz="1400" b="0" dirty="0">
                          <a:solidFill>
                            <a:srgbClr val="D6D6D8"/>
                          </a:solidFill>
                        </a:rPr>
                        <a:t>HOWO 6×4, 10 м³</a:t>
                      </a:r>
                    </a:p>
                  </a:txBody>
                  <a:tcPr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1</a:t>
                      </a:r>
                    </a:p>
                  </a:txBody>
                  <a:tcPr marR="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5"/>
                  </a:ext>
                </a:extLst>
              </a:tr>
              <a:tr h="355600">
                <a:tc>
                  <a:txBody>
                    <a:bodyPr/>
                    <a:lstStyle/>
                    <a:p>
                      <a:pPr algn="l"/>
                      <a:r>
                        <a:rPr lang="mn-MN" sz="1400" b="1" dirty="0">
                          <a:solidFill>
                            <a:srgbClr val="F2F2F0"/>
                          </a:solidFill>
                        </a:rPr>
                        <a:t>Усалгааны машин</a:t>
                      </a:r>
                    </a:p>
                  </a:txBody>
                  <a:tcPr marL="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l"/>
                      <a:r>
                        <a:rPr lang="mn-MN" sz="1400" b="0" dirty="0">
                          <a:solidFill>
                            <a:srgbClr val="D6D6D8"/>
                          </a:solidFill>
                        </a:rPr>
                        <a:t>HOWO 6×4, 10 м³</a:t>
                      </a:r>
                    </a:p>
                  </a:txBody>
                  <a:tcPr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1</a:t>
                      </a:r>
                    </a:p>
                  </a:txBody>
                  <a:tcPr marR="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6"/>
                  </a:ext>
                </a:extLst>
              </a:tr>
              <a:tr h="0">
                <a:tc>
                  <a:txBody>
                    <a:bodyPr/>
                    <a:lstStyle/>
                    <a:p>
                      <a:pPr algn="l"/>
                      <a:r>
                        <a:rPr lang="mn-MN" sz="1400" b="1" dirty="0">
                          <a:solidFill>
                            <a:srgbClr val="F2F2F0"/>
                          </a:solidFill>
                        </a:rPr>
                        <a:t>Нийт</a:t>
                      </a:r>
                    </a:p>
                  </a:txBody>
                  <a:tcPr marL="0" marT="27000" marB="27000" anchor="ctr">
                    <a:lnL w="0">
                      <a:noFill/>
                    </a:lnL>
                    <a:lnR w="0">
                      <a:noFill/>
                    </a:lnR>
                    <a:lnT w="9525" cap="flat" cmpd="sng" algn="ctr">
                      <a:solidFill>
                        <a:srgbClr val="3A3A40"/>
                      </a:solidFill>
                      <a:prstDash val="solid"/>
                      <a:round/>
                      <a:headEnd type="none" w="med" len="med"/>
                      <a:tailEnd type="none" w="med" len="med"/>
                    </a:lnT>
                    <a:lnB w="0">
                      <a:noFill/>
                    </a:lnB>
                    <a:noFill/>
                  </a:tcPr>
                </a:tc>
                <a:tc>
                  <a:txBody>
                    <a:bodyPr/>
                    <a:lstStyle/>
                    <a:p>
                      <a:pPr algn="l"/>
                      <a:endParaRPr dirty="0"/>
                    </a:p>
                  </a:txBody>
                  <a:tcPr marT="27000" marB="27000" anchor="ctr">
                    <a:lnL w="0">
                      <a:noFill/>
                    </a:lnL>
                    <a:lnR w="0">
                      <a:noFill/>
                    </a:lnR>
                    <a:lnT w="9525" cap="flat" cmpd="sng" algn="ctr">
                      <a:solidFill>
                        <a:srgbClr val="3A3A40"/>
                      </a:solidFill>
                      <a:prstDash val="solid"/>
                      <a:round/>
                      <a:headEnd type="none" w="med" len="med"/>
                      <a:tailEnd type="none" w="med" len="med"/>
                    </a:lnT>
                    <a:lnB w="0">
                      <a:noFill/>
                    </a:lnB>
                    <a:noFill/>
                  </a:tcPr>
                </a:tc>
                <a:tc>
                  <a:txBody>
                    <a:bodyPr/>
                    <a:lstStyle/>
                    <a:p>
                      <a:pPr algn="r"/>
                      <a:r>
                        <a:rPr lang="mn-MN" sz="1400" b="1" dirty="0">
                          <a:solidFill>
                            <a:srgbClr val="F2F2F0"/>
                          </a:solidFill>
                        </a:rPr>
                        <a:t>10</a:t>
                      </a:r>
                    </a:p>
                  </a:txBody>
                  <a:tcPr marR="0" marT="27000" marB="27000" anchor="ctr">
                    <a:lnL w="0">
                      <a:noFill/>
                    </a:lnL>
                    <a:lnR w="0">
                      <a:noFill/>
                    </a:lnR>
                    <a:lnT w="9525" cap="flat" cmpd="sng" algn="ctr">
                      <a:solidFill>
                        <a:srgbClr val="3A3A40"/>
                      </a:solidFill>
                      <a:prstDash val="solid"/>
                      <a:round/>
                      <a:headEnd type="none" w="med" len="med"/>
                      <a:tailEnd type="none" w="med" len="med"/>
                    </a:lnT>
                    <a:lnB w="0">
                      <a:noFill/>
                    </a:lnB>
                    <a:noFill/>
                  </a:tcPr>
                </a:tc>
                <a:extLst>
                  <a:ext uri="{0D108BD9-81ED-4DB2-BD59-A6C34878D82A}">
                    <a16:rowId xmlns:a16="http://schemas.microsoft.com/office/drawing/2014/main" val="10007"/>
                  </a:ext>
                </a:extLst>
              </a:tr>
            </a:tbl>
          </a:graphicData>
        </a:graphic>
      </p:graphicFrame>
      <p:sp>
        <p:nvSpPr>
          <p:cNvPr id="7" name="Photo caption">
            <a:extLst>
              <a:ext uri="{FF2B5EF4-FFF2-40B4-BE49-F238E27FC236}">
                <a16:creationId xmlns:a16="http://schemas.microsoft.com/office/drawing/2014/main" id="{9E6D4280-67B2-48A5-B821-E0AA8F07EB70}"/>
              </a:ext>
            </a:extLst>
          </p:cNvPr>
          <p:cNvSpPr txBox="1"/>
          <p:nvPr/>
        </p:nvSpPr>
        <p:spPr>
          <a:xfrm>
            <a:off x="9550400" y="3225800"/>
            <a:ext cx="2133600" cy="279400"/>
          </a:xfrm>
          <a:prstGeom prst="rect">
            <a:avLst/>
          </a:prstGeom>
          <a:noFill/>
        </p:spPr>
        <p:txBody>
          <a:bodyPr vertOverflow="overflow" vert="horz" wrap="square" lIns="0" tIns="0" rIns="0" bIns="0" rtlCol="0" anchor="t">
            <a:spAutoFit/>
          </a:bodyPr>
          <a:lstStyle/>
          <a:p>
            <a:pPr algn="ctr"/>
            <a:r>
              <a:rPr lang="mn-MN" sz="1400" dirty="0">
                <a:solidFill>
                  <a:srgbClr val="D6D6D8"/>
                </a:solidFill>
              </a:rPr>
              <a:t>XCMG XE215C, 1.4 м³</a:t>
            </a:r>
          </a:p>
        </p:txBody>
      </p:sp>
      <p:sp>
        <p:nvSpPr>
          <p:cNvPr id="8" name="Photo caption">
            <a:extLst>
              <a:ext uri="{FF2B5EF4-FFF2-40B4-BE49-F238E27FC236}">
                <a16:creationId xmlns:a16="http://schemas.microsoft.com/office/drawing/2014/main" id="{6D4D11E4-5A50-4CD4-B103-49637357A3C1}"/>
              </a:ext>
            </a:extLst>
          </p:cNvPr>
          <p:cNvSpPr txBox="1"/>
          <p:nvPr/>
        </p:nvSpPr>
        <p:spPr>
          <a:xfrm>
            <a:off x="9550400" y="5067300"/>
            <a:ext cx="2133600" cy="279400"/>
          </a:xfrm>
          <a:prstGeom prst="rect">
            <a:avLst/>
          </a:prstGeom>
          <a:noFill/>
        </p:spPr>
        <p:txBody>
          <a:bodyPr vertOverflow="overflow" vert="horz" wrap="square" lIns="0" tIns="0" rIns="0" bIns="0" rtlCol="0" anchor="t">
            <a:spAutoFit/>
          </a:bodyPr>
          <a:lstStyle/>
          <a:p>
            <a:pPr algn="ctr"/>
            <a:r>
              <a:rPr lang="mn-MN" sz="1400" dirty="0">
                <a:solidFill>
                  <a:srgbClr val="D6D6D8"/>
                </a:solidFill>
              </a:rPr>
              <a:t>HOWO, 20 тн</a:t>
            </a:r>
          </a:p>
        </p:txBody>
      </p:sp>
      <p:graphicFrame>
        <p:nvGraphicFramePr>
          <p:cNvPr id="9" name="Pit parameters">
            <a:extLst>
              <a:ext uri="{FF2B5EF4-FFF2-40B4-BE49-F238E27FC236}">
                <a16:creationId xmlns:a16="http://schemas.microsoft.com/office/drawing/2014/main" id="{B21A1F8C-3C2D-4515-ABBE-E71D9BBAFAD0}"/>
              </a:ext>
            </a:extLst>
          </p:cNvPr>
          <p:cNvGraphicFramePr>
            <a:graphicFrameLocks noGrp="1"/>
          </p:cNvGraphicFramePr>
          <p:nvPr>
            <p:extLst>
              <p:ext uri="{D42A27DB-BD31-4B8C-83A1-F6EECF244321}">
                <p14:modId xmlns:p14="http://schemas.microsoft.com/office/powerpoint/2010/main" val="3825745742"/>
              </p:ext>
            </p:extLst>
          </p:nvPr>
        </p:nvGraphicFramePr>
        <p:xfrm>
          <a:off x="5257800" y="1727200"/>
          <a:ext cx="4191000" cy="3556000"/>
        </p:xfrm>
        <a:graphic>
          <a:graphicData uri="http://schemas.openxmlformats.org/drawingml/2006/table">
            <a:tbl>
              <a:tblPr/>
              <a:tblGrid>
                <a:gridCol w="2489200">
                  <a:extLst>
                    <a:ext uri="{9D8B030D-6E8A-4147-A177-3AD203B41FA5}">
                      <a16:colId xmlns:a16="http://schemas.microsoft.com/office/drawing/2014/main" val="20000"/>
                    </a:ext>
                  </a:extLst>
                </a:gridCol>
                <a:gridCol w="1701800">
                  <a:extLst>
                    <a:ext uri="{9D8B030D-6E8A-4147-A177-3AD203B41FA5}">
                      <a16:colId xmlns:a16="http://schemas.microsoft.com/office/drawing/2014/main" val="20001"/>
                    </a:ext>
                  </a:extLst>
                </a:gridCol>
              </a:tblGrid>
              <a:tr h="355600">
                <a:tc>
                  <a:txBody>
                    <a:bodyPr/>
                    <a:lstStyle/>
                    <a:p>
                      <a:pPr algn="l"/>
                      <a:r>
                        <a:rPr lang="mn-MN" sz="1300" b="1" dirty="0">
                          <a:solidFill>
                            <a:srgbClr val="F5E614"/>
                          </a:solidFill>
                        </a:rPr>
                        <a:t>Ил уурхайн үзүүлэлт</a:t>
                      </a:r>
                    </a:p>
                  </a:txBody>
                  <a:tcPr marL="0" marT="27000" marB="27000" anchor="ctr">
                    <a:lnL w="0">
                      <a:noFill/>
                    </a:lnL>
                    <a:lnR w="0">
                      <a:noFill/>
                    </a:lnR>
                    <a:lnT w="0">
                      <a:noFill/>
                    </a:lnT>
                    <a:lnB w="19050">
                      <a:solidFill>
                        <a:srgbClr val="F5E614"/>
                      </a:solidFill>
                    </a:lnB>
                    <a:noFill/>
                  </a:tcPr>
                </a:tc>
                <a:tc>
                  <a:txBody>
                    <a:bodyPr/>
                    <a:lstStyle/>
                    <a:p>
                      <a:pPr algn="r"/>
                      <a:r>
                        <a:rPr lang="mn-MN" sz="1300" b="1" dirty="0">
                          <a:solidFill>
                            <a:srgbClr val="F5E614"/>
                          </a:solidFill>
                        </a:rPr>
                        <a:t>Хэмжээ</a:t>
                      </a:r>
                    </a:p>
                  </a:txBody>
                  <a:tcPr marR="0" marT="27000" marB="27000" anchor="ctr">
                    <a:lnL w="0">
                      <a:noFill/>
                    </a:lnL>
                    <a:lnR w="0">
                      <a:noFill/>
                    </a:lnR>
                    <a:lnT w="0">
                      <a:noFill/>
                    </a:lnT>
                    <a:lnB w="19050">
                      <a:solidFill>
                        <a:srgbClr val="F5E614"/>
                      </a:solidFill>
                    </a:lnB>
                    <a:noFill/>
                  </a:tcPr>
                </a:tc>
                <a:extLst>
                  <a:ext uri="{0D108BD9-81ED-4DB2-BD59-A6C34878D82A}">
                    <a16:rowId xmlns:a16="http://schemas.microsoft.com/office/drawing/2014/main" val="10000"/>
                  </a:ext>
                </a:extLst>
              </a:tr>
              <a:tr h="355600">
                <a:tc>
                  <a:txBody>
                    <a:bodyPr/>
                    <a:lstStyle/>
                    <a:p>
                      <a:pPr algn="l"/>
                      <a:r>
                        <a:rPr lang="mn-MN" sz="1400" b="1" dirty="0">
                          <a:solidFill>
                            <a:srgbClr val="F2F2F0"/>
                          </a:solidFill>
                        </a:rPr>
                        <a:t>Элс олборлолт</a:t>
                      </a:r>
                    </a:p>
                  </a:txBody>
                  <a:tcPr marL="0" marT="27000" marB="27000" anchor="ctr">
                    <a:lnL w="0">
                      <a:noFill/>
                    </a:lnL>
                    <a:lnR w="0">
                      <a:noFill/>
                    </a:lnR>
                    <a:lnT w="19050" cap="flat" cmpd="sng" algn="ctr">
                      <a:solidFill>
                        <a:srgbClr val="F5E614"/>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270 мян.м³/жил</a:t>
                      </a:r>
                    </a:p>
                  </a:txBody>
                  <a:tcPr marR="0" marT="27000" marB="27000" anchor="ctr">
                    <a:lnL w="0">
                      <a:noFill/>
                    </a:lnL>
                    <a:lnR w="0">
                      <a:noFill/>
                    </a:lnR>
                    <a:lnT w="19050" cap="flat" cmpd="sng" algn="ctr">
                      <a:solidFill>
                        <a:srgbClr val="F5E614"/>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1"/>
                  </a:ext>
                </a:extLst>
              </a:tr>
              <a:tr h="355600">
                <a:tc>
                  <a:txBody>
                    <a:bodyPr/>
                    <a:lstStyle/>
                    <a:p>
                      <a:pPr algn="l"/>
                      <a:r>
                        <a:rPr lang="mn-MN" sz="1400" b="1" dirty="0">
                          <a:solidFill>
                            <a:srgbClr val="F2F2F0"/>
                          </a:solidFill>
                        </a:rPr>
                        <a:t>Хөрс хуулалт</a:t>
                      </a:r>
                    </a:p>
                  </a:txBody>
                  <a:tcPr marL="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272 мян.м³/жил</a:t>
                      </a:r>
                    </a:p>
                  </a:txBody>
                  <a:tcPr marR="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2"/>
                  </a:ext>
                </a:extLst>
              </a:tr>
              <a:tr h="355600">
                <a:tc>
                  <a:txBody>
                    <a:bodyPr/>
                    <a:lstStyle/>
                    <a:p>
                      <a:pPr algn="l"/>
                      <a:r>
                        <a:rPr lang="mn-MN" sz="1400" b="1" dirty="0">
                          <a:solidFill>
                            <a:srgbClr val="F2F2F0"/>
                          </a:solidFill>
                        </a:rPr>
                        <a:t>Хөрс хуулалтын коэф.</a:t>
                      </a:r>
                    </a:p>
                  </a:txBody>
                  <a:tcPr marL="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0.98 м³/м³</a:t>
                      </a:r>
                    </a:p>
                  </a:txBody>
                  <a:tcPr marR="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3"/>
                  </a:ext>
                </a:extLst>
              </a:tr>
              <a:tr h="355600">
                <a:tc>
                  <a:txBody>
                    <a:bodyPr/>
                    <a:lstStyle/>
                    <a:p>
                      <a:pPr algn="l"/>
                      <a:r>
                        <a:rPr lang="mn-MN" sz="1400" b="1" dirty="0">
                          <a:solidFill>
                            <a:srgbClr val="F2F2F0"/>
                          </a:solidFill>
                        </a:rPr>
                        <a:t>Мөргөцгийн налуу</a:t>
                      </a:r>
                    </a:p>
                  </a:txBody>
                  <a:tcPr marL="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60–65°</a:t>
                      </a:r>
                    </a:p>
                  </a:txBody>
                  <a:tcPr marR="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4"/>
                  </a:ext>
                </a:extLst>
              </a:tr>
              <a:tr h="355600">
                <a:tc>
                  <a:txBody>
                    <a:bodyPr/>
                    <a:lstStyle/>
                    <a:p>
                      <a:pPr algn="l"/>
                      <a:r>
                        <a:rPr lang="mn-MN" sz="1400" b="1" dirty="0">
                          <a:solidFill>
                            <a:srgbClr val="F2F2F0"/>
                          </a:solidFill>
                        </a:rPr>
                        <a:t>Доголын аюулгүйн өргөн</a:t>
                      </a:r>
                    </a:p>
                  </a:txBody>
                  <a:tcPr marL="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12 м</a:t>
                      </a:r>
                    </a:p>
                  </a:txBody>
                  <a:tcPr marR="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5"/>
                  </a:ext>
                </a:extLst>
              </a:tr>
              <a:tr h="355600">
                <a:tc>
                  <a:txBody>
                    <a:bodyPr/>
                    <a:lstStyle/>
                    <a:p>
                      <a:pPr algn="l"/>
                      <a:r>
                        <a:rPr lang="mn-MN" sz="1400" b="1" dirty="0">
                          <a:solidFill>
                            <a:srgbClr val="F2F2F0"/>
                          </a:solidFill>
                        </a:rPr>
                        <a:t>Авто замын өргөн</a:t>
                      </a:r>
                    </a:p>
                  </a:txBody>
                  <a:tcPr marL="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10 м</a:t>
                      </a:r>
                    </a:p>
                  </a:txBody>
                  <a:tcPr marR="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6"/>
                  </a:ext>
                </a:extLst>
              </a:tr>
              <a:tr h="355600">
                <a:tc>
                  <a:txBody>
                    <a:bodyPr/>
                    <a:lstStyle/>
                    <a:p>
                      <a:pPr algn="l"/>
                      <a:r>
                        <a:rPr lang="mn-MN" sz="1400" b="1" dirty="0">
                          <a:solidFill>
                            <a:srgbClr val="F2F2F0"/>
                          </a:solidFill>
                        </a:rPr>
                        <a:t>Авто замын налуу</a:t>
                      </a:r>
                    </a:p>
                  </a:txBody>
                  <a:tcPr marL="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80‰</a:t>
                      </a:r>
                    </a:p>
                  </a:txBody>
                  <a:tcPr marR="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7"/>
                  </a:ext>
                </a:extLst>
              </a:tr>
              <a:tr h="355600">
                <a:tc>
                  <a:txBody>
                    <a:bodyPr/>
                    <a:lstStyle/>
                    <a:p>
                      <a:pPr algn="l"/>
                      <a:r>
                        <a:rPr lang="mn-MN" sz="1400" b="1" dirty="0">
                          <a:solidFill>
                            <a:srgbClr val="F2F2F0"/>
                          </a:solidFill>
                        </a:rPr>
                        <a:t>Ажлын хоног</a:t>
                      </a:r>
                    </a:p>
                  </a:txBody>
                  <a:tcPr marL="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169 хоног/жил</a:t>
                      </a:r>
                    </a:p>
                  </a:txBody>
                  <a:tcPr marR="0" marT="27000" marB="27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8"/>
                  </a:ext>
                </a:extLst>
              </a:tr>
              <a:tr h="355600">
                <a:tc>
                  <a:txBody>
                    <a:bodyPr/>
                    <a:lstStyle/>
                    <a:p>
                      <a:pPr algn="l"/>
                      <a:r>
                        <a:rPr lang="mn-MN" sz="1400" b="1" dirty="0">
                          <a:solidFill>
                            <a:srgbClr val="F2F2F0"/>
                          </a:solidFill>
                        </a:rPr>
                        <a:t>Ээлж</a:t>
                      </a:r>
                    </a:p>
                  </a:txBody>
                  <a:tcPr marL="0" marT="27000" marB="27000" anchor="ctr">
                    <a:lnL w="0">
                      <a:noFill/>
                    </a:lnL>
                    <a:lnR w="0">
                      <a:noFill/>
                    </a:lnR>
                    <a:lnT w="9525" cap="flat" cmpd="sng" algn="ctr">
                      <a:solidFill>
                        <a:srgbClr val="3A3A40"/>
                      </a:solidFill>
                      <a:prstDash val="solid"/>
                      <a:round/>
                      <a:headEnd type="none" w="med" len="med"/>
                      <a:tailEnd type="none" w="med" len="med"/>
                    </a:lnT>
                    <a:lnB w="0">
                      <a:noFill/>
                    </a:lnB>
                    <a:noFill/>
                  </a:tcPr>
                </a:tc>
                <a:tc>
                  <a:txBody>
                    <a:bodyPr/>
                    <a:lstStyle/>
                    <a:p>
                      <a:pPr algn="r"/>
                      <a:r>
                        <a:rPr lang="mn-MN" sz="1400" b="1" dirty="0">
                          <a:solidFill>
                            <a:srgbClr val="F2F2F0"/>
                          </a:solidFill>
                        </a:rPr>
                        <a:t>2 × 12 цаг</a:t>
                      </a:r>
                    </a:p>
                  </a:txBody>
                  <a:tcPr marR="0" marT="27000" marB="27000" anchor="ctr">
                    <a:lnL w="0">
                      <a:noFill/>
                    </a:lnL>
                    <a:lnR w="0">
                      <a:noFill/>
                    </a:lnR>
                    <a:lnT w="9525" cap="flat" cmpd="sng" algn="ctr">
                      <a:solidFill>
                        <a:srgbClr val="3A3A40"/>
                      </a:solidFill>
                      <a:prstDash val="solid"/>
                      <a:round/>
                      <a:headEnd type="none" w="med" len="med"/>
                      <a:tailEnd type="none" w="med" len="med"/>
                    </a:lnT>
                    <a:lnB w="0">
                      <a:noFill/>
                    </a:lnB>
                    <a:noFill/>
                  </a:tcPr>
                </a:tc>
                <a:extLst>
                  <a:ext uri="{0D108BD9-81ED-4DB2-BD59-A6C34878D82A}">
                    <a16:rowId xmlns:a16="http://schemas.microsoft.com/office/drawing/2014/main" val="2855967559"/>
                  </a:ext>
                </a:extLst>
              </a:tr>
            </a:tbl>
          </a:graphicData>
        </a:graphic>
      </p:graphicFrame>
    </p:spTree>
    <p:extLst>
      <p:ext uri="{BB962C8B-B14F-4D97-AF65-F5344CB8AC3E}">
        <p14:creationId xmlns:p14="http://schemas.microsoft.com/office/powerpoint/2010/main" val="35727916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300"/>
                                        <p:tgtEl>
                                          <p:spTgt spid="34"/>
                                        </p:tgtEl>
                                      </p:cBhvr>
                                    </p:animEffect>
                                  </p:childTnLst>
                                </p:cTn>
                              </p:par>
                              <p:par>
                                <p:cTn id="8" presetID="10" presetClass="entr" presetSubtype="0" fill="hold"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93E85-2FC5-2ED6-D8A0-E82B71B852CB}"/>
              </a:ext>
            </a:extLst>
          </p:cNvPr>
          <p:cNvSpPr>
            <a:spLocks noGrp="1"/>
          </p:cNvSpPr>
          <p:nvPr>
            <p:ph type="title"/>
          </p:nvPr>
        </p:nvSpPr>
        <p:spPr/>
        <p:txBody>
          <a:bodyPr/>
          <a:lstStyle/>
          <a:p>
            <a:r>
              <a:rPr lang="mn-MN" dirty="0"/>
              <a:t>Ил уурхайн хүрээ, календарь төлөвлөлт</a:t>
            </a:r>
            <a:endParaRPr lang="en-US" dirty="0"/>
          </a:p>
        </p:txBody>
      </p:sp>
      <p:pic>
        <p:nvPicPr>
          <p:cNvPr id="900" name="!!Truck" descr="Автосамосвал"/>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52800" y="6464300"/>
            <a:ext cx="330200" cy="330200"/>
          </a:xfrm>
          <a:prstGeom prst="rect">
            <a:avLst/>
          </a:prstGeom>
        </p:spPr>
      </p:pic>
      <p:graphicFrame>
        <p:nvGraphicFramePr>
          <p:cNvPr id="6" name="Calendar table">
            <a:extLst>
              <a:ext uri="{FF2B5EF4-FFF2-40B4-BE49-F238E27FC236}">
                <a16:creationId xmlns:a16="http://schemas.microsoft.com/office/drawing/2014/main" id="{8C8D2463-9097-46E2-86B3-B717AF22B2D8}"/>
              </a:ext>
            </a:extLst>
          </p:cNvPr>
          <p:cNvGraphicFramePr>
            <a:graphicFrameLocks noGrp="1"/>
          </p:cNvGraphicFramePr>
          <p:nvPr>
            <p:extLst>
              <p:ext uri="{D42A27DB-BD31-4B8C-83A1-F6EECF244321}">
                <p14:modId xmlns:p14="http://schemas.microsoft.com/office/powerpoint/2010/main" val="4061235304"/>
              </p:ext>
            </p:extLst>
          </p:nvPr>
        </p:nvGraphicFramePr>
        <p:xfrm>
          <a:off x="6636158" y="2921162"/>
          <a:ext cx="4934973" cy="2386032"/>
        </p:xfrm>
        <a:graphic>
          <a:graphicData uri="http://schemas.openxmlformats.org/drawingml/2006/table">
            <a:tbl>
              <a:tblPr/>
              <a:tblGrid>
                <a:gridCol w="538361">
                  <a:extLst>
                    <a:ext uri="{9D8B030D-6E8A-4147-A177-3AD203B41FA5}">
                      <a16:colId xmlns:a16="http://schemas.microsoft.com/office/drawing/2014/main" val="20000"/>
                    </a:ext>
                  </a:extLst>
                </a:gridCol>
                <a:gridCol w="927177">
                  <a:extLst>
                    <a:ext uri="{9D8B030D-6E8A-4147-A177-3AD203B41FA5}">
                      <a16:colId xmlns:a16="http://schemas.microsoft.com/office/drawing/2014/main" val="20001"/>
                    </a:ext>
                  </a:extLst>
                </a:gridCol>
                <a:gridCol w="927177">
                  <a:extLst>
                    <a:ext uri="{9D8B030D-6E8A-4147-A177-3AD203B41FA5}">
                      <a16:colId xmlns:a16="http://schemas.microsoft.com/office/drawing/2014/main" val="20002"/>
                    </a:ext>
                  </a:extLst>
                </a:gridCol>
                <a:gridCol w="657997">
                  <a:extLst>
                    <a:ext uri="{9D8B030D-6E8A-4147-A177-3AD203B41FA5}">
                      <a16:colId xmlns:a16="http://schemas.microsoft.com/office/drawing/2014/main" val="20003"/>
                    </a:ext>
                  </a:extLst>
                </a:gridCol>
                <a:gridCol w="628087">
                  <a:extLst>
                    <a:ext uri="{9D8B030D-6E8A-4147-A177-3AD203B41FA5}">
                      <a16:colId xmlns:a16="http://schemas.microsoft.com/office/drawing/2014/main" val="20004"/>
                    </a:ext>
                  </a:extLst>
                </a:gridCol>
                <a:gridCol w="628087">
                  <a:extLst>
                    <a:ext uri="{9D8B030D-6E8A-4147-A177-3AD203B41FA5}">
                      <a16:colId xmlns:a16="http://schemas.microsoft.com/office/drawing/2014/main" val="20005"/>
                    </a:ext>
                  </a:extLst>
                </a:gridCol>
                <a:gridCol w="628087">
                  <a:extLst>
                    <a:ext uri="{9D8B030D-6E8A-4147-A177-3AD203B41FA5}">
                      <a16:colId xmlns:a16="http://schemas.microsoft.com/office/drawing/2014/main" val="20006"/>
                    </a:ext>
                  </a:extLst>
                </a:gridCol>
              </a:tblGrid>
              <a:tr h="164325">
                <a:tc rowSpan="2">
                  <a:txBody>
                    <a:bodyPr/>
                    <a:lstStyle/>
                    <a:p>
                      <a:pPr algn="l"/>
                      <a:r>
                        <a:rPr lang="mn-MN" sz="1100" b="1" dirty="0">
                          <a:solidFill>
                            <a:srgbClr val="F5E614"/>
                          </a:solidFill>
                        </a:rPr>
                        <a:t>Жил</a:t>
                      </a:r>
                    </a:p>
                  </a:txBody>
                  <a:tcPr marL="38100" marR="38100" marT="0" marB="0" anchor="b">
                    <a:lnL w="0">
                      <a:noFill/>
                    </a:lnL>
                    <a:lnR w="0">
                      <a:noFill/>
                    </a:lnR>
                    <a:lnT w="0">
                      <a:noFill/>
                    </a:lnT>
                    <a:lnB w="19050">
                      <a:solidFill>
                        <a:srgbClr val="F5E614"/>
                      </a:solidFill>
                    </a:lnB>
                    <a:noFill/>
                  </a:tcPr>
                </a:tc>
                <a:tc>
                  <a:txBody>
                    <a:bodyPr/>
                    <a:lstStyle/>
                    <a:p>
                      <a:pPr algn="r"/>
                      <a:r>
                        <a:rPr lang="mn-MN" sz="1100" b="1" dirty="0">
                          <a:solidFill>
                            <a:srgbClr val="F5E614"/>
                          </a:solidFill>
                        </a:rPr>
                        <a:t>Хөрс</a:t>
                      </a:r>
                    </a:p>
                  </a:txBody>
                  <a:tcPr marL="38100" marR="38100" marT="0" marB="0" anchor="b">
                    <a:lnL w="0">
                      <a:noFill/>
                    </a:lnL>
                    <a:lnR w="0">
                      <a:noFill/>
                    </a:lnR>
                    <a:lnT w="0">
                      <a:noFill/>
                    </a:lnT>
                    <a:lnB w="0">
                      <a:noFill/>
                    </a:lnB>
                    <a:noFill/>
                  </a:tcPr>
                </a:tc>
                <a:tc>
                  <a:txBody>
                    <a:bodyPr/>
                    <a:lstStyle/>
                    <a:p>
                      <a:pPr algn="r"/>
                      <a:r>
                        <a:rPr lang="mn-MN" sz="1100" b="1" dirty="0">
                          <a:solidFill>
                            <a:srgbClr val="F5E614"/>
                          </a:solidFill>
                        </a:rPr>
                        <a:t>Элс</a:t>
                      </a:r>
                    </a:p>
                  </a:txBody>
                  <a:tcPr marL="38100" marR="38100" marT="0" marB="0" anchor="b">
                    <a:lnL w="0">
                      <a:noFill/>
                    </a:lnL>
                    <a:lnR w="0">
                      <a:noFill/>
                    </a:lnR>
                    <a:lnT w="0">
                      <a:noFill/>
                    </a:lnT>
                    <a:lnB w="0">
                      <a:noFill/>
                    </a:lnB>
                    <a:noFill/>
                  </a:tcPr>
                </a:tc>
                <a:tc gridSpan="2">
                  <a:txBody>
                    <a:bodyPr/>
                    <a:lstStyle/>
                    <a:p>
                      <a:pPr algn="ctr"/>
                      <a:r>
                        <a:rPr lang="mn-MN" sz="1100" b="1" dirty="0">
                          <a:solidFill>
                            <a:srgbClr val="F5E614"/>
                          </a:solidFill>
                        </a:rPr>
                        <a:t>Агуулга, г/м³</a:t>
                      </a:r>
                    </a:p>
                  </a:txBody>
                  <a:tcPr marL="38100" marR="38100" marT="0" marB="0" anchor="b">
                    <a:lnL w="0">
                      <a:noFill/>
                    </a:lnL>
                    <a:lnR w="0">
                      <a:noFill/>
                    </a:lnR>
                    <a:lnT w="0">
                      <a:noFill/>
                    </a:lnT>
                    <a:lnB w="9525">
                      <a:solidFill>
                        <a:srgbClr val="46464C"/>
                      </a:solidFill>
                    </a:lnB>
                    <a:noFill/>
                  </a:tcPr>
                </a:tc>
                <a:tc hMerge="1">
                  <a:txBody>
                    <a:bodyPr/>
                    <a:lstStyle/>
                    <a:p>
                      <a:endParaRPr lang="mn-MN"/>
                    </a:p>
                  </a:txBody>
                  <a:tcPr/>
                </a:tc>
                <a:tc gridSpan="2">
                  <a:txBody>
                    <a:bodyPr/>
                    <a:lstStyle/>
                    <a:p>
                      <a:pPr algn="ctr"/>
                      <a:r>
                        <a:rPr lang="mn-MN" sz="1100" b="1" dirty="0">
                          <a:solidFill>
                            <a:srgbClr val="F5E614"/>
                          </a:solidFill>
                        </a:rPr>
                        <a:t>Металл, тн</a:t>
                      </a:r>
                    </a:p>
                  </a:txBody>
                  <a:tcPr marL="38100" marR="38100" marT="0" marB="0" anchor="b">
                    <a:lnL w="0">
                      <a:noFill/>
                    </a:lnL>
                    <a:lnR w="0">
                      <a:noFill/>
                    </a:lnR>
                    <a:lnT w="0">
                      <a:noFill/>
                    </a:lnT>
                    <a:lnB w="9525">
                      <a:solidFill>
                        <a:srgbClr val="46464C"/>
                      </a:solidFill>
                    </a:lnB>
                    <a:noFill/>
                  </a:tcPr>
                </a:tc>
                <a:tc hMerge="1">
                  <a:txBody>
                    <a:bodyPr/>
                    <a:lstStyle/>
                    <a:p>
                      <a:endParaRPr lang="mn-MN"/>
                    </a:p>
                  </a:txBody>
                  <a:tcPr/>
                </a:tc>
                <a:extLst>
                  <a:ext uri="{0D108BD9-81ED-4DB2-BD59-A6C34878D82A}">
                    <a16:rowId xmlns:a16="http://schemas.microsoft.com/office/drawing/2014/main" val="10000"/>
                  </a:ext>
                </a:extLst>
              </a:tr>
              <a:tr h="246488">
                <a:tc vMerge="1">
                  <a:txBody>
                    <a:bodyPr/>
                    <a:lstStyle/>
                    <a:p>
                      <a:endParaRPr lang="mn-MN"/>
                    </a:p>
                  </a:txBody>
                  <a:tcPr/>
                </a:tc>
                <a:tc>
                  <a:txBody>
                    <a:bodyPr/>
                    <a:lstStyle/>
                    <a:p>
                      <a:pPr algn="r"/>
                      <a:r>
                        <a:rPr lang="mn-MN" sz="1100" dirty="0">
                          <a:solidFill>
                            <a:srgbClr val="C8C8CC"/>
                          </a:solidFill>
                        </a:rPr>
                        <a:t>м³</a:t>
                      </a:r>
                    </a:p>
                  </a:txBody>
                  <a:tcPr marL="38100" marR="38100" marT="0" marB="0" anchor="b">
                    <a:lnL w="0">
                      <a:noFill/>
                    </a:lnL>
                    <a:lnR w="0">
                      <a:noFill/>
                    </a:lnR>
                    <a:lnT w="0">
                      <a:noFill/>
                    </a:lnT>
                    <a:lnB w="19050">
                      <a:solidFill>
                        <a:srgbClr val="F5E614"/>
                      </a:solidFill>
                    </a:lnB>
                    <a:noFill/>
                  </a:tcPr>
                </a:tc>
                <a:tc>
                  <a:txBody>
                    <a:bodyPr/>
                    <a:lstStyle/>
                    <a:p>
                      <a:pPr algn="r"/>
                      <a:r>
                        <a:rPr lang="mn-MN" sz="1100" dirty="0">
                          <a:solidFill>
                            <a:srgbClr val="C8C8CC"/>
                          </a:solidFill>
                        </a:rPr>
                        <a:t>м³</a:t>
                      </a:r>
                    </a:p>
                  </a:txBody>
                  <a:tcPr marL="38100" marR="38100" marT="0" marB="0" anchor="b">
                    <a:lnL w="0">
                      <a:noFill/>
                    </a:lnL>
                    <a:lnR w="0">
                      <a:noFill/>
                    </a:lnR>
                    <a:lnT w="0">
                      <a:noFill/>
                    </a:lnT>
                    <a:lnB w="19050">
                      <a:solidFill>
                        <a:srgbClr val="F5E614"/>
                      </a:solidFill>
                    </a:lnB>
                    <a:noFill/>
                  </a:tcPr>
                </a:tc>
                <a:tc>
                  <a:txBody>
                    <a:bodyPr/>
                    <a:lstStyle/>
                    <a:p>
                      <a:pPr algn="r"/>
                      <a:r>
                        <a:rPr lang="mn-MN" sz="1100" dirty="0">
                          <a:solidFill>
                            <a:srgbClr val="C8C8CC"/>
                          </a:solidFill>
                        </a:rPr>
                        <a:t>Касс</a:t>
                      </a:r>
                    </a:p>
                  </a:txBody>
                  <a:tcPr marL="38100" marR="38100" marT="0" marB="0" anchor="b">
                    <a:lnL w="0">
                      <a:noFill/>
                    </a:lnL>
                    <a:lnR w="0">
                      <a:noFill/>
                    </a:lnR>
                    <a:lnT w="9525" cap="flat" cmpd="sng" algn="ctr">
                      <a:solidFill>
                        <a:srgbClr val="46464C"/>
                      </a:solidFill>
                      <a:prstDash val="solid"/>
                      <a:round/>
                      <a:headEnd type="none" w="med" len="med"/>
                      <a:tailEnd type="none" w="med" len="med"/>
                    </a:lnT>
                    <a:lnB w="19050">
                      <a:solidFill>
                        <a:srgbClr val="F5E614"/>
                      </a:solidFill>
                    </a:lnB>
                    <a:noFill/>
                  </a:tcPr>
                </a:tc>
                <a:tc>
                  <a:txBody>
                    <a:bodyPr/>
                    <a:lstStyle/>
                    <a:p>
                      <a:pPr algn="r"/>
                      <a:r>
                        <a:rPr lang="mn-MN" sz="1100" dirty="0">
                          <a:solidFill>
                            <a:srgbClr val="C8C8CC"/>
                          </a:solidFill>
                        </a:rPr>
                        <a:t>Вольф</a:t>
                      </a:r>
                    </a:p>
                  </a:txBody>
                  <a:tcPr marL="38100" marR="38100" marT="0" marB="0" anchor="b">
                    <a:lnL w="0">
                      <a:noFill/>
                    </a:lnL>
                    <a:lnR w="0">
                      <a:noFill/>
                    </a:lnR>
                    <a:lnT w="0">
                      <a:noFill/>
                    </a:lnT>
                    <a:lnB w="19050">
                      <a:solidFill>
                        <a:srgbClr val="F5E614"/>
                      </a:solidFill>
                    </a:lnB>
                    <a:noFill/>
                  </a:tcPr>
                </a:tc>
                <a:tc>
                  <a:txBody>
                    <a:bodyPr/>
                    <a:lstStyle/>
                    <a:p>
                      <a:pPr algn="r"/>
                      <a:r>
                        <a:rPr lang="mn-MN" sz="1100" dirty="0">
                          <a:solidFill>
                            <a:srgbClr val="C8C8CC"/>
                          </a:solidFill>
                        </a:rPr>
                        <a:t>Касс</a:t>
                      </a:r>
                    </a:p>
                  </a:txBody>
                  <a:tcPr marL="38100" marR="38100" marT="0" marB="0" anchor="b">
                    <a:lnL w="0">
                      <a:noFill/>
                    </a:lnL>
                    <a:lnR w="0">
                      <a:noFill/>
                    </a:lnR>
                    <a:lnT w="9525" cap="flat" cmpd="sng" algn="ctr">
                      <a:solidFill>
                        <a:srgbClr val="46464C"/>
                      </a:solidFill>
                      <a:prstDash val="solid"/>
                      <a:round/>
                      <a:headEnd type="none" w="med" len="med"/>
                      <a:tailEnd type="none" w="med" len="med"/>
                    </a:lnT>
                    <a:lnB w="19050">
                      <a:solidFill>
                        <a:srgbClr val="F5E614"/>
                      </a:solidFill>
                    </a:lnB>
                    <a:noFill/>
                  </a:tcPr>
                </a:tc>
                <a:tc>
                  <a:txBody>
                    <a:bodyPr/>
                    <a:lstStyle/>
                    <a:p>
                      <a:pPr algn="r"/>
                      <a:r>
                        <a:rPr lang="mn-MN" sz="1100" dirty="0">
                          <a:solidFill>
                            <a:srgbClr val="C8C8CC"/>
                          </a:solidFill>
                        </a:rPr>
                        <a:t>Вольф</a:t>
                      </a:r>
                    </a:p>
                  </a:txBody>
                  <a:tcPr marL="38100" marR="38100" marT="0" marB="0" anchor="b">
                    <a:lnL w="0">
                      <a:noFill/>
                    </a:lnL>
                    <a:lnR w="0">
                      <a:noFill/>
                    </a:lnR>
                    <a:lnT w="0">
                      <a:noFill/>
                    </a:lnT>
                    <a:lnB w="19050">
                      <a:solidFill>
                        <a:srgbClr val="F5E614"/>
                      </a:solidFill>
                    </a:lnB>
                    <a:noFill/>
                  </a:tcPr>
                </a:tc>
                <a:extLst>
                  <a:ext uri="{0D108BD9-81ED-4DB2-BD59-A6C34878D82A}">
                    <a16:rowId xmlns:a16="http://schemas.microsoft.com/office/drawing/2014/main" val="10001"/>
                  </a:ext>
                </a:extLst>
              </a:tr>
              <a:tr h="246488">
                <a:tc>
                  <a:txBody>
                    <a:bodyPr/>
                    <a:lstStyle/>
                    <a:p>
                      <a:pPr algn="l"/>
                      <a:r>
                        <a:rPr lang="mn-MN" sz="1100" b="1" dirty="0">
                          <a:solidFill>
                            <a:srgbClr val="F2F2F0"/>
                          </a:solidFill>
                        </a:rPr>
                        <a:t>1</a:t>
                      </a:r>
                    </a:p>
                  </a:txBody>
                  <a:tcPr marL="38100" marR="38100" marT="0" marB="0" anchor="ctr">
                    <a:lnL w="0">
                      <a:noFill/>
                    </a:lnL>
                    <a:lnR w="0">
                      <a:noFill/>
                    </a:lnR>
                    <a:lnT w="19050" cap="flat" cmpd="sng" algn="ctr">
                      <a:solidFill>
                        <a:srgbClr val="F5E614"/>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228,582</a:t>
                      </a:r>
                    </a:p>
                  </a:txBody>
                  <a:tcPr marL="38100" marR="38100" marT="0" marB="0" anchor="ctr">
                    <a:lnL w="0">
                      <a:noFill/>
                    </a:lnL>
                    <a:lnR w="0">
                      <a:noFill/>
                    </a:lnR>
                    <a:lnT w="19050" cap="flat" cmpd="sng" algn="ctr">
                      <a:solidFill>
                        <a:srgbClr val="F5E614"/>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270,000</a:t>
                      </a:r>
                    </a:p>
                  </a:txBody>
                  <a:tcPr marL="38100" marR="38100" marT="0" marB="0" anchor="ctr">
                    <a:lnL w="0">
                      <a:noFill/>
                    </a:lnL>
                    <a:lnR w="0">
                      <a:noFill/>
                    </a:lnR>
                    <a:lnT w="19050" cap="flat" cmpd="sng" algn="ctr">
                      <a:solidFill>
                        <a:srgbClr val="F5E614"/>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307.45</a:t>
                      </a:r>
                    </a:p>
                  </a:txBody>
                  <a:tcPr marL="38100" marR="38100" marT="0" marB="0" anchor="ctr">
                    <a:lnL w="0">
                      <a:noFill/>
                    </a:lnL>
                    <a:lnR w="0">
                      <a:noFill/>
                    </a:lnR>
                    <a:lnT w="19050" cap="flat" cmpd="sng" algn="ctr">
                      <a:solidFill>
                        <a:srgbClr val="F5E614"/>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27.28</a:t>
                      </a:r>
                    </a:p>
                  </a:txBody>
                  <a:tcPr marL="38100" marR="38100" marT="0" marB="0" anchor="ctr">
                    <a:lnL w="0">
                      <a:noFill/>
                    </a:lnL>
                    <a:lnR w="0">
                      <a:noFill/>
                    </a:lnR>
                    <a:lnT w="19050" cap="flat" cmpd="sng" algn="ctr">
                      <a:solidFill>
                        <a:srgbClr val="F5E614"/>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83.0</a:t>
                      </a:r>
                    </a:p>
                  </a:txBody>
                  <a:tcPr marL="38100" marR="38100" marT="0" marB="0" anchor="ctr">
                    <a:lnL w="0">
                      <a:noFill/>
                    </a:lnL>
                    <a:lnR w="0">
                      <a:noFill/>
                    </a:lnR>
                    <a:lnT w="19050" cap="flat" cmpd="sng" algn="ctr">
                      <a:solidFill>
                        <a:srgbClr val="F5E614"/>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7.4</a:t>
                      </a:r>
                    </a:p>
                  </a:txBody>
                  <a:tcPr marL="38100" marR="38100" marT="0" marB="0" anchor="ctr">
                    <a:lnL w="0">
                      <a:noFill/>
                    </a:lnL>
                    <a:lnR w="0">
                      <a:noFill/>
                    </a:lnR>
                    <a:lnT w="19050" cap="flat" cmpd="sng" algn="ctr">
                      <a:solidFill>
                        <a:srgbClr val="F5E614"/>
                      </a:solidFill>
                      <a:prstDash val="solid"/>
                      <a:round/>
                      <a:headEnd type="none" w="med" len="med"/>
                      <a:tailEnd type="none" w="med" len="med"/>
                    </a:lnT>
                    <a:lnB w="9525">
                      <a:solidFill>
                        <a:srgbClr val="46464C"/>
                      </a:solidFill>
                    </a:lnB>
                    <a:noFill/>
                  </a:tcPr>
                </a:tc>
                <a:extLst>
                  <a:ext uri="{0D108BD9-81ED-4DB2-BD59-A6C34878D82A}">
                    <a16:rowId xmlns:a16="http://schemas.microsoft.com/office/drawing/2014/main" val="10002"/>
                  </a:ext>
                </a:extLst>
              </a:tr>
              <a:tr h="246488">
                <a:tc>
                  <a:txBody>
                    <a:bodyPr/>
                    <a:lstStyle/>
                    <a:p>
                      <a:pPr algn="l"/>
                      <a:r>
                        <a:rPr lang="mn-MN" sz="1100" b="1" dirty="0">
                          <a:solidFill>
                            <a:srgbClr val="F2F2F0"/>
                          </a:solidFill>
                        </a:rPr>
                        <a:t>2</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272,045</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270,000</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322.74</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29.45</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87.1</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8.0</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extLst>
                  <a:ext uri="{0D108BD9-81ED-4DB2-BD59-A6C34878D82A}">
                    <a16:rowId xmlns:a16="http://schemas.microsoft.com/office/drawing/2014/main" val="10003"/>
                  </a:ext>
                </a:extLst>
              </a:tr>
              <a:tr h="246488">
                <a:tc>
                  <a:txBody>
                    <a:bodyPr/>
                    <a:lstStyle/>
                    <a:p>
                      <a:pPr algn="l"/>
                      <a:r>
                        <a:rPr lang="mn-MN" sz="1100" b="1" dirty="0">
                          <a:solidFill>
                            <a:srgbClr val="F2F2F0"/>
                          </a:solidFill>
                        </a:rPr>
                        <a:t>3</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272,045</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270,000</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394.30</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31.31</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106.5</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8.5</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extLst>
                  <a:ext uri="{0D108BD9-81ED-4DB2-BD59-A6C34878D82A}">
                    <a16:rowId xmlns:a16="http://schemas.microsoft.com/office/drawing/2014/main" val="10004"/>
                  </a:ext>
                </a:extLst>
              </a:tr>
              <a:tr h="246488">
                <a:tc>
                  <a:txBody>
                    <a:bodyPr/>
                    <a:lstStyle/>
                    <a:p>
                      <a:pPr algn="l"/>
                      <a:r>
                        <a:rPr lang="mn-MN" sz="1100" b="1" dirty="0">
                          <a:solidFill>
                            <a:srgbClr val="F2F2F0"/>
                          </a:solidFill>
                        </a:rPr>
                        <a:t>4</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272,045</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270,000</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437.39</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42.11</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118.1</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11.4</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extLst>
                  <a:ext uri="{0D108BD9-81ED-4DB2-BD59-A6C34878D82A}">
                    <a16:rowId xmlns:a16="http://schemas.microsoft.com/office/drawing/2014/main" val="10005"/>
                  </a:ext>
                </a:extLst>
              </a:tr>
              <a:tr h="246488">
                <a:tc>
                  <a:txBody>
                    <a:bodyPr/>
                    <a:lstStyle/>
                    <a:p>
                      <a:pPr algn="l"/>
                      <a:r>
                        <a:rPr lang="mn-MN" sz="1100" b="1" dirty="0">
                          <a:solidFill>
                            <a:srgbClr val="F2F2F0"/>
                          </a:solidFill>
                        </a:rPr>
                        <a:t>5</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272,045</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270,000</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422.91</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35.19</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114.2</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9.5</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extLst>
                  <a:ext uri="{0D108BD9-81ED-4DB2-BD59-A6C34878D82A}">
                    <a16:rowId xmlns:a16="http://schemas.microsoft.com/office/drawing/2014/main" val="10006"/>
                  </a:ext>
                </a:extLst>
              </a:tr>
              <a:tr h="246488">
                <a:tc>
                  <a:txBody>
                    <a:bodyPr/>
                    <a:lstStyle/>
                    <a:p>
                      <a:pPr algn="l"/>
                      <a:r>
                        <a:rPr lang="mn-MN" sz="1100" b="1" dirty="0">
                          <a:solidFill>
                            <a:srgbClr val="F2F2F0"/>
                          </a:solidFill>
                        </a:rPr>
                        <a:t>6</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272,045</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270,000</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448.54</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50.37</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121.1</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tc>
                  <a:txBody>
                    <a:bodyPr/>
                    <a:lstStyle/>
                    <a:p>
                      <a:pPr algn="r"/>
                      <a:r>
                        <a:rPr lang="mn-MN" sz="1100" dirty="0">
                          <a:solidFill>
                            <a:srgbClr val="F2F2F0"/>
                          </a:solidFill>
                        </a:rPr>
                        <a:t>13.6</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9525">
                      <a:solidFill>
                        <a:srgbClr val="46464C"/>
                      </a:solidFill>
                    </a:lnB>
                    <a:noFill/>
                  </a:tcPr>
                </a:tc>
                <a:extLst>
                  <a:ext uri="{0D108BD9-81ED-4DB2-BD59-A6C34878D82A}">
                    <a16:rowId xmlns:a16="http://schemas.microsoft.com/office/drawing/2014/main" val="10007"/>
                  </a:ext>
                </a:extLst>
              </a:tr>
              <a:tr h="246488">
                <a:tc>
                  <a:txBody>
                    <a:bodyPr/>
                    <a:lstStyle/>
                    <a:p>
                      <a:pPr algn="l"/>
                      <a:r>
                        <a:rPr lang="mn-MN" sz="1100" b="1" dirty="0">
                          <a:solidFill>
                            <a:srgbClr val="F2F2F0"/>
                          </a:solidFill>
                        </a:rPr>
                        <a:t>7</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19050">
                      <a:solidFill>
                        <a:srgbClr val="F5E614"/>
                      </a:solidFill>
                    </a:lnB>
                    <a:noFill/>
                  </a:tcPr>
                </a:tc>
                <a:tc>
                  <a:txBody>
                    <a:bodyPr/>
                    <a:lstStyle/>
                    <a:p>
                      <a:pPr algn="r"/>
                      <a:r>
                        <a:rPr lang="mn-MN" sz="1100" dirty="0">
                          <a:solidFill>
                            <a:srgbClr val="F2F2F0"/>
                          </a:solidFill>
                        </a:rPr>
                        <a:t>272,045</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19050">
                      <a:solidFill>
                        <a:srgbClr val="F5E614"/>
                      </a:solidFill>
                    </a:lnB>
                    <a:noFill/>
                  </a:tcPr>
                </a:tc>
                <a:tc>
                  <a:txBody>
                    <a:bodyPr/>
                    <a:lstStyle/>
                    <a:p>
                      <a:pPr algn="r"/>
                      <a:r>
                        <a:rPr lang="mn-MN" sz="1100" dirty="0">
                          <a:solidFill>
                            <a:srgbClr val="F2F2F0"/>
                          </a:solidFill>
                        </a:rPr>
                        <a:t>282,911</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19050">
                      <a:solidFill>
                        <a:srgbClr val="F5E614"/>
                      </a:solidFill>
                    </a:lnB>
                    <a:noFill/>
                  </a:tcPr>
                </a:tc>
                <a:tc>
                  <a:txBody>
                    <a:bodyPr/>
                    <a:lstStyle/>
                    <a:p>
                      <a:pPr algn="r"/>
                      <a:r>
                        <a:rPr lang="mn-MN" sz="1100" dirty="0">
                          <a:solidFill>
                            <a:srgbClr val="F2F2F0"/>
                          </a:solidFill>
                        </a:rPr>
                        <a:t>449.15</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19050">
                      <a:solidFill>
                        <a:srgbClr val="F5E614"/>
                      </a:solidFill>
                    </a:lnB>
                    <a:noFill/>
                  </a:tcPr>
                </a:tc>
                <a:tc>
                  <a:txBody>
                    <a:bodyPr/>
                    <a:lstStyle/>
                    <a:p>
                      <a:pPr algn="r"/>
                      <a:r>
                        <a:rPr lang="mn-MN" sz="1100" dirty="0">
                          <a:solidFill>
                            <a:srgbClr val="F2F2F0"/>
                          </a:solidFill>
                        </a:rPr>
                        <a:t>50.68</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19050">
                      <a:solidFill>
                        <a:srgbClr val="F5E614"/>
                      </a:solidFill>
                    </a:lnB>
                    <a:noFill/>
                  </a:tcPr>
                </a:tc>
                <a:tc>
                  <a:txBody>
                    <a:bodyPr/>
                    <a:lstStyle/>
                    <a:p>
                      <a:pPr algn="r"/>
                      <a:r>
                        <a:rPr lang="mn-MN" sz="1100" dirty="0">
                          <a:solidFill>
                            <a:srgbClr val="F2F2F0"/>
                          </a:solidFill>
                        </a:rPr>
                        <a:t>127.1</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19050">
                      <a:solidFill>
                        <a:srgbClr val="F5E614"/>
                      </a:solidFill>
                    </a:lnB>
                    <a:noFill/>
                  </a:tcPr>
                </a:tc>
                <a:tc>
                  <a:txBody>
                    <a:bodyPr/>
                    <a:lstStyle/>
                    <a:p>
                      <a:pPr algn="r"/>
                      <a:r>
                        <a:rPr lang="mn-MN" sz="1100" dirty="0">
                          <a:solidFill>
                            <a:srgbClr val="F2F2F0"/>
                          </a:solidFill>
                        </a:rPr>
                        <a:t>14.3</a:t>
                      </a:r>
                    </a:p>
                  </a:txBody>
                  <a:tcPr marL="38100" marR="38100" marT="0" marB="0" anchor="ctr">
                    <a:lnL w="0">
                      <a:noFill/>
                    </a:lnL>
                    <a:lnR w="0">
                      <a:noFill/>
                    </a:lnR>
                    <a:lnT w="9525" cap="flat" cmpd="sng" algn="ctr">
                      <a:solidFill>
                        <a:srgbClr val="46464C"/>
                      </a:solidFill>
                      <a:prstDash val="solid"/>
                      <a:round/>
                      <a:headEnd type="none" w="med" len="med"/>
                      <a:tailEnd type="none" w="med" len="med"/>
                    </a:lnT>
                    <a:lnB w="19050">
                      <a:solidFill>
                        <a:srgbClr val="F5E614"/>
                      </a:solidFill>
                    </a:lnB>
                    <a:noFill/>
                  </a:tcPr>
                </a:tc>
                <a:extLst>
                  <a:ext uri="{0D108BD9-81ED-4DB2-BD59-A6C34878D82A}">
                    <a16:rowId xmlns:a16="http://schemas.microsoft.com/office/drawing/2014/main" val="10008"/>
                  </a:ext>
                </a:extLst>
              </a:tr>
              <a:tr h="246488">
                <a:tc>
                  <a:txBody>
                    <a:bodyPr/>
                    <a:lstStyle/>
                    <a:p>
                      <a:pPr algn="l"/>
                      <a:r>
                        <a:rPr lang="mn-MN" sz="1100" b="1" dirty="0">
                          <a:solidFill>
                            <a:srgbClr val="F2F2F0"/>
                          </a:solidFill>
                        </a:rPr>
                        <a:t>Нийт</a:t>
                      </a:r>
                    </a:p>
                  </a:txBody>
                  <a:tcPr marL="38100" marR="38100" marT="0" marB="0" anchor="ctr">
                    <a:lnL w="0">
                      <a:noFill/>
                    </a:lnL>
                    <a:lnR w="0">
                      <a:noFill/>
                    </a:lnR>
                    <a:lnT w="19050" cap="flat" cmpd="sng" algn="ctr">
                      <a:solidFill>
                        <a:srgbClr val="F5E614"/>
                      </a:solidFill>
                      <a:prstDash val="solid"/>
                      <a:round/>
                      <a:headEnd type="none" w="med" len="med"/>
                      <a:tailEnd type="none" w="med" len="med"/>
                    </a:lnT>
                    <a:lnB w="0">
                      <a:noFill/>
                    </a:lnB>
                    <a:noFill/>
                  </a:tcPr>
                </a:tc>
                <a:tc>
                  <a:txBody>
                    <a:bodyPr/>
                    <a:lstStyle/>
                    <a:p>
                      <a:pPr algn="r"/>
                      <a:r>
                        <a:rPr lang="mn-MN" sz="1100" b="1" dirty="0">
                          <a:solidFill>
                            <a:srgbClr val="F5E614"/>
                          </a:solidFill>
                        </a:rPr>
                        <a:t>1,860,853</a:t>
                      </a:r>
                    </a:p>
                  </a:txBody>
                  <a:tcPr marL="38100" marR="38100" marT="0" marB="0" anchor="ctr">
                    <a:lnL w="0">
                      <a:noFill/>
                    </a:lnL>
                    <a:lnR w="0">
                      <a:noFill/>
                    </a:lnR>
                    <a:lnT w="19050" cap="flat" cmpd="sng" algn="ctr">
                      <a:solidFill>
                        <a:srgbClr val="F5E614"/>
                      </a:solidFill>
                      <a:prstDash val="solid"/>
                      <a:round/>
                      <a:headEnd type="none" w="med" len="med"/>
                      <a:tailEnd type="none" w="med" len="med"/>
                    </a:lnT>
                    <a:lnB w="0">
                      <a:noFill/>
                    </a:lnB>
                    <a:noFill/>
                  </a:tcPr>
                </a:tc>
                <a:tc>
                  <a:txBody>
                    <a:bodyPr/>
                    <a:lstStyle/>
                    <a:p>
                      <a:pPr algn="r"/>
                      <a:r>
                        <a:rPr lang="mn-MN" sz="1100" b="1" dirty="0">
                          <a:solidFill>
                            <a:srgbClr val="F5E614"/>
                          </a:solidFill>
                        </a:rPr>
                        <a:t>1,902,911</a:t>
                      </a:r>
                    </a:p>
                  </a:txBody>
                  <a:tcPr marL="38100" marR="38100" marT="0" marB="0" anchor="ctr">
                    <a:lnL w="0">
                      <a:noFill/>
                    </a:lnL>
                    <a:lnR w="0">
                      <a:noFill/>
                    </a:lnR>
                    <a:lnT w="19050" cap="flat" cmpd="sng" algn="ctr">
                      <a:solidFill>
                        <a:srgbClr val="F5E614"/>
                      </a:solidFill>
                      <a:prstDash val="solid"/>
                      <a:round/>
                      <a:headEnd type="none" w="med" len="med"/>
                      <a:tailEnd type="none" w="med" len="med"/>
                    </a:lnT>
                    <a:lnB w="0">
                      <a:noFill/>
                    </a:lnB>
                    <a:noFill/>
                  </a:tcPr>
                </a:tc>
                <a:tc>
                  <a:txBody>
                    <a:bodyPr/>
                    <a:lstStyle/>
                    <a:p>
                      <a:pPr algn="r"/>
                      <a:r>
                        <a:rPr lang="mn-MN" sz="1100" b="1" dirty="0">
                          <a:solidFill>
                            <a:srgbClr val="F5E614"/>
                          </a:solidFill>
                        </a:rPr>
                        <a:t>397.85</a:t>
                      </a:r>
                    </a:p>
                  </a:txBody>
                  <a:tcPr marL="38100" marR="38100" marT="0" marB="0" anchor="ctr">
                    <a:lnL w="0">
                      <a:noFill/>
                    </a:lnL>
                    <a:lnR w="0">
                      <a:noFill/>
                    </a:lnR>
                    <a:lnT w="19050" cap="flat" cmpd="sng" algn="ctr">
                      <a:solidFill>
                        <a:srgbClr val="F5E614"/>
                      </a:solidFill>
                      <a:prstDash val="solid"/>
                      <a:round/>
                      <a:headEnd type="none" w="med" len="med"/>
                      <a:tailEnd type="none" w="med" len="med"/>
                    </a:lnT>
                    <a:lnB w="0">
                      <a:noFill/>
                    </a:lnB>
                    <a:noFill/>
                  </a:tcPr>
                </a:tc>
                <a:tc>
                  <a:txBody>
                    <a:bodyPr/>
                    <a:lstStyle/>
                    <a:p>
                      <a:pPr algn="r"/>
                      <a:r>
                        <a:rPr lang="mn-MN" sz="1100" b="1" dirty="0">
                          <a:solidFill>
                            <a:srgbClr val="F5E614"/>
                          </a:solidFill>
                        </a:rPr>
                        <a:t>38.14</a:t>
                      </a:r>
                    </a:p>
                  </a:txBody>
                  <a:tcPr marL="38100" marR="38100" marT="0" marB="0" anchor="ctr">
                    <a:lnL w="0">
                      <a:noFill/>
                    </a:lnL>
                    <a:lnR w="0">
                      <a:noFill/>
                    </a:lnR>
                    <a:lnT w="19050" cap="flat" cmpd="sng" algn="ctr">
                      <a:solidFill>
                        <a:srgbClr val="F5E614"/>
                      </a:solidFill>
                      <a:prstDash val="solid"/>
                      <a:round/>
                      <a:headEnd type="none" w="med" len="med"/>
                      <a:tailEnd type="none" w="med" len="med"/>
                    </a:lnT>
                    <a:lnB w="0">
                      <a:noFill/>
                    </a:lnB>
                    <a:noFill/>
                  </a:tcPr>
                </a:tc>
                <a:tc>
                  <a:txBody>
                    <a:bodyPr/>
                    <a:lstStyle/>
                    <a:p>
                      <a:pPr algn="r"/>
                      <a:r>
                        <a:rPr lang="mn-MN" sz="1100" b="1" dirty="0">
                          <a:solidFill>
                            <a:srgbClr val="F5E614"/>
                          </a:solidFill>
                        </a:rPr>
                        <a:t>757.1</a:t>
                      </a:r>
                    </a:p>
                  </a:txBody>
                  <a:tcPr marL="38100" marR="38100" marT="0" marB="0" anchor="ctr">
                    <a:lnL w="0">
                      <a:noFill/>
                    </a:lnL>
                    <a:lnR w="0">
                      <a:noFill/>
                    </a:lnR>
                    <a:lnT w="19050" cap="flat" cmpd="sng" algn="ctr">
                      <a:solidFill>
                        <a:srgbClr val="F5E614"/>
                      </a:solidFill>
                      <a:prstDash val="solid"/>
                      <a:round/>
                      <a:headEnd type="none" w="med" len="med"/>
                      <a:tailEnd type="none" w="med" len="med"/>
                    </a:lnT>
                    <a:lnB w="0">
                      <a:noFill/>
                    </a:lnB>
                    <a:noFill/>
                  </a:tcPr>
                </a:tc>
                <a:tc>
                  <a:txBody>
                    <a:bodyPr/>
                    <a:lstStyle/>
                    <a:p>
                      <a:pPr algn="r"/>
                      <a:r>
                        <a:rPr lang="mn-MN" sz="1100" b="1" dirty="0">
                          <a:solidFill>
                            <a:srgbClr val="F5E614"/>
                          </a:solidFill>
                        </a:rPr>
                        <a:t>72.6</a:t>
                      </a:r>
                    </a:p>
                  </a:txBody>
                  <a:tcPr marL="38100" marR="38100" marT="0" marB="0" anchor="ctr">
                    <a:lnL w="0">
                      <a:noFill/>
                    </a:lnL>
                    <a:lnR w="0">
                      <a:noFill/>
                    </a:lnR>
                    <a:lnT w="19050" cap="flat" cmpd="sng" algn="ctr">
                      <a:solidFill>
                        <a:srgbClr val="F5E614"/>
                      </a:solidFill>
                      <a:prstDash val="solid"/>
                      <a:round/>
                      <a:headEnd type="none" w="med" len="med"/>
                      <a:tailEnd type="none" w="med" len="med"/>
                    </a:lnT>
                    <a:lnB w="0">
                      <a:noFill/>
                    </a:lnB>
                    <a:noFill/>
                  </a:tcPr>
                </a:tc>
                <a:extLst>
                  <a:ext uri="{0D108BD9-81ED-4DB2-BD59-A6C34878D82A}">
                    <a16:rowId xmlns:a16="http://schemas.microsoft.com/office/drawing/2014/main" val="10009"/>
                  </a:ext>
                </a:extLst>
              </a:tr>
            </a:tbl>
          </a:graphicData>
        </a:graphic>
      </p:graphicFrame>
      <p:sp>
        <p:nvSpPr>
          <p:cNvPr id="5" name="TextBox 4">
            <a:extLst>
              <a:ext uri="{FF2B5EF4-FFF2-40B4-BE49-F238E27FC236}">
                <a16:creationId xmlns:a16="http://schemas.microsoft.com/office/drawing/2014/main" id="{69B431FF-81DF-D8E5-C15E-1A6C51084AE6}"/>
              </a:ext>
            </a:extLst>
          </p:cNvPr>
          <p:cNvSpPr txBox="1"/>
          <p:nvPr/>
        </p:nvSpPr>
        <p:spPr>
          <a:xfrm>
            <a:off x="6636158" y="1929305"/>
            <a:ext cx="4934972" cy="814518"/>
          </a:xfrm>
          <a:prstGeom prst="rect">
            <a:avLst/>
          </a:prstGeom>
          <a:noFill/>
        </p:spPr>
        <p:txBody>
          <a:bodyPr wrap="square">
            <a:spAutoFit/>
          </a:bodyPr>
          <a:lstStyle/>
          <a:p>
            <a:pPr marL="0" marR="0" indent="457200" algn="just">
              <a:lnSpc>
                <a:spcPct val="115000"/>
              </a:lnSpc>
              <a:spcAft>
                <a:spcPts val="1000"/>
              </a:spcAft>
              <a:buNone/>
            </a:pPr>
            <a:r>
              <a:rPr lang="mn-MN" sz="1400" dirty="0">
                <a:effectLst/>
                <a:latin typeface="Arial" panose="020B0604020202020204" pitchFamily="34" charset="0"/>
                <a:ea typeface="Calibri" panose="020F0502020204030204" pitchFamily="34" charset="0"/>
                <a:cs typeface="Times New Roman" panose="02020603050405020304" pitchFamily="18" charset="0"/>
              </a:rPr>
              <a:t>Ил уурхай нь жилд тогтмол 270 мян.м3 элс олборлох хүчин чадалтайгаар нийт 7 жил үйл ажиллагаа явуулахаар төлөвлөж байна.</a:t>
            </a:r>
            <a:endParaRPr lang="en-US" sz="1400" dirty="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96BED37C-3A2A-F872-743A-72914AE9480E}"/>
              </a:ext>
            </a:extLst>
          </p:cNvPr>
          <p:cNvPicPr>
            <a:picLocks noChangeAspect="1"/>
          </p:cNvPicPr>
          <p:nvPr/>
        </p:nvPicPr>
        <p:blipFill>
          <a:blip r:embed="rId4"/>
          <a:stretch>
            <a:fillRect/>
          </a:stretch>
        </p:blipFill>
        <p:spPr>
          <a:xfrm>
            <a:off x="254922" y="2133624"/>
            <a:ext cx="5841078" cy="3263555"/>
          </a:xfrm>
          <a:prstGeom prst="rect">
            <a:avLst/>
          </a:prstGeom>
        </p:spPr>
      </p:pic>
    </p:spTree>
    <p:extLst>
      <p:ext uri="{BB962C8B-B14F-4D97-AF65-F5344CB8AC3E}">
        <p14:creationId xmlns:p14="http://schemas.microsoft.com/office/powerpoint/2010/main" val="18521232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8C16F-1790-F0C6-4F79-A19B9873E1F8}"/>
              </a:ext>
            </a:extLst>
          </p:cNvPr>
          <p:cNvSpPr>
            <a:spLocks noGrp="1"/>
          </p:cNvSpPr>
          <p:nvPr>
            <p:ph type="title"/>
          </p:nvPr>
        </p:nvSpPr>
        <p:spPr/>
        <p:txBody>
          <a:bodyPr/>
          <a:lstStyle/>
          <a:p>
            <a:r>
              <a:rPr lang="mn-MN" dirty="0"/>
              <a:t>Технологи туршилтын үр дүн</a:t>
            </a:r>
            <a:endParaRPr lang="en-US" dirty="0"/>
          </a:p>
        </p:txBody>
      </p:sp>
      <p:pic>
        <p:nvPicPr>
          <p:cNvPr id="900" name="!!Truck" descr="Автосамосвал"/>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0000" y="6464300"/>
            <a:ext cx="330200" cy="330200"/>
          </a:xfrm>
          <a:prstGeom prst="rect">
            <a:avLst/>
          </a:prstGeom>
        </p:spPr>
      </p:pic>
      <p:pic>
        <p:nvPicPr>
          <p:cNvPr id="101" name="Picture 101" descr="Касситеритийн микроскопын зураг"/>
          <p:cNvPicPr>
            <a:picLocks noChangeAspect="1"/>
          </p:cNvPicPr>
          <p:nvPr/>
        </p:nvPicPr>
        <p:blipFill>
          <a:blip r:embed="rId4"/>
          <a:srcRect l="15900" t="0" r="15900" b="0"/>
          <a:stretch>
            <a:fillRect/>
          </a:stretch>
        </p:blipFill>
        <p:spPr>
          <a:xfrm>
            <a:off x="548640" y="1691640"/>
            <a:ext cx="2697480" cy="2514600"/>
          </a:xfrm>
          <a:prstGeom prst="roundRect">
            <a:avLst>
              <a:gd name="adj" fmla="val 5000"/>
            </a:avLst>
          </a:prstGeom>
        </p:spPr>
      </p:pic>
      <p:pic>
        <p:nvPicPr>
          <p:cNvPr id="102" name="Picture 102" descr="Вольфрамитын микроскопын зураг"/>
          <p:cNvPicPr>
            <a:picLocks noChangeAspect="1"/>
          </p:cNvPicPr>
          <p:nvPr/>
        </p:nvPicPr>
        <p:blipFill>
          <a:blip r:embed="rId5"/>
          <a:srcRect l="18900" t="0" r="18900" b="0"/>
          <a:stretch>
            <a:fillRect/>
          </a:stretch>
        </p:blipFill>
        <p:spPr>
          <a:xfrm>
            <a:off x="3337560" y="1691640"/>
            <a:ext cx="2697480" cy="2514600"/>
          </a:xfrm>
          <a:prstGeom prst="roundRect">
            <a:avLst>
              <a:gd name="adj" fmla="val 5000"/>
            </a:avLst>
          </a:prstGeom>
        </p:spPr>
      </p:pic>
      <p:sp>
        <p:nvSpPr>
          <p:cNvPr id="103" name="Box 103"/>
          <p:cNvSpPr/>
          <p:nvPr/>
        </p:nvSpPr>
        <p:spPr>
          <a:xfrm>
            <a:off x="658368" y="3749040"/>
            <a:ext cx="1828800" cy="347472"/>
          </a:xfrm>
          <a:prstGeom prst="roundRect">
            <a:avLst>
              <a:gd name="adj" fmla="val 8000"/>
            </a:avLst>
          </a:prstGeom>
          <a:solidFill>
            <a:srgbClr val="1B1B1F"/>
          </a:solidFill>
          <a:ln>
            <a:noFill/>
          </a:ln>
        </p:spPr>
        <p:txBody>
          <a:bodyPr wrap="square" lIns="91440" tIns="0" rIns="91440" bIns="0" anchor="ctr">
            <a:normAutofit/>
          </a:bodyPr>
          <a:lstStyle/>
          <a:p>
            <a:pPr algn="l">
              <a:spcBef>
                <a:spcPts val="0"/>
              </a:spcBef>
            </a:pPr>
            <a:r>
              <a:rPr lang="mn-MN" sz="1200" b="1" dirty="0">
                <a:solidFill>
                  <a:srgbClr val="F5E614"/>
                </a:solidFill>
                <a:latin typeface="Arial"/>
                <a:cs typeface="Arial"/>
              </a:rPr>
              <a:t>Касситерит · SnO₂</a:t>
            </a:r>
          </a:p>
        </p:txBody>
      </p:sp>
      <p:sp>
        <p:nvSpPr>
          <p:cNvPr id="104" name="Box 104"/>
          <p:cNvSpPr/>
          <p:nvPr/>
        </p:nvSpPr>
        <p:spPr>
          <a:xfrm>
            <a:off x="3447288" y="3749040"/>
            <a:ext cx="1828800" cy="347472"/>
          </a:xfrm>
          <a:prstGeom prst="roundRect">
            <a:avLst>
              <a:gd name="adj" fmla="val 8000"/>
            </a:avLst>
          </a:prstGeom>
          <a:solidFill>
            <a:srgbClr val="1B1B1F"/>
          </a:solidFill>
          <a:ln>
            <a:noFill/>
          </a:ln>
        </p:spPr>
        <p:txBody>
          <a:bodyPr wrap="square" lIns="91440" tIns="0" rIns="91440" bIns="0" anchor="ctr">
            <a:normAutofit/>
          </a:bodyPr>
          <a:lstStyle/>
          <a:p>
            <a:pPr algn="l">
              <a:spcBef>
                <a:spcPts val="0"/>
              </a:spcBef>
            </a:pPr>
            <a:r>
              <a:rPr lang="mn-MN" sz="1200" b="1" dirty="0">
                <a:solidFill>
                  <a:srgbClr val="8DB8D6"/>
                </a:solidFill>
                <a:latin typeface="Arial"/>
                <a:cs typeface="Arial"/>
              </a:rPr>
              <a:t>Вольфрамит · WO₃</a:t>
            </a:r>
          </a:p>
        </p:txBody>
      </p:sp>
      <p:sp>
        <p:nvSpPr>
          <p:cNvPr id="105" name="Box 105"/>
          <p:cNvSpPr txBox="1"/>
          <p:nvPr/>
        </p:nvSpPr>
        <p:spPr>
          <a:xfrm>
            <a:off x="548640" y="4343400"/>
            <a:ext cx="5486400" cy="685800"/>
          </a:xfrm>
          <a:prstGeom prst="rect">
            <a:avLst/>
          </a:prstGeom>
          <a:noFill/>
          <a:ln>
            <a:noFill/>
          </a:ln>
        </p:spPr>
        <p:txBody>
          <a:bodyPr wrap="square" lIns="0" tIns="0" rIns="0" bIns="0" anchor="t">
            <a:normAutofit/>
          </a:bodyPr>
          <a:lstStyle/>
          <a:p>
            <a:pPr algn="l">
              <a:spcBef>
                <a:spcPts val="0"/>
              </a:spcBef>
            </a:pPr>
            <a:r>
              <a:rPr lang="mn-MN" sz="1200" b="0" dirty="0">
                <a:solidFill>
                  <a:srgbClr val="A8A8AE"/>
                </a:solidFill>
                <a:latin typeface="Arial"/>
                <a:cs typeface="Arial"/>
              </a:rPr>
              <a:t>Туршилт: </a:t>
            </a:r>
            <a:r>
              <a:rPr lang="mn-MN" sz="1200" b="0" dirty="0">
                <a:solidFill>
                  <a:srgbClr val="F2F2F0"/>
                </a:solidFill>
                <a:latin typeface="Arial"/>
                <a:cs typeface="Arial"/>
              </a:rPr>
              <a:t>ШУА ХХТХ, Эрдсийн технологийн төв, 2016</a:t>
            </a:r>
          </a:p>
          <a:p>
            <a:pPr algn="l">
              <a:spcBef>
                <a:spcPts val="500"/>
              </a:spcBef>
            </a:pPr>
            <a:r>
              <a:rPr lang="mn-MN" sz="1200" b="1" dirty="0">
                <a:solidFill>
                  <a:srgbClr val="F5E614"/>
                </a:solidFill>
                <a:latin typeface="Arial"/>
                <a:cs typeface="Arial"/>
              </a:rPr>
              <a:t>−20 мм → тунаах машин → сэгсрэх ширээ → соронзон сепаратор</a:t>
            </a:r>
          </a:p>
        </p:txBody>
      </p:sp>
      <p:sp>
        <p:nvSpPr>
          <p:cNvPr id="106" name="Box 106"/>
          <p:cNvSpPr/>
          <p:nvPr/>
        </p:nvSpPr>
        <p:spPr>
          <a:xfrm>
            <a:off x="548640" y="5138928"/>
            <a:ext cx="5486400" cy="1005840"/>
          </a:xfrm>
          <a:prstGeom prst="roundRect">
            <a:avLst>
              <a:gd name="adj" fmla="val 8000"/>
            </a:avLst>
          </a:prstGeom>
          <a:solidFill>
            <a:srgbClr val="2A2A30"/>
          </a:solidFill>
          <a:ln w="9525">
            <a:solidFill>
              <a:srgbClr val="3A3A40"/>
            </a:solidFill>
          </a:ln>
        </p:spPr>
        <p:txBody>
          <a:bodyPr wrap="square" lIns="0" tIns="0" rIns="0" bIns="0" anchor="t">
            <a:normAutofit/>
          </a:bodyPr>
          <a:lstStyle/>
          <a:p>
            <a:endParaRPr lang="mn-MN" sz="1000"/>
          </a:p>
        </p:txBody>
      </p:sp>
      <p:sp>
        <p:nvSpPr>
          <p:cNvPr id="107" name="Box 107"/>
          <p:cNvSpPr txBox="1"/>
          <p:nvPr/>
        </p:nvSpPr>
        <p:spPr>
          <a:xfrm>
            <a:off x="731520" y="5193792"/>
            <a:ext cx="5120640" cy="274320"/>
          </a:xfrm>
          <a:prstGeom prst="rect">
            <a:avLst/>
          </a:prstGeom>
          <a:noFill/>
          <a:ln>
            <a:noFill/>
          </a:ln>
        </p:spPr>
        <p:txBody>
          <a:bodyPr wrap="square" lIns="0" tIns="0" rIns="0" bIns="0" anchor="t">
            <a:normAutofit/>
          </a:bodyPr>
          <a:lstStyle/>
          <a:p>
            <a:pPr algn="l">
              <a:spcBef>
                <a:spcPts val="0"/>
              </a:spcBef>
            </a:pPr>
            <a:r>
              <a:rPr lang="mn-MN" sz="1000" b="1" dirty="0">
                <a:solidFill>
                  <a:srgbClr val="A8A8AE"/>
                </a:solidFill>
                <a:latin typeface="Arial"/>
                <a:cs typeface="Arial"/>
              </a:rPr>
              <a:t>УСНЫ ТЭНЦЭЛ, ЖИЛД  ·  270 мян.м³ элс × 4 м³ ус</a:t>
            </a:r>
          </a:p>
        </p:txBody>
      </p:sp>
      <p:sp>
        <p:nvSpPr>
          <p:cNvPr id="108" name="Box 108"/>
          <p:cNvSpPr txBox="1"/>
          <p:nvPr/>
        </p:nvSpPr>
        <p:spPr>
          <a:xfrm>
            <a:off x="731520" y="5468112"/>
            <a:ext cx="1691640" cy="658368"/>
          </a:xfrm>
          <a:prstGeom prst="rect">
            <a:avLst/>
          </a:prstGeom>
          <a:noFill/>
          <a:ln>
            <a:noFill/>
          </a:ln>
        </p:spPr>
        <p:txBody>
          <a:bodyPr wrap="square" lIns="0" tIns="0" rIns="0" bIns="0" anchor="t">
            <a:normAutofit/>
          </a:bodyPr>
          <a:lstStyle/>
          <a:p>
            <a:pPr algn="l">
              <a:spcBef>
                <a:spcPts val="0"/>
              </a:spcBef>
            </a:pPr>
            <a:r>
              <a:rPr lang="mn-MN" sz="2000" b="1" dirty="0">
                <a:solidFill>
                  <a:srgbClr val="F2F2F0"/>
                </a:solidFill>
                <a:latin typeface="Arial"/>
                <a:cs typeface="Arial"/>
              </a:rPr>
              <a:t>1,080.00</a:t>
            </a:r>
          </a:p>
          <a:p>
            <a:pPr algn="l">
              <a:spcBef>
                <a:spcPts val="0"/>
              </a:spcBef>
            </a:pPr>
            <a:r>
              <a:rPr lang="mn-MN" sz="1000" b="0" dirty="0">
                <a:solidFill>
                  <a:srgbClr val="A8A8AE"/>
                </a:solidFill>
                <a:latin typeface="Arial"/>
                <a:cs typeface="Arial"/>
              </a:rPr>
              <a:t>мян.м³ шаардлага</a:t>
            </a:r>
          </a:p>
        </p:txBody>
      </p:sp>
      <p:sp>
        <p:nvSpPr>
          <p:cNvPr id="109" name="Box 109"/>
          <p:cNvSpPr txBox="1"/>
          <p:nvPr/>
        </p:nvSpPr>
        <p:spPr>
          <a:xfrm>
            <a:off x="2468880" y="5468112"/>
            <a:ext cx="1691640" cy="658368"/>
          </a:xfrm>
          <a:prstGeom prst="rect">
            <a:avLst/>
          </a:prstGeom>
          <a:noFill/>
          <a:ln>
            <a:noFill/>
          </a:ln>
        </p:spPr>
        <p:txBody>
          <a:bodyPr wrap="square" lIns="0" tIns="0" rIns="0" bIns="0" anchor="t">
            <a:normAutofit/>
          </a:bodyPr>
          <a:lstStyle/>
          <a:p>
            <a:pPr algn="l">
              <a:spcBef>
                <a:spcPts val="0"/>
              </a:spcBef>
            </a:pPr>
            <a:r>
              <a:rPr lang="mn-MN" sz="2000" b="1" dirty="0">
                <a:solidFill>
                  <a:srgbClr val="8DB8D6"/>
                </a:solidFill>
                <a:latin typeface="Arial"/>
                <a:cs typeface="Arial"/>
              </a:rPr>
              <a:t>810.00</a:t>
            </a:r>
          </a:p>
          <a:p>
            <a:pPr algn="l">
              <a:spcBef>
                <a:spcPts val="0"/>
              </a:spcBef>
            </a:pPr>
            <a:r>
              <a:rPr lang="mn-MN" sz="1000" b="0" dirty="0">
                <a:solidFill>
                  <a:srgbClr val="A8A8AE"/>
                </a:solidFill>
                <a:latin typeface="Arial"/>
                <a:cs typeface="Arial"/>
              </a:rPr>
              <a:t>эргэлтийн ус, 75%</a:t>
            </a:r>
          </a:p>
        </p:txBody>
      </p:sp>
      <p:sp>
        <p:nvSpPr>
          <p:cNvPr id="110" name="Box 110"/>
          <p:cNvSpPr txBox="1"/>
          <p:nvPr/>
        </p:nvSpPr>
        <p:spPr>
          <a:xfrm>
            <a:off x="4206240" y="5468112"/>
            <a:ext cx="1691640" cy="658368"/>
          </a:xfrm>
          <a:prstGeom prst="rect">
            <a:avLst/>
          </a:prstGeom>
          <a:noFill/>
          <a:ln>
            <a:noFill/>
          </a:ln>
        </p:spPr>
        <p:txBody>
          <a:bodyPr wrap="square" lIns="0" tIns="0" rIns="0" bIns="0" anchor="t">
            <a:normAutofit/>
          </a:bodyPr>
          <a:lstStyle/>
          <a:p>
            <a:pPr algn="l">
              <a:spcBef>
                <a:spcPts val="0"/>
              </a:spcBef>
            </a:pPr>
            <a:r>
              <a:rPr lang="mn-MN" sz="2000" b="1" dirty="0">
                <a:solidFill>
                  <a:srgbClr val="F2F2F0"/>
                </a:solidFill>
                <a:latin typeface="Arial"/>
                <a:cs typeface="Arial"/>
              </a:rPr>
              <a:t>270.00</a:t>
            </a:r>
          </a:p>
          <a:p>
            <a:pPr algn="l">
              <a:spcBef>
                <a:spcPts val="0"/>
              </a:spcBef>
            </a:pPr>
            <a:r>
              <a:rPr lang="mn-MN" sz="1000" b="0" dirty="0">
                <a:solidFill>
                  <a:srgbClr val="A8A8AE"/>
                </a:solidFill>
                <a:latin typeface="Arial"/>
                <a:cs typeface="Arial"/>
              </a:rPr>
              <a:t>цэвэр ус, 25%</a:t>
            </a:r>
          </a:p>
        </p:txBody>
      </p:sp>
      <p:sp>
        <p:nvSpPr>
          <p:cNvPr id="111" name="Box 111"/>
          <p:cNvSpPr/>
          <p:nvPr/>
        </p:nvSpPr>
        <p:spPr>
          <a:xfrm>
            <a:off x="6400800" y="1691640"/>
            <a:ext cx="5257800" cy="2103120"/>
          </a:xfrm>
          <a:prstGeom prst="roundRect">
            <a:avLst>
              <a:gd name="adj" fmla="val 8000"/>
            </a:avLst>
          </a:prstGeom>
          <a:solidFill>
            <a:srgbClr val="2A2A30"/>
          </a:solidFill>
          <a:ln w="9525">
            <a:solidFill>
              <a:srgbClr val="3A3A40"/>
            </a:solidFill>
          </a:ln>
        </p:spPr>
        <p:txBody>
          <a:bodyPr wrap="square" lIns="0" tIns="0" rIns="0" bIns="0" anchor="t">
            <a:normAutofit/>
          </a:bodyPr>
          <a:lstStyle/>
          <a:p>
            <a:endParaRPr lang="mn-MN" sz="1000"/>
          </a:p>
        </p:txBody>
      </p:sp>
      <p:sp>
        <p:nvSpPr>
          <p:cNvPr id="112" name="Box 112"/>
          <p:cNvSpPr txBox="1"/>
          <p:nvPr/>
        </p:nvSpPr>
        <p:spPr>
          <a:xfrm>
            <a:off x="6675120" y="1856232"/>
            <a:ext cx="4754880" cy="1828800"/>
          </a:xfrm>
          <a:prstGeom prst="rect">
            <a:avLst/>
          </a:prstGeom>
          <a:noFill/>
          <a:ln>
            <a:noFill/>
          </a:ln>
        </p:spPr>
        <p:txBody>
          <a:bodyPr wrap="square" lIns="0" tIns="0" rIns="0" bIns="0" anchor="t">
            <a:normAutofit/>
          </a:bodyPr>
          <a:lstStyle/>
          <a:p>
            <a:pPr algn="l">
              <a:spcBef>
                <a:spcPts val="0"/>
              </a:spcBef>
            </a:pPr>
            <a:r>
              <a:rPr lang="mn-MN" sz="5400" b="1" dirty="0">
                <a:solidFill>
                  <a:srgbClr val="F5E614"/>
                </a:solidFill>
                <a:latin typeface="Arial"/>
                <a:cs typeface="Arial"/>
              </a:rPr>
              <a:t>83.07%</a:t>
            </a:r>
          </a:p>
          <a:p>
            <a:pPr algn="l">
              <a:spcBef>
                <a:spcPts val="0"/>
              </a:spcBef>
            </a:pPr>
            <a:r>
              <a:rPr lang="mn-MN" sz="1600" b="1" dirty="0">
                <a:solidFill>
                  <a:srgbClr val="F2F2F0"/>
                </a:solidFill>
                <a:latin typeface="Arial"/>
                <a:cs typeface="Arial"/>
              </a:rPr>
              <a:t>SnO₂ · нийт металл авалт</a:t>
            </a:r>
          </a:p>
          <a:p>
            <a:pPr algn="l">
              <a:spcBef>
                <a:spcPts val="600"/>
              </a:spcBef>
            </a:pPr>
            <a:r>
              <a:rPr lang="mn-MN" sz="1200" b="0" dirty="0">
                <a:solidFill>
                  <a:srgbClr val="A8A8AE"/>
                </a:solidFill>
                <a:latin typeface="Arial"/>
                <a:cs typeface="Arial"/>
              </a:rPr>
              <a:t>Тунаах машины баяжмалыг (SnO₂ 52.57%) нэгтгэхэд</a:t>
            </a:r>
          </a:p>
          <a:p>
            <a:pPr algn="l">
              <a:spcBef>
                <a:spcPts val="200"/>
              </a:spcBef>
            </a:pPr>
            <a:r>
              <a:rPr lang="mn-MN" sz="1200" b="0" dirty="0">
                <a:solidFill>
                  <a:srgbClr val="F2F2F0"/>
                </a:solidFill>
                <a:latin typeface="Arial"/>
                <a:cs typeface="Arial"/>
              </a:rPr>
              <a:t>Цагаан тугалганы баяжмал: SnO₂ 54.80% · авалт 45.67%</a:t>
            </a:r>
          </a:p>
        </p:txBody>
      </p:sp>
      <p:sp>
        <p:nvSpPr>
          <p:cNvPr id="113" name="Box 113"/>
          <p:cNvSpPr/>
          <p:nvPr/>
        </p:nvSpPr>
        <p:spPr>
          <a:xfrm>
            <a:off x="6400800" y="3977640"/>
            <a:ext cx="5257800" cy="2103120"/>
          </a:xfrm>
          <a:prstGeom prst="roundRect">
            <a:avLst>
              <a:gd name="adj" fmla="val 8000"/>
            </a:avLst>
          </a:prstGeom>
          <a:solidFill>
            <a:srgbClr val="2A2A30"/>
          </a:solidFill>
          <a:ln w="9525">
            <a:solidFill>
              <a:srgbClr val="3A3A40"/>
            </a:solidFill>
          </a:ln>
        </p:spPr>
        <p:txBody>
          <a:bodyPr wrap="square" lIns="0" tIns="0" rIns="0" bIns="0" anchor="t">
            <a:normAutofit/>
          </a:bodyPr>
          <a:lstStyle/>
          <a:p>
            <a:endParaRPr lang="mn-MN" sz="1000"/>
          </a:p>
        </p:txBody>
      </p:sp>
      <p:sp>
        <p:nvSpPr>
          <p:cNvPr id="114" name="Box 114"/>
          <p:cNvSpPr txBox="1"/>
          <p:nvPr/>
        </p:nvSpPr>
        <p:spPr>
          <a:xfrm>
            <a:off x="6675120" y="4142232"/>
            <a:ext cx="4754880" cy="1828800"/>
          </a:xfrm>
          <a:prstGeom prst="rect">
            <a:avLst/>
          </a:prstGeom>
          <a:noFill/>
          <a:ln>
            <a:noFill/>
          </a:ln>
        </p:spPr>
        <p:txBody>
          <a:bodyPr wrap="square" lIns="0" tIns="0" rIns="0" bIns="0" anchor="t">
            <a:normAutofit/>
          </a:bodyPr>
          <a:lstStyle/>
          <a:p>
            <a:pPr algn="l">
              <a:spcBef>
                <a:spcPts val="0"/>
              </a:spcBef>
            </a:pPr>
            <a:r>
              <a:rPr lang="mn-MN" sz="5400" b="1" dirty="0">
                <a:solidFill>
                  <a:srgbClr val="8DB8D6"/>
                </a:solidFill>
                <a:latin typeface="Arial"/>
                <a:cs typeface="Arial"/>
              </a:rPr>
              <a:t>72.62%</a:t>
            </a:r>
          </a:p>
          <a:p>
            <a:pPr algn="l">
              <a:spcBef>
                <a:spcPts val="0"/>
              </a:spcBef>
            </a:pPr>
            <a:r>
              <a:rPr lang="mn-MN" sz="1600" b="1" dirty="0">
                <a:solidFill>
                  <a:srgbClr val="F2F2F0"/>
                </a:solidFill>
                <a:latin typeface="Arial"/>
                <a:cs typeface="Arial"/>
              </a:rPr>
              <a:t>WO₃ · нийт металл авалт</a:t>
            </a:r>
          </a:p>
          <a:p>
            <a:pPr algn="l">
              <a:spcBef>
                <a:spcPts val="600"/>
              </a:spcBef>
            </a:pPr>
            <a:r>
              <a:rPr lang="mn-MN" sz="1200" b="0" dirty="0">
                <a:solidFill>
                  <a:srgbClr val="A8A8AE"/>
                </a:solidFill>
                <a:latin typeface="Arial"/>
                <a:cs typeface="Arial"/>
              </a:rPr>
              <a:t>Тунаах машины баяжмалыг нэгтгэхэд</a:t>
            </a:r>
          </a:p>
          <a:p>
            <a:pPr algn="l">
              <a:spcBef>
                <a:spcPts val="200"/>
              </a:spcBef>
            </a:pPr>
            <a:r>
              <a:rPr lang="mn-MN" sz="1200" b="0" dirty="0">
                <a:solidFill>
                  <a:srgbClr val="F2F2F0"/>
                </a:solidFill>
                <a:latin typeface="Arial"/>
                <a:cs typeface="Arial"/>
              </a:rPr>
              <a:t>Гянтболдын баяжмал: WO₃ 14.95% · авалт 40.25%</a:t>
            </a:r>
          </a:p>
        </p:txBody>
      </p:sp>
    </p:spTree>
    <p:extLst>
      <p:ext uri="{BB962C8B-B14F-4D97-AF65-F5344CB8AC3E}">
        <p14:creationId xmlns:p14="http://schemas.microsoft.com/office/powerpoint/2010/main" val="2302603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C7792-0B1E-2867-456D-D8042C2013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EA97A-CF7A-A356-E6D7-5A9A8402CCAE}"/>
              </a:ext>
            </a:extLst>
          </p:cNvPr>
          <p:cNvSpPr>
            <a:spLocks noGrp="1"/>
          </p:cNvSpPr>
          <p:nvPr>
            <p:ph type="title"/>
          </p:nvPr>
        </p:nvSpPr>
        <p:spPr/>
        <p:txBody>
          <a:bodyPr/>
          <a:lstStyle/>
          <a:p>
            <a:r>
              <a:rPr lang="mn-MN" dirty="0"/>
              <a:t>Баяжуулалтын технологи</a:t>
            </a:r>
            <a:endParaRPr lang="en-US" dirty="0"/>
          </a:p>
        </p:txBody>
      </p:sp>
      <p:pic>
        <p:nvPicPr>
          <p:cNvPr id="900" name="!!Truck" descr="Автосамосвал">
            <a:extLst>
              <a:ext uri="{FF2B5EF4-FFF2-40B4-BE49-F238E27FC236}">
                <a16:creationId xmlns:a16="http://schemas.microsoft.com/office/drawing/2014/main" id="{09085E65-4381-AC5B-E996-7B7E0891183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0000" y="6464300"/>
            <a:ext cx="330200" cy="330200"/>
          </a:xfrm>
          <a:prstGeom prst="rect">
            <a:avLst/>
          </a:prstGeom>
        </p:spPr>
      </p:pic>
      <p:sp>
        <p:nvSpPr>
          <p:cNvPr id="4" name="Chart label">
            <a:extLst>
              <a:ext uri="{FF2B5EF4-FFF2-40B4-BE49-F238E27FC236}">
                <a16:creationId xmlns:a16="http://schemas.microsoft.com/office/drawing/2014/main" id="{813C5584-2743-A38D-90C3-DB1E715DE07B}"/>
              </a:ext>
            </a:extLst>
          </p:cNvPr>
          <p:cNvSpPr txBox="1"/>
          <p:nvPr/>
        </p:nvSpPr>
        <p:spPr>
          <a:xfrm>
            <a:off x="4572000" y="1625600"/>
            <a:ext cx="7137400" cy="304800"/>
          </a:xfrm>
          <a:prstGeom prst="rect">
            <a:avLst/>
          </a:prstGeom>
          <a:noFill/>
        </p:spPr>
        <p:txBody>
          <a:bodyPr vertOverflow="overflow" vert="horz" wrap="square" rtlCol="0" anchor="t">
            <a:spAutoFit/>
          </a:bodyPr>
          <a:lstStyle/>
          <a:p>
            <a:pPr algn="l">
              <a:buNone/>
            </a:pPr>
            <a:r>
              <a:rPr lang="mn-MN" sz="1400" b="1" dirty="0">
                <a:solidFill>
                  <a:srgbClr val="D6D6D8"/>
                </a:solidFill>
              </a:rPr>
              <a:t>Бүтээгдэхүүн гаргалт, жилээр</a:t>
            </a:r>
          </a:p>
        </p:txBody>
      </p:sp>
      <p:graphicFrame>
        <p:nvGraphicFramePr>
          <p:cNvPr id="902" name="Product table"/>
          <p:cNvGraphicFramePr>
            <a:graphicFrameLocks noGrp="1"/>
          </p:cNvGraphicFramePr>
          <p:nvPr>
            <p:extLst>
              <p:ext uri="{D42A27DB-BD31-4B8C-83A1-F6EECF244321}">
                <p14:modId xmlns:p14="http://schemas.microsoft.com/office/powerpoint/2010/main" val="2088465417"/>
              </p:ext>
            </p:extLst>
          </p:nvPr>
        </p:nvGraphicFramePr>
        <p:xfrm>
          <a:off x="4572000" y="1981200"/>
          <a:ext cx="6908800" cy="3898900"/>
        </p:xfrm>
        <a:graphic>
          <a:graphicData uri="http://schemas.openxmlformats.org/drawingml/2006/table">
            <a:tbl>
              <a:tblPr firstRow="1"/>
              <a:tblGrid>
                <a:gridCol w="1778000">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558800">
                  <a:extLst>
                    <a:ext uri="{9D8B030D-6E8A-4147-A177-3AD203B41FA5}">
                      <a16:colId xmlns:a16="http://schemas.microsoft.com/office/drawing/2014/main" val="20002"/>
                    </a:ext>
                  </a:extLst>
                </a:gridCol>
                <a:gridCol w="558800">
                  <a:extLst>
                    <a:ext uri="{9D8B030D-6E8A-4147-A177-3AD203B41FA5}">
                      <a16:colId xmlns:a16="http://schemas.microsoft.com/office/drawing/2014/main" val="20003"/>
                    </a:ext>
                  </a:extLst>
                </a:gridCol>
                <a:gridCol w="558800">
                  <a:extLst>
                    <a:ext uri="{9D8B030D-6E8A-4147-A177-3AD203B41FA5}">
                      <a16:colId xmlns:a16="http://schemas.microsoft.com/office/drawing/2014/main" val="20004"/>
                    </a:ext>
                  </a:extLst>
                </a:gridCol>
                <a:gridCol w="558800">
                  <a:extLst>
                    <a:ext uri="{9D8B030D-6E8A-4147-A177-3AD203B41FA5}">
                      <a16:colId xmlns:a16="http://schemas.microsoft.com/office/drawing/2014/main" val="20005"/>
                    </a:ext>
                  </a:extLst>
                </a:gridCol>
                <a:gridCol w="558800">
                  <a:extLst>
                    <a:ext uri="{9D8B030D-6E8A-4147-A177-3AD203B41FA5}">
                      <a16:colId xmlns:a16="http://schemas.microsoft.com/office/drawing/2014/main" val="20006"/>
                    </a:ext>
                  </a:extLst>
                </a:gridCol>
                <a:gridCol w="558800">
                  <a:extLst>
                    <a:ext uri="{9D8B030D-6E8A-4147-A177-3AD203B41FA5}">
                      <a16:colId xmlns:a16="http://schemas.microsoft.com/office/drawing/2014/main" val="20007"/>
                    </a:ext>
                  </a:extLst>
                </a:gridCol>
                <a:gridCol w="558800">
                  <a:extLst>
                    <a:ext uri="{9D8B030D-6E8A-4147-A177-3AD203B41FA5}">
                      <a16:colId xmlns:a16="http://schemas.microsoft.com/office/drawing/2014/main" val="20008"/>
                    </a:ext>
                  </a:extLst>
                </a:gridCol>
                <a:gridCol w="660400">
                  <a:extLst>
                    <a:ext uri="{9D8B030D-6E8A-4147-A177-3AD203B41FA5}">
                      <a16:colId xmlns:a16="http://schemas.microsoft.com/office/drawing/2014/main" val="20009"/>
                    </a:ext>
                  </a:extLst>
                </a:gridCol>
              </a:tblGrid>
              <a:tr h="279400">
                <a:tc>
                  <a:txBody>
                    <a:bodyPr/>
                    <a:lstStyle/>
                    <a:p>
                      <a:pPr algn="l"/>
                      <a:r>
                        <a:rPr lang="mn-MN" sz="1000" b="1" dirty="0">
                          <a:solidFill>
                            <a:srgbClr val="F2F2F0"/>
                          </a:solidFill>
                        </a:rPr>
                        <a:t>Үзүүлэлт</a:t>
                      </a:r>
                    </a:p>
                  </a:txBody>
                  <a:tcPr marL="50800" marR="50800" marT="12700" marB="12700" anchor="ctr">
                    <a:lnL w="0">
                      <a:noFill/>
                    </a:lnL>
                    <a:lnR w="0">
                      <a:noFill/>
                    </a:lnR>
                    <a:lnT w="0">
                      <a:noFill/>
                    </a:lnT>
                    <a:lnB w="12700">
                      <a:solidFill>
                        <a:srgbClr val="8A8A8E"/>
                      </a:solidFill>
                    </a:lnB>
                    <a:noFill/>
                  </a:tcPr>
                </a:tc>
                <a:tc>
                  <a:txBody>
                    <a:bodyPr/>
                    <a:lstStyle/>
                    <a:p>
                      <a:pPr algn="l"/>
                      <a:r>
                        <a:rPr lang="mn-MN" sz="1000" b="1" dirty="0">
                          <a:solidFill>
                            <a:srgbClr val="F2F2F0"/>
                          </a:solidFill>
                        </a:rPr>
                        <a:t>Нэгж</a:t>
                      </a:r>
                    </a:p>
                  </a:txBody>
                  <a:tcPr marL="50800" marR="50800" marT="12700" marB="12700" anchor="ctr">
                    <a:lnL w="0">
                      <a:noFill/>
                    </a:lnL>
                    <a:lnR w="0">
                      <a:noFill/>
                    </a:lnR>
                    <a:lnT w="0">
                      <a:noFill/>
                    </a:lnT>
                    <a:lnB w="12700">
                      <a:solidFill>
                        <a:srgbClr val="8A8A8E"/>
                      </a:solidFill>
                    </a:lnB>
                    <a:noFill/>
                  </a:tcPr>
                </a:tc>
                <a:tc>
                  <a:txBody>
                    <a:bodyPr/>
                    <a:lstStyle/>
                    <a:p>
                      <a:pPr algn="r"/>
                      <a:r>
                        <a:rPr lang="mn-MN" sz="1000" b="1" dirty="0">
                          <a:solidFill>
                            <a:srgbClr val="F2F2F0"/>
                          </a:solidFill>
                        </a:rPr>
                        <a:t>1 жил</a:t>
                      </a:r>
                    </a:p>
                  </a:txBody>
                  <a:tcPr marL="50800" marR="50800" marT="12700" marB="12700" anchor="ctr">
                    <a:lnL w="0">
                      <a:noFill/>
                    </a:lnL>
                    <a:lnR w="0">
                      <a:noFill/>
                    </a:lnR>
                    <a:lnT w="0">
                      <a:noFill/>
                    </a:lnT>
                    <a:lnB w="12700">
                      <a:solidFill>
                        <a:srgbClr val="8A8A8E"/>
                      </a:solidFill>
                    </a:lnB>
                    <a:noFill/>
                  </a:tcPr>
                </a:tc>
                <a:tc>
                  <a:txBody>
                    <a:bodyPr/>
                    <a:lstStyle/>
                    <a:p>
                      <a:pPr algn="r"/>
                      <a:r>
                        <a:rPr lang="mn-MN" sz="1000" b="1" dirty="0">
                          <a:solidFill>
                            <a:srgbClr val="F2F2F0"/>
                          </a:solidFill>
                        </a:rPr>
                        <a:t>2 жил</a:t>
                      </a:r>
                    </a:p>
                  </a:txBody>
                  <a:tcPr marL="50800" marR="50800" marT="12700" marB="12700" anchor="ctr">
                    <a:lnL w="0">
                      <a:noFill/>
                    </a:lnL>
                    <a:lnR w="0">
                      <a:noFill/>
                    </a:lnR>
                    <a:lnT w="0">
                      <a:noFill/>
                    </a:lnT>
                    <a:lnB w="12700">
                      <a:solidFill>
                        <a:srgbClr val="8A8A8E"/>
                      </a:solidFill>
                    </a:lnB>
                    <a:noFill/>
                  </a:tcPr>
                </a:tc>
                <a:tc>
                  <a:txBody>
                    <a:bodyPr/>
                    <a:lstStyle/>
                    <a:p>
                      <a:pPr algn="r"/>
                      <a:r>
                        <a:rPr lang="mn-MN" sz="1000" b="1" dirty="0">
                          <a:solidFill>
                            <a:srgbClr val="F2F2F0"/>
                          </a:solidFill>
                        </a:rPr>
                        <a:t>3 жил</a:t>
                      </a:r>
                    </a:p>
                  </a:txBody>
                  <a:tcPr marL="50800" marR="50800" marT="12700" marB="12700" anchor="ctr">
                    <a:lnL w="0">
                      <a:noFill/>
                    </a:lnL>
                    <a:lnR w="0">
                      <a:noFill/>
                    </a:lnR>
                    <a:lnT w="0">
                      <a:noFill/>
                    </a:lnT>
                    <a:lnB w="12700">
                      <a:solidFill>
                        <a:srgbClr val="8A8A8E"/>
                      </a:solidFill>
                    </a:lnB>
                    <a:noFill/>
                  </a:tcPr>
                </a:tc>
                <a:tc>
                  <a:txBody>
                    <a:bodyPr/>
                    <a:lstStyle/>
                    <a:p>
                      <a:pPr algn="r"/>
                      <a:r>
                        <a:rPr lang="mn-MN" sz="1000" b="1" dirty="0">
                          <a:solidFill>
                            <a:srgbClr val="F2F2F0"/>
                          </a:solidFill>
                        </a:rPr>
                        <a:t>4 жил</a:t>
                      </a:r>
                    </a:p>
                  </a:txBody>
                  <a:tcPr marL="50800" marR="50800" marT="12700" marB="12700" anchor="ctr">
                    <a:lnL w="0">
                      <a:noFill/>
                    </a:lnL>
                    <a:lnR w="0">
                      <a:noFill/>
                    </a:lnR>
                    <a:lnT w="0">
                      <a:noFill/>
                    </a:lnT>
                    <a:lnB w="12700">
                      <a:solidFill>
                        <a:srgbClr val="8A8A8E"/>
                      </a:solidFill>
                    </a:lnB>
                    <a:noFill/>
                  </a:tcPr>
                </a:tc>
                <a:tc>
                  <a:txBody>
                    <a:bodyPr/>
                    <a:lstStyle/>
                    <a:p>
                      <a:pPr algn="r"/>
                      <a:r>
                        <a:rPr lang="mn-MN" sz="1000" b="1" dirty="0">
                          <a:solidFill>
                            <a:srgbClr val="F2F2F0"/>
                          </a:solidFill>
                        </a:rPr>
                        <a:t>5 жил</a:t>
                      </a:r>
                    </a:p>
                  </a:txBody>
                  <a:tcPr marL="50800" marR="50800" marT="12700" marB="12700" anchor="ctr">
                    <a:lnL w="0">
                      <a:noFill/>
                    </a:lnL>
                    <a:lnR w="0">
                      <a:noFill/>
                    </a:lnR>
                    <a:lnT w="0">
                      <a:noFill/>
                    </a:lnT>
                    <a:lnB w="12700">
                      <a:solidFill>
                        <a:srgbClr val="8A8A8E"/>
                      </a:solidFill>
                    </a:lnB>
                    <a:noFill/>
                  </a:tcPr>
                </a:tc>
                <a:tc>
                  <a:txBody>
                    <a:bodyPr/>
                    <a:lstStyle/>
                    <a:p>
                      <a:pPr algn="r"/>
                      <a:r>
                        <a:rPr lang="mn-MN" sz="1000" b="1" dirty="0">
                          <a:solidFill>
                            <a:srgbClr val="F2F2F0"/>
                          </a:solidFill>
                        </a:rPr>
                        <a:t>6 жил</a:t>
                      </a:r>
                    </a:p>
                  </a:txBody>
                  <a:tcPr marL="50800" marR="50800" marT="12700" marB="12700" anchor="ctr">
                    <a:lnL w="0">
                      <a:noFill/>
                    </a:lnL>
                    <a:lnR w="0">
                      <a:noFill/>
                    </a:lnR>
                    <a:lnT w="0">
                      <a:noFill/>
                    </a:lnT>
                    <a:lnB w="12700">
                      <a:solidFill>
                        <a:srgbClr val="8A8A8E"/>
                      </a:solidFill>
                    </a:lnB>
                    <a:noFill/>
                  </a:tcPr>
                </a:tc>
                <a:tc>
                  <a:txBody>
                    <a:bodyPr/>
                    <a:lstStyle/>
                    <a:p>
                      <a:pPr algn="r"/>
                      <a:r>
                        <a:rPr lang="mn-MN" sz="1000" b="1" dirty="0">
                          <a:solidFill>
                            <a:srgbClr val="F2F2F0"/>
                          </a:solidFill>
                        </a:rPr>
                        <a:t>7 жил</a:t>
                      </a:r>
                    </a:p>
                  </a:txBody>
                  <a:tcPr marL="50800" marR="50800" marT="12700" marB="12700" anchor="ctr">
                    <a:lnL w="0">
                      <a:noFill/>
                    </a:lnL>
                    <a:lnR w="0">
                      <a:noFill/>
                    </a:lnR>
                    <a:lnT w="0">
                      <a:noFill/>
                    </a:lnT>
                    <a:lnB w="12700">
                      <a:solidFill>
                        <a:srgbClr val="8A8A8E"/>
                      </a:solidFill>
                    </a:lnB>
                    <a:noFill/>
                  </a:tcPr>
                </a:tc>
                <a:tc>
                  <a:txBody>
                    <a:bodyPr/>
                    <a:lstStyle/>
                    <a:p>
                      <a:pPr algn="r"/>
                      <a:r>
                        <a:rPr lang="mn-MN" sz="1000" b="1" dirty="0">
                          <a:solidFill>
                            <a:srgbClr val="F2F2F0"/>
                          </a:solidFill>
                        </a:rPr>
                        <a:t>Нийт</a:t>
                      </a:r>
                    </a:p>
                  </a:txBody>
                  <a:tcPr marL="50800" marR="50800" marT="12700" marB="12700" anchor="ctr">
                    <a:lnL w="0">
                      <a:noFill/>
                    </a:lnL>
                    <a:lnR w="0">
                      <a:noFill/>
                    </a:lnR>
                    <a:lnT w="0">
                      <a:noFill/>
                    </a:lnT>
                    <a:lnB w="12700">
                      <a:solidFill>
                        <a:srgbClr val="8A8A8E"/>
                      </a:solidFill>
                    </a:lnB>
                    <a:noFill/>
                  </a:tcPr>
                </a:tc>
                <a:extLst>
                  <a:ext uri="{0D108BD9-81ED-4DB2-BD59-A6C34878D82A}">
                    <a16:rowId xmlns:a16="http://schemas.microsoft.com/office/drawing/2014/main" val="10000"/>
                  </a:ext>
                </a:extLst>
              </a:tr>
              <a:tr h="241300">
                <a:tc gridSpan="10">
                  <a:txBody>
                    <a:bodyPr/>
                    <a:lstStyle/>
                    <a:p>
                      <a:pPr algn="l"/>
                      <a:r>
                        <a:rPr lang="mn-MN" sz="1000" b="1" dirty="0">
                          <a:solidFill>
                            <a:srgbClr val="F5E614"/>
                          </a:solidFill>
                        </a:rPr>
                        <a:t>Баяжуулах үйлдвэрт орох элс</a:t>
                      </a:r>
                    </a:p>
                  </a:txBody>
                  <a:tcPr marL="50800" marR="50800" marT="12700" marB="12700" anchor="ctr">
                    <a:lnL w="0">
                      <a:noFill/>
                    </a:lnL>
                    <a:lnR w="0">
                      <a:noFill/>
                    </a:lnR>
                    <a:lnT w="12700" cap="flat" cmpd="sng" algn="ctr">
                      <a:solidFill>
                        <a:srgbClr val="8A8A8E"/>
                      </a:solidFill>
                      <a:prstDash val="solid"/>
                      <a:round/>
                      <a:headEnd type="none" w="med" len="med"/>
                      <a:tailEnd type="none" w="med" len="med"/>
                    </a:lnT>
                    <a:lnB w="9525">
                      <a:solidFill>
                        <a:srgbClr val="3A3A3E"/>
                      </a:solidFill>
                    </a:lnB>
                    <a:noFill/>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extLst>
                  <a:ext uri="{0D108BD9-81ED-4DB2-BD59-A6C34878D82A}">
                    <a16:rowId xmlns:a16="http://schemas.microsoft.com/office/drawing/2014/main" val="10001"/>
                  </a:ext>
                </a:extLst>
              </a:tr>
              <a:tr h="241300">
                <a:tc>
                  <a:txBody>
                    <a:bodyPr/>
                    <a:lstStyle/>
                    <a:p>
                      <a:pPr algn="l"/>
                      <a:r>
                        <a:rPr lang="mn-MN" sz="1000" b="1" dirty="0">
                          <a:solidFill>
                            <a:srgbClr val="D6D6D8"/>
                          </a:solidFill>
                        </a:rPr>
                        <a:t>Элсний хэмжээ</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l"/>
                      <a:r>
                        <a:rPr lang="mn-MN" sz="1000" dirty="0">
                          <a:solidFill>
                            <a:srgbClr val="D6D6D8"/>
                          </a:solidFill>
                        </a:rPr>
                        <a:t>мян.м³</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175.83</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175.83</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175.83</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175.83</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175.83</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175.83</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184.24</a:t>
                      </a:r>
                    </a:p>
                  </a:txBody>
                  <a:tcPr marL="50800" marR="50800" marT="12700" marB="12700" anchor="ctr">
                    <a:lnL w="0">
                      <a:noFill/>
                    </a:lnL>
                    <a:lnR w="0">
                      <a:noFill/>
                    </a:lnR>
                    <a:lnT w="0">
                      <a:noFill/>
                    </a:lnT>
                    <a:lnB w="9525">
                      <a:solidFill>
                        <a:srgbClr val="3A3A3E"/>
                      </a:solidFill>
                    </a:lnB>
                    <a:noFill/>
                  </a:tcPr>
                </a:tc>
                <a:tc>
                  <a:txBody>
                    <a:bodyPr/>
                    <a:lstStyle/>
                    <a:p>
                      <a:pPr algn="r"/>
                      <a:r>
                        <a:rPr lang="mn-MN" sz="1000" b="1" dirty="0">
                          <a:solidFill>
                            <a:srgbClr val="F2F2F0"/>
                          </a:solidFill>
                        </a:rPr>
                        <a:t>1,239.22</a:t>
                      </a:r>
                    </a:p>
                  </a:txBody>
                  <a:tcPr marL="50800" marR="50800" marT="12700" marB="12700" anchor="ctr">
                    <a:lnL w="0">
                      <a:noFill/>
                    </a:lnL>
                    <a:lnR w="0">
                      <a:noFill/>
                    </a:lnR>
                    <a:lnT w="0">
                      <a:noFill/>
                    </a:lnT>
                    <a:lnB w="9525">
                      <a:solidFill>
                        <a:srgbClr val="3A3A3E"/>
                      </a:solidFill>
                    </a:lnB>
                    <a:noFill/>
                  </a:tcPr>
                </a:tc>
                <a:extLst>
                  <a:ext uri="{0D108BD9-81ED-4DB2-BD59-A6C34878D82A}">
                    <a16:rowId xmlns:a16="http://schemas.microsoft.com/office/drawing/2014/main" val="10002"/>
                  </a:ext>
                </a:extLst>
              </a:tr>
              <a:tr h="241300">
                <a:tc>
                  <a:txBody>
                    <a:bodyPr/>
                    <a:lstStyle/>
                    <a:p>
                      <a:pPr algn="l"/>
                      <a:r>
                        <a:rPr lang="mn-MN" sz="1000" b="1" dirty="0">
                          <a:solidFill>
                            <a:srgbClr val="D6D6D8"/>
                          </a:solidFill>
                        </a:rPr>
                        <a:t>SnO₂ агуулга</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l"/>
                      <a:r>
                        <a:rPr lang="mn-MN" sz="1000" dirty="0">
                          <a:solidFill>
                            <a:srgbClr val="D6D6D8"/>
                          </a:solidFill>
                        </a:rPr>
                        <a:t>%</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0.265</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0.278</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0.340</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0.377</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0.364</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0.386</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0.387</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b="1" dirty="0">
                          <a:solidFill>
                            <a:srgbClr val="F2F2F0"/>
                          </a:solidFill>
                        </a:rPr>
                        <a:t>0.343</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extLst>
                  <a:ext uri="{0D108BD9-81ED-4DB2-BD59-A6C34878D82A}">
                    <a16:rowId xmlns:a16="http://schemas.microsoft.com/office/drawing/2014/main" val="10003"/>
                  </a:ext>
                </a:extLst>
              </a:tr>
              <a:tr h="241300">
                <a:tc>
                  <a:txBody>
                    <a:bodyPr/>
                    <a:lstStyle/>
                    <a:p>
                      <a:pPr algn="l"/>
                      <a:r>
                        <a:rPr lang="mn-MN" sz="1000" b="1" dirty="0">
                          <a:solidFill>
                            <a:srgbClr val="D6D6D8"/>
                          </a:solidFill>
                        </a:rPr>
                        <a:t>WO₃ агуулга</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l"/>
                      <a:r>
                        <a:rPr lang="mn-MN" sz="1000" dirty="0">
                          <a:solidFill>
                            <a:srgbClr val="D6D6D8"/>
                          </a:solidFill>
                        </a:rPr>
                        <a:t>%</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0.024</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0.026</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0.028</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0.037</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0.031</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0.045</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0.045</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b="1" dirty="0">
                          <a:solidFill>
                            <a:srgbClr val="F2F2F0"/>
                          </a:solidFill>
                        </a:rPr>
                        <a:t>0.034</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extLst>
                  <a:ext uri="{0D108BD9-81ED-4DB2-BD59-A6C34878D82A}">
                    <a16:rowId xmlns:a16="http://schemas.microsoft.com/office/drawing/2014/main" val="10004"/>
                  </a:ext>
                </a:extLst>
              </a:tr>
              <a:tr h="241300">
                <a:tc gridSpan="10">
                  <a:txBody>
                    <a:bodyPr/>
                    <a:lstStyle/>
                    <a:p>
                      <a:pPr algn="l"/>
                      <a:r>
                        <a:rPr lang="mn-MN" sz="1000" b="1" dirty="0">
                          <a:solidFill>
                            <a:srgbClr val="F5E614"/>
                          </a:solidFill>
                        </a:rPr>
                        <a:t>Цагаан тугалганы баяжмал</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extLst>
                  <a:ext uri="{0D108BD9-81ED-4DB2-BD59-A6C34878D82A}">
                    <a16:rowId xmlns:a16="http://schemas.microsoft.com/office/drawing/2014/main" val="10005"/>
                  </a:ext>
                </a:extLst>
              </a:tr>
              <a:tr h="241300">
                <a:tc>
                  <a:txBody>
                    <a:bodyPr/>
                    <a:lstStyle/>
                    <a:p>
                      <a:pPr algn="l"/>
                      <a:r>
                        <a:rPr lang="mn-MN" sz="1000" b="1" dirty="0">
                          <a:solidFill>
                            <a:srgbClr val="D6D6D8"/>
                          </a:solidFill>
                        </a:rPr>
                        <a:t>Баяжмалын хэмжээ</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l"/>
                      <a:r>
                        <a:rPr lang="mn-MN" sz="1000" dirty="0">
                          <a:solidFill>
                            <a:srgbClr val="D6D6D8"/>
                          </a:solidFill>
                        </a:rPr>
                        <a:t>тн</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131.05</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137.57</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168.07</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186.44</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180.26</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191.19</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200.61</a:t>
                      </a:r>
                    </a:p>
                  </a:txBody>
                  <a:tcPr marL="50800" marR="50800" marT="12700" marB="12700" anchor="ctr">
                    <a:lnL w="0">
                      <a:noFill/>
                    </a:lnL>
                    <a:lnR w="0">
                      <a:noFill/>
                    </a:lnR>
                    <a:lnT w="0">
                      <a:noFill/>
                    </a:lnT>
                    <a:lnB w="9525">
                      <a:solidFill>
                        <a:srgbClr val="3A3A3E"/>
                      </a:solidFill>
                    </a:lnB>
                    <a:noFill/>
                  </a:tcPr>
                </a:tc>
                <a:tc>
                  <a:txBody>
                    <a:bodyPr/>
                    <a:lstStyle/>
                    <a:p>
                      <a:pPr algn="r"/>
                      <a:r>
                        <a:rPr lang="mn-MN" sz="1000" b="1" dirty="0">
                          <a:solidFill>
                            <a:srgbClr val="F2F2F0"/>
                          </a:solidFill>
                        </a:rPr>
                        <a:t>1,195.19</a:t>
                      </a:r>
                    </a:p>
                  </a:txBody>
                  <a:tcPr marL="50800" marR="50800" marT="12700" marB="12700" anchor="ctr">
                    <a:lnL w="0">
                      <a:noFill/>
                    </a:lnL>
                    <a:lnR w="0">
                      <a:noFill/>
                    </a:lnR>
                    <a:lnT w="0">
                      <a:noFill/>
                    </a:lnT>
                    <a:lnB w="9525">
                      <a:solidFill>
                        <a:srgbClr val="3A3A3E"/>
                      </a:solidFill>
                    </a:lnB>
                    <a:noFill/>
                  </a:tcPr>
                </a:tc>
                <a:extLst>
                  <a:ext uri="{0D108BD9-81ED-4DB2-BD59-A6C34878D82A}">
                    <a16:rowId xmlns:a16="http://schemas.microsoft.com/office/drawing/2014/main" val="10006"/>
                  </a:ext>
                </a:extLst>
              </a:tr>
              <a:tr h="241300">
                <a:tc>
                  <a:txBody>
                    <a:bodyPr/>
                    <a:lstStyle/>
                    <a:p>
                      <a:pPr algn="l"/>
                      <a:r>
                        <a:rPr lang="mn-MN" sz="1000" b="1" dirty="0">
                          <a:solidFill>
                            <a:srgbClr val="D6D6D8"/>
                          </a:solidFill>
                        </a:rPr>
                        <a:t>SnO₂ агуулга</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l"/>
                      <a:r>
                        <a:rPr lang="mn-MN" sz="1000" dirty="0">
                          <a:solidFill>
                            <a:srgbClr val="D6D6D8"/>
                          </a:solidFill>
                        </a:rPr>
                        <a:t>%</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53.86</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53.86</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53.86</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53.86</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53.86</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53.86</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53.86</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b="1" dirty="0">
                          <a:solidFill>
                            <a:srgbClr val="F2F2F0"/>
                          </a:solidFill>
                        </a:rPr>
                        <a:t>53.86</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extLst>
                  <a:ext uri="{0D108BD9-81ED-4DB2-BD59-A6C34878D82A}">
                    <a16:rowId xmlns:a16="http://schemas.microsoft.com/office/drawing/2014/main" val="10007"/>
                  </a:ext>
                </a:extLst>
              </a:tr>
              <a:tr h="241300">
                <a:tc>
                  <a:txBody>
                    <a:bodyPr/>
                    <a:lstStyle/>
                    <a:p>
                      <a:pPr algn="l"/>
                      <a:r>
                        <a:rPr lang="mn-MN" sz="1000" b="1" dirty="0">
                          <a:solidFill>
                            <a:srgbClr val="D6D6D8"/>
                          </a:solidFill>
                        </a:rPr>
                        <a:t>Цэвэр Sn</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l"/>
                      <a:r>
                        <a:rPr lang="mn-MN" sz="1000" dirty="0">
                          <a:solidFill>
                            <a:srgbClr val="D6D6D8"/>
                          </a:solidFill>
                        </a:rPr>
                        <a:t>тн</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53.64</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56.31</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68.79</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76.31</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73.79</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78.26</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82.11</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b="1" dirty="0">
                          <a:solidFill>
                            <a:srgbClr val="F2F2F0"/>
                          </a:solidFill>
                        </a:rPr>
                        <a:t>489.22</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extLst>
                  <a:ext uri="{0D108BD9-81ED-4DB2-BD59-A6C34878D82A}">
                    <a16:rowId xmlns:a16="http://schemas.microsoft.com/office/drawing/2014/main" val="10008"/>
                  </a:ext>
                </a:extLst>
              </a:tr>
              <a:tr h="241300">
                <a:tc>
                  <a:txBody>
                    <a:bodyPr/>
                    <a:lstStyle/>
                    <a:p>
                      <a:pPr algn="l"/>
                      <a:r>
                        <a:rPr lang="mn-MN" sz="1000" b="1" dirty="0">
                          <a:solidFill>
                            <a:srgbClr val="D6D6D8"/>
                          </a:solidFill>
                        </a:rPr>
                        <a:t>WO₃ агуулга</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l"/>
                      <a:r>
                        <a:rPr lang="mn-MN" sz="1000" dirty="0">
                          <a:solidFill>
                            <a:srgbClr val="D6D6D8"/>
                          </a:solidFill>
                        </a:rPr>
                        <a:t>%</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1.83</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dirty="0">
                          <a:solidFill>
                            <a:srgbClr val="D6D6D8"/>
                          </a:solidFill>
                        </a:rPr>
                        <a:t>1.88</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dirty="0">
                          <a:solidFill>
                            <a:srgbClr val="D6D6D8"/>
                          </a:solidFill>
                        </a:rPr>
                        <a:t>1.64</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dirty="0">
                          <a:solidFill>
                            <a:srgbClr val="D6D6D8"/>
                          </a:solidFill>
                        </a:rPr>
                        <a:t>1.98</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dirty="0">
                          <a:solidFill>
                            <a:srgbClr val="D6D6D8"/>
                          </a:solidFill>
                        </a:rPr>
                        <a:t>1.71</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dirty="0">
                          <a:solidFill>
                            <a:srgbClr val="D6D6D8"/>
                          </a:solidFill>
                        </a:rPr>
                        <a:t>2.31</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dirty="0">
                          <a:solidFill>
                            <a:srgbClr val="D6D6D8"/>
                          </a:solidFill>
                        </a:rPr>
                        <a:t>2.32</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b="1" dirty="0">
                          <a:solidFill>
                            <a:srgbClr val="F2F2F0"/>
                          </a:solidFill>
                        </a:rPr>
                        <a:t>1.97</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extLst>
                  <a:ext uri="{0D108BD9-81ED-4DB2-BD59-A6C34878D82A}">
                    <a16:rowId xmlns:a16="http://schemas.microsoft.com/office/drawing/2014/main" val="10009"/>
                  </a:ext>
                </a:extLst>
              </a:tr>
              <a:tr h="241300">
                <a:tc>
                  <a:txBody>
                    <a:bodyPr/>
                    <a:lstStyle/>
                    <a:p>
                      <a:pPr algn="l"/>
                      <a:r>
                        <a:rPr lang="mn-MN" sz="1000" b="1" dirty="0">
                          <a:solidFill>
                            <a:srgbClr val="D6D6D8"/>
                          </a:solidFill>
                        </a:rPr>
                        <a:t>Цэвэр W</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l"/>
                      <a:r>
                        <a:rPr lang="mn-MN" sz="1000" dirty="0">
                          <a:solidFill>
                            <a:srgbClr val="D6D6D8"/>
                          </a:solidFill>
                        </a:rPr>
                        <a:t>тн</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1.80</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dirty="0">
                          <a:solidFill>
                            <a:srgbClr val="D6D6D8"/>
                          </a:solidFill>
                        </a:rPr>
                        <a:t>1.94</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dirty="0">
                          <a:solidFill>
                            <a:srgbClr val="D6D6D8"/>
                          </a:solidFill>
                        </a:rPr>
                        <a:t>2.06</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dirty="0">
                          <a:solidFill>
                            <a:srgbClr val="D6D6D8"/>
                          </a:solidFill>
                        </a:rPr>
                        <a:t>2.77</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dirty="0">
                          <a:solidFill>
                            <a:srgbClr val="D6D6D8"/>
                          </a:solidFill>
                        </a:rPr>
                        <a:t>2.32</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dirty="0">
                          <a:solidFill>
                            <a:srgbClr val="D6D6D8"/>
                          </a:solidFill>
                        </a:rPr>
                        <a:t>3.32</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dirty="0">
                          <a:solidFill>
                            <a:srgbClr val="D6D6D8"/>
                          </a:solidFill>
                        </a:rPr>
                        <a:t>3.50</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b="1" dirty="0">
                          <a:solidFill>
                            <a:srgbClr val="F2F2F0"/>
                          </a:solidFill>
                        </a:rPr>
                        <a:t>17.70</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extLst>
                  <a:ext uri="{0D108BD9-81ED-4DB2-BD59-A6C34878D82A}">
                    <a16:rowId xmlns:a16="http://schemas.microsoft.com/office/drawing/2014/main" val="10010"/>
                  </a:ext>
                </a:extLst>
              </a:tr>
              <a:tr h="241300">
                <a:tc gridSpan="10">
                  <a:txBody>
                    <a:bodyPr/>
                    <a:lstStyle/>
                    <a:p>
                      <a:pPr algn="l"/>
                      <a:r>
                        <a:rPr lang="mn-MN" sz="1000" b="1" dirty="0">
                          <a:solidFill>
                            <a:srgbClr val="F5E614"/>
                          </a:solidFill>
                        </a:rPr>
                        <a:t>Гянтболдын баяжмал</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tc hMerge="1">
                  <a:txBody>
                    <a:bodyPr/>
                    <a:lstStyle/>
                    <a:p>
                      <a:endParaRPr lang="en-US" sz="1000"/>
                    </a:p>
                  </a:txBody>
                  <a:tcPr/>
                </a:tc>
                <a:extLst>
                  <a:ext uri="{0D108BD9-81ED-4DB2-BD59-A6C34878D82A}">
                    <a16:rowId xmlns:a16="http://schemas.microsoft.com/office/drawing/2014/main" val="10011"/>
                  </a:ext>
                </a:extLst>
              </a:tr>
              <a:tr h="241300">
                <a:tc>
                  <a:txBody>
                    <a:bodyPr/>
                    <a:lstStyle/>
                    <a:p>
                      <a:pPr algn="l"/>
                      <a:r>
                        <a:rPr lang="mn-MN" sz="1000" b="1" dirty="0">
                          <a:solidFill>
                            <a:srgbClr val="D6D6D8"/>
                          </a:solidFill>
                        </a:rPr>
                        <a:t>Баяжмалын хэмжээ</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l"/>
                      <a:r>
                        <a:rPr lang="mn-MN" sz="1000" dirty="0">
                          <a:solidFill>
                            <a:srgbClr val="D6D6D8"/>
                          </a:solidFill>
                        </a:rPr>
                        <a:t>тн</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5.53</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5.97</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6.35</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8.54</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7.14</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10.21</a:t>
                      </a:r>
                    </a:p>
                  </a:txBody>
                  <a:tcPr marL="50800" marR="50800" marT="12700" marB="12700" anchor="ctr">
                    <a:lnL w="0">
                      <a:noFill/>
                    </a:lnL>
                    <a:lnR w="0">
                      <a:noFill/>
                    </a:lnR>
                    <a:lnT w="0">
                      <a:noFill/>
                    </a:lnT>
                    <a:lnB w="9525">
                      <a:solidFill>
                        <a:srgbClr val="3A3A3E"/>
                      </a:solidFill>
                    </a:lnB>
                    <a:noFill/>
                  </a:tcPr>
                </a:tc>
                <a:tc>
                  <a:txBody>
                    <a:bodyPr/>
                    <a:lstStyle/>
                    <a:p>
                      <a:pPr algn="r"/>
                      <a:r>
                        <a:rPr lang="mn-MN" sz="1000" dirty="0">
                          <a:solidFill>
                            <a:srgbClr val="D6D6D8"/>
                          </a:solidFill>
                        </a:rPr>
                        <a:t>10.77</a:t>
                      </a:r>
                    </a:p>
                  </a:txBody>
                  <a:tcPr marL="50800" marR="50800" marT="12700" marB="12700" anchor="ctr">
                    <a:lnL w="0">
                      <a:noFill/>
                    </a:lnL>
                    <a:lnR w="0">
                      <a:noFill/>
                    </a:lnR>
                    <a:lnT w="0">
                      <a:noFill/>
                    </a:lnT>
                    <a:lnB w="9525">
                      <a:solidFill>
                        <a:srgbClr val="3A3A3E"/>
                      </a:solidFill>
                    </a:lnB>
                    <a:noFill/>
                  </a:tcPr>
                </a:tc>
                <a:tc>
                  <a:txBody>
                    <a:bodyPr/>
                    <a:lstStyle/>
                    <a:p>
                      <a:pPr algn="r"/>
                      <a:r>
                        <a:rPr lang="mn-MN" sz="1000" b="1" dirty="0">
                          <a:solidFill>
                            <a:srgbClr val="F2F2F0"/>
                          </a:solidFill>
                        </a:rPr>
                        <a:t>54.51</a:t>
                      </a:r>
                    </a:p>
                  </a:txBody>
                  <a:tcPr marL="50800" marR="50800" marT="12700" marB="12700" anchor="ctr">
                    <a:lnL w="0">
                      <a:noFill/>
                    </a:lnL>
                    <a:lnR w="0">
                      <a:noFill/>
                    </a:lnR>
                    <a:lnT w="0">
                      <a:noFill/>
                    </a:lnT>
                    <a:lnB w="9525">
                      <a:solidFill>
                        <a:srgbClr val="3A3A3E"/>
                      </a:solidFill>
                    </a:lnB>
                    <a:noFill/>
                  </a:tcPr>
                </a:tc>
                <a:extLst>
                  <a:ext uri="{0D108BD9-81ED-4DB2-BD59-A6C34878D82A}">
                    <a16:rowId xmlns:a16="http://schemas.microsoft.com/office/drawing/2014/main" val="10012"/>
                  </a:ext>
                </a:extLst>
              </a:tr>
              <a:tr h="241300">
                <a:tc>
                  <a:txBody>
                    <a:bodyPr/>
                    <a:lstStyle/>
                    <a:p>
                      <a:pPr algn="l"/>
                      <a:r>
                        <a:rPr lang="mn-MN" sz="1000" b="1" dirty="0">
                          <a:solidFill>
                            <a:srgbClr val="D6D6D8"/>
                          </a:solidFill>
                        </a:rPr>
                        <a:t>WO₃ агуулга</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l"/>
                      <a:r>
                        <a:rPr lang="mn-MN" sz="1000" dirty="0">
                          <a:solidFill>
                            <a:srgbClr val="D6D6D8"/>
                          </a:solidFill>
                        </a:rPr>
                        <a:t>%</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50.00</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50.00</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50.00</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50.00</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50.00</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50.00</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50.00</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b="1" dirty="0">
                          <a:solidFill>
                            <a:srgbClr val="F2F2F0"/>
                          </a:solidFill>
                        </a:rPr>
                        <a:t>50.00</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extLst>
                  <a:ext uri="{0D108BD9-81ED-4DB2-BD59-A6C34878D82A}">
                    <a16:rowId xmlns:a16="http://schemas.microsoft.com/office/drawing/2014/main" val="10013"/>
                  </a:ext>
                </a:extLst>
              </a:tr>
              <a:tr h="241300">
                <a:tc>
                  <a:txBody>
                    <a:bodyPr/>
                    <a:lstStyle/>
                    <a:p>
                      <a:pPr algn="l"/>
                      <a:r>
                        <a:rPr lang="mn-MN" sz="1000" b="1" dirty="0">
                          <a:solidFill>
                            <a:srgbClr val="D6D6D8"/>
                          </a:solidFill>
                        </a:rPr>
                        <a:t>Цэвэр W</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l"/>
                      <a:r>
                        <a:rPr lang="mn-MN" sz="1000" dirty="0">
                          <a:solidFill>
                            <a:srgbClr val="D6D6D8"/>
                          </a:solidFill>
                        </a:rPr>
                        <a:t>тн</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2.07</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2.24</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2.38</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3.20</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2.68</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3.83</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4.04</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b="1" dirty="0">
                          <a:solidFill>
                            <a:srgbClr val="F2F2F0"/>
                          </a:solidFill>
                        </a:rPr>
                        <a:t>20.44</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extLst>
                  <a:ext uri="{0D108BD9-81ED-4DB2-BD59-A6C34878D82A}">
                    <a16:rowId xmlns:a16="http://schemas.microsoft.com/office/drawing/2014/main" val="10014"/>
                  </a:ext>
                </a:extLst>
              </a:tr>
              <a:tr h="241300">
                <a:tc>
                  <a:txBody>
                    <a:bodyPr/>
                    <a:lstStyle/>
                    <a:p>
                      <a:pPr algn="l"/>
                      <a:r>
                        <a:rPr lang="mn-MN" sz="1000" b="1" dirty="0">
                          <a:solidFill>
                            <a:srgbClr val="D6D6D8"/>
                          </a:solidFill>
                        </a:rPr>
                        <a:t>Цэвэр Sn</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l"/>
                      <a:r>
                        <a:rPr lang="mn-MN" sz="1000" dirty="0">
                          <a:solidFill>
                            <a:srgbClr val="D6D6D8"/>
                          </a:solidFill>
                        </a:rPr>
                        <a:t>тн</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noFill/>
                  </a:tcPr>
                </a:tc>
                <a:tc>
                  <a:txBody>
                    <a:bodyPr/>
                    <a:lstStyle/>
                    <a:p>
                      <a:pPr algn="r"/>
                      <a:r>
                        <a:rPr lang="mn-MN" sz="1000" dirty="0">
                          <a:solidFill>
                            <a:srgbClr val="D6D6D8"/>
                          </a:solidFill>
                        </a:rPr>
                        <a:t>0.10</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dirty="0">
                          <a:solidFill>
                            <a:srgbClr val="D6D6D8"/>
                          </a:solidFill>
                        </a:rPr>
                        <a:t>0.11</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dirty="0">
                          <a:solidFill>
                            <a:srgbClr val="D6D6D8"/>
                          </a:solidFill>
                        </a:rPr>
                        <a:t>0.13</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dirty="0">
                          <a:solidFill>
                            <a:srgbClr val="D6D6D8"/>
                          </a:solidFill>
                        </a:rPr>
                        <a:t>0.15</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dirty="0">
                          <a:solidFill>
                            <a:srgbClr val="D6D6D8"/>
                          </a:solidFill>
                        </a:rPr>
                        <a:t>0.14</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dirty="0">
                          <a:solidFill>
                            <a:srgbClr val="D6D6D8"/>
                          </a:solidFill>
                        </a:rPr>
                        <a:t>0.15</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dirty="0">
                          <a:solidFill>
                            <a:srgbClr val="D6D6D8"/>
                          </a:solidFill>
                        </a:rPr>
                        <a:t>0.16</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tc>
                  <a:txBody>
                    <a:bodyPr/>
                    <a:lstStyle/>
                    <a:p>
                      <a:pPr algn="r"/>
                      <a:r>
                        <a:rPr lang="mn-MN" sz="1000" b="1" dirty="0">
                          <a:solidFill>
                            <a:srgbClr val="F2F2F0"/>
                          </a:solidFill>
                        </a:rPr>
                        <a:t>0.94</a:t>
                      </a:r>
                    </a:p>
                  </a:txBody>
                  <a:tcPr marL="50800" marR="50800" marT="12700" marB="12700" anchor="ctr">
                    <a:lnL w="0">
                      <a:noFill/>
                    </a:lnL>
                    <a:lnR w="0">
                      <a:noFill/>
                    </a:lnR>
                    <a:lnT w="9525" cap="flat" cmpd="sng" algn="ctr">
                      <a:solidFill>
                        <a:srgbClr val="3A3A3E"/>
                      </a:solidFill>
                      <a:prstDash val="solid"/>
                      <a:round/>
                      <a:headEnd type="none" w="med" len="med"/>
                      <a:tailEnd type="none" w="med" len="med"/>
                    </a:lnT>
                    <a:lnB w="9525">
                      <a:solidFill>
                        <a:srgbClr val="3A3A3E"/>
                      </a:solidFill>
                    </a:lnB>
                    <a:solidFill>
                      <a:srgbClr val="2C2C30"/>
                    </a:solidFill>
                  </a:tcPr>
                </a:tc>
                <a:extLst>
                  <a:ext uri="{0D108BD9-81ED-4DB2-BD59-A6C34878D82A}">
                    <a16:rowId xmlns:a16="http://schemas.microsoft.com/office/drawing/2014/main" val="10015"/>
                  </a:ext>
                </a:extLst>
              </a:tr>
            </a:tbl>
          </a:graphicData>
        </a:graphic>
      </p:graphicFrame>
      <p:sp>
        <p:nvSpPr>
          <p:cNvPr id="115" name="Box 115"/>
          <p:cNvSpPr/>
          <p:nvPr/>
        </p:nvSpPr>
        <p:spPr>
          <a:xfrm>
            <a:off x="484632" y="1627632"/>
            <a:ext cx="1261872" cy="868680"/>
          </a:xfrm>
          <a:prstGeom prst="roundRect">
            <a:avLst>
              <a:gd name="adj" fmla="val 8000"/>
            </a:avLst>
          </a:prstGeom>
          <a:solidFill>
            <a:srgbClr val="2A2A30"/>
          </a:solidFill>
          <a:ln w="9525">
            <a:solidFill>
              <a:srgbClr val="3A3A40"/>
            </a:solidFill>
          </a:ln>
        </p:spPr>
        <p:txBody>
          <a:bodyPr wrap="square" lIns="91440" tIns="73152" rIns="54864" bIns="36576" anchor="t">
            <a:normAutofit/>
          </a:bodyPr>
          <a:lstStyle/>
          <a:p>
            <a:pPr algn="l">
              <a:spcBef>
                <a:spcPts val="0"/>
              </a:spcBef>
            </a:pPr>
            <a:r>
              <a:rPr lang="mn-MN" sz="1700" b="1" dirty="0">
                <a:solidFill>
                  <a:srgbClr val="F2F2F0"/>
                </a:solidFill>
                <a:latin typeface="Arial"/>
                <a:cs typeface="Arial"/>
              </a:rPr>
              <a:t>1,239.22</a:t>
            </a:r>
          </a:p>
          <a:p>
            <a:pPr algn="l">
              <a:spcBef>
                <a:spcPts val="0"/>
              </a:spcBef>
            </a:pPr>
            <a:r>
              <a:rPr lang="mn-MN" sz="900" b="0" dirty="0">
                <a:solidFill>
                  <a:srgbClr val="A8A8AE"/>
                </a:solidFill>
                <a:latin typeface="Arial"/>
                <a:cs typeface="Arial"/>
              </a:rPr>
              <a:t>мян.м³ элс үйлдвэрт</a:t>
            </a:r>
          </a:p>
        </p:txBody>
      </p:sp>
      <p:sp>
        <p:nvSpPr>
          <p:cNvPr id="116" name="Box 116"/>
          <p:cNvSpPr/>
          <p:nvPr/>
        </p:nvSpPr>
        <p:spPr>
          <a:xfrm>
            <a:off x="1819656" y="1627632"/>
            <a:ext cx="1261872" cy="868680"/>
          </a:xfrm>
          <a:prstGeom prst="roundRect">
            <a:avLst>
              <a:gd name="adj" fmla="val 8000"/>
            </a:avLst>
          </a:prstGeom>
          <a:solidFill>
            <a:srgbClr val="2A2A30"/>
          </a:solidFill>
          <a:ln w="9525">
            <a:solidFill>
              <a:srgbClr val="3A3A40"/>
            </a:solidFill>
          </a:ln>
        </p:spPr>
        <p:txBody>
          <a:bodyPr wrap="square" lIns="91440" tIns="73152" rIns="54864" bIns="36576" anchor="t">
            <a:normAutofit/>
          </a:bodyPr>
          <a:lstStyle/>
          <a:p>
            <a:pPr algn="l">
              <a:spcBef>
                <a:spcPts val="0"/>
              </a:spcBef>
            </a:pPr>
            <a:r>
              <a:rPr lang="mn-MN" sz="1700" b="1" dirty="0">
                <a:solidFill>
                  <a:srgbClr val="F5E614"/>
                </a:solidFill>
                <a:latin typeface="Arial"/>
                <a:cs typeface="Arial"/>
              </a:rPr>
              <a:t>1,195.19</a:t>
            </a:r>
          </a:p>
          <a:p>
            <a:pPr algn="l">
              <a:spcBef>
                <a:spcPts val="0"/>
              </a:spcBef>
            </a:pPr>
            <a:r>
              <a:rPr lang="mn-MN" sz="900" b="0" dirty="0">
                <a:solidFill>
                  <a:srgbClr val="A8A8AE"/>
                </a:solidFill>
                <a:latin typeface="Arial"/>
                <a:cs typeface="Arial"/>
              </a:rPr>
              <a:t>тн Sn баяжмал</a:t>
            </a:r>
          </a:p>
        </p:txBody>
      </p:sp>
      <p:sp>
        <p:nvSpPr>
          <p:cNvPr id="117" name="Box 117"/>
          <p:cNvSpPr/>
          <p:nvPr/>
        </p:nvSpPr>
        <p:spPr>
          <a:xfrm>
            <a:off x="3154680" y="1627632"/>
            <a:ext cx="1261872" cy="868680"/>
          </a:xfrm>
          <a:prstGeom prst="roundRect">
            <a:avLst>
              <a:gd name="adj" fmla="val 8000"/>
            </a:avLst>
          </a:prstGeom>
          <a:solidFill>
            <a:srgbClr val="2A2A30"/>
          </a:solidFill>
          <a:ln w="9525">
            <a:solidFill>
              <a:srgbClr val="3A3A40"/>
            </a:solidFill>
          </a:ln>
        </p:spPr>
        <p:txBody>
          <a:bodyPr wrap="square" lIns="91440" tIns="73152" rIns="54864" bIns="36576" anchor="t">
            <a:normAutofit/>
          </a:bodyPr>
          <a:lstStyle/>
          <a:p>
            <a:pPr algn="l">
              <a:spcBef>
                <a:spcPts val="0"/>
              </a:spcBef>
            </a:pPr>
            <a:r>
              <a:rPr lang="mn-MN" sz="1700" b="1" dirty="0">
                <a:solidFill>
                  <a:srgbClr val="8DB8D6"/>
                </a:solidFill>
                <a:latin typeface="Arial"/>
                <a:cs typeface="Arial"/>
              </a:rPr>
              <a:t>54.51</a:t>
            </a:r>
          </a:p>
          <a:p>
            <a:pPr algn="l">
              <a:spcBef>
                <a:spcPts val="0"/>
              </a:spcBef>
            </a:pPr>
            <a:r>
              <a:rPr lang="mn-MN" sz="900" b="0" dirty="0">
                <a:solidFill>
                  <a:srgbClr val="A8A8AE"/>
                </a:solidFill>
                <a:latin typeface="Arial"/>
                <a:cs typeface="Arial"/>
              </a:rPr>
              <a:t>тн W баяжмал</a:t>
            </a:r>
          </a:p>
        </p:txBody>
      </p:sp>
      <p:sp>
        <p:nvSpPr>
          <p:cNvPr id="118" name="Box 118"/>
          <p:cNvSpPr/>
          <p:nvPr/>
        </p:nvSpPr>
        <p:spPr>
          <a:xfrm>
            <a:off x="484632" y="2633472"/>
            <a:ext cx="3931920" cy="3246120"/>
          </a:xfrm>
          <a:prstGeom prst="roundRect">
            <a:avLst>
              <a:gd name="adj" fmla="val 8000"/>
            </a:avLst>
          </a:prstGeom>
          <a:solidFill>
            <a:srgbClr val="F2F2F0"/>
          </a:solidFill>
          <a:ln>
            <a:noFill/>
          </a:ln>
        </p:spPr>
        <p:txBody>
          <a:bodyPr wrap="square" lIns="0" tIns="0" rIns="0" bIns="0" anchor="t">
            <a:normAutofit/>
          </a:bodyPr>
          <a:lstStyle/>
          <a:p>
            <a:endParaRPr lang="mn-MN" sz="1000"/>
          </a:p>
        </p:txBody>
      </p:sp>
      <p:pic>
        <p:nvPicPr>
          <p:cNvPr id="119" name="Picture 119" descr="Баяжуулалтын технологийн схем"/>
          <p:cNvPicPr>
            <a:picLocks noChangeAspect="1"/>
          </p:cNvPicPr>
          <p:nvPr/>
        </p:nvPicPr>
        <p:blipFill>
          <a:blip r:embed="rId4"/>
          <a:stretch>
            <a:fillRect/>
          </a:stretch>
        </p:blipFill>
        <p:spPr>
          <a:xfrm>
            <a:off x="896112" y="2724912"/>
            <a:ext cx="3108960" cy="2926080"/>
          </a:xfrm>
          <a:prstGeom prst="roundRect">
            <a:avLst>
              <a:gd name="adj" fmla="val 5000"/>
            </a:avLst>
          </a:prstGeom>
        </p:spPr>
      </p:pic>
      <p:sp>
        <p:nvSpPr>
          <p:cNvPr id="120" name="Box 120"/>
          <p:cNvSpPr txBox="1"/>
          <p:nvPr/>
        </p:nvSpPr>
        <p:spPr>
          <a:xfrm>
            <a:off x="621792" y="5623560"/>
            <a:ext cx="3657600" cy="228600"/>
          </a:xfrm>
          <a:prstGeom prst="rect">
            <a:avLst/>
          </a:prstGeom>
          <a:noFill/>
          <a:ln>
            <a:noFill/>
          </a:ln>
        </p:spPr>
        <p:txBody>
          <a:bodyPr wrap="square" lIns="0" tIns="0" rIns="0" bIns="0" anchor="t">
            <a:normAutofit/>
          </a:bodyPr>
          <a:lstStyle/>
          <a:p>
            <a:pPr algn="l">
              <a:spcBef>
                <a:spcPts val="0"/>
              </a:spcBef>
            </a:pPr>
            <a:r>
              <a:rPr lang="mn-MN" sz="900" b="0" dirty="0">
                <a:solidFill>
                  <a:srgbClr val="55555C"/>
                </a:solidFill>
                <a:latin typeface="Arial"/>
                <a:cs typeface="Arial"/>
              </a:rPr>
              <a:t>Схем: ШУА ХХТХ, Эрдсийн технологийн төв, 2016</a:t>
            </a:r>
          </a:p>
        </p:txBody>
      </p:sp>
    </p:spTree>
    <p:extLst>
      <p:ext uri="{BB962C8B-B14F-4D97-AF65-F5344CB8AC3E}">
        <p14:creationId xmlns:p14="http://schemas.microsoft.com/office/powerpoint/2010/main" val="33792000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B03C6-1CF4-B268-A4FD-F2EA062B2060}"/>
              </a:ext>
            </a:extLst>
          </p:cNvPr>
          <p:cNvSpPr>
            <a:spLocks noGrp="1"/>
          </p:cNvSpPr>
          <p:nvPr>
            <p:ph type="title"/>
          </p:nvPr>
        </p:nvSpPr>
        <p:spPr/>
        <p:txBody>
          <a:bodyPr/>
          <a:lstStyle/>
          <a:p>
            <a:r>
              <a:rPr lang="mn-MN" dirty="0"/>
              <a:t>Дэд бүтэц</a:t>
            </a:r>
            <a:endParaRPr lang="en-US" dirty="0"/>
          </a:p>
        </p:txBody>
      </p:sp>
      <p:sp>
        <p:nvSpPr>
          <p:cNvPr id="60" name="Infra card 0"/>
          <p:cNvSpPr/>
          <p:nvPr/>
        </p:nvSpPr>
        <p:spPr>
          <a:xfrm>
            <a:off x="620562" y="2847471"/>
            <a:ext cx="5334000" cy="2512062"/>
          </a:xfrm>
          <a:prstGeom prst="rect">
            <a:avLst/>
          </a:prstGeom>
          <a:solidFill>
            <a:srgbClr val="2C2C30"/>
          </a:solidFill>
          <a:ln>
            <a:noFill/>
          </a:ln>
        </p:spPr>
        <p:txBody>
          <a:bodyPr/>
          <a:lstStyle/>
          <a:p>
            <a:endParaRPr lang="mn-MN" dirty="0"/>
          </a:p>
        </p:txBody>
      </p:sp>
      <p:sp>
        <p:nvSpPr>
          <p:cNvPr id="61" name="Infra bar 0"/>
          <p:cNvSpPr/>
          <p:nvPr/>
        </p:nvSpPr>
        <p:spPr>
          <a:xfrm>
            <a:off x="609600" y="1625600"/>
            <a:ext cx="5334000" cy="50800"/>
          </a:xfrm>
          <a:prstGeom prst="rect">
            <a:avLst/>
          </a:prstGeom>
          <a:solidFill>
            <a:srgbClr val="F5E614"/>
          </a:solidFill>
          <a:ln>
            <a:noFill/>
          </a:ln>
        </p:spPr>
        <p:txBody>
          <a:bodyPr/>
          <a:lstStyle/>
          <a:p>
            <a:endParaRPr lang="mn-MN" dirty="0"/>
          </a:p>
        </p:txBody>
      </p:sp>
      <p:sp>
        <p:nvSpPr>
          <p:cNvPr id="62" name="Infra text 0"/>
          <p:cNvSpPr txBox="1"/>
          <p:nvPr/>
        </p:nvSpPr>
        <p:spPr>
          <a:xfrm>
            <a:off x="838200" y="2734778"/>
            <a:ext cx="4876800" cy="2562861"/>
          </a:xfrm>
          <a:prstGeom prst="rect">
            <a:avLst/>
          </a:prstGeom>
          <a:noFill/>
          <a:ln>
            <a:noFill/>
          </a:ln>
        </p:spPr>
        <p:txBody>
          <a:bodyPr wrap="square" lIns="0" tIns="0" rIns="0" bIns="0" anchor="ctr">
            <a:noAutofit/>
          </a:bodyPr>
          <a:lstStyle/>
          <a:p>
            <a:pPr marL="0" indent="0" algn="just">
              <a:lnSpc>
                <a:spcPct val="140000"/>
              </a:lnSpc>
              <a:buNone/>
            </a:pPr>
            <a:r>
              <a:rPr lang="mn-MN" sz="1600" dirty="0">
                <a:solidFill>
                  <a:srgbClr val="D6D6D8"/>
                </a:solidFill>
              </a:rPr>
              <a:t>Талбай нь дэд бүтэц, зам харилцаа сайн хөгжсөн бүс нутагт оршдог. Цахилгааныг сумын төвөөс татсан 35 кВ-ын шугам, дэд станцаас авах бөгөөд нөөцөд 250 кВт-ын генератортой. Ундны усыг гүний худгаас, технологийн усыг уурхайн шүүрлийн усаар хангана. Үүрэн холбооны сүлжээ нэвтэрсэн.</a:t>
            </a:r>
          </a:p>
        </p:txBody>
      </p:sp>
      <p:pic>
        <p:nvPicPr>
          <p:cNvPr id="900" name="!!Truck" descr="Автосамосвал"/>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24400" y="6464300"/>
            <a:ext cx="330200" cy="330200"/>
          </a:xfrm>
          <a:prstGeom prst="rect">
            <a:avLst/>
          </a:prstGeom>
        </p:spPr>
      </p:pic>
      <p:pic>
        <p:nvPicPr>
          <p:cNvPr id="3" name="Picture 2">
            <a:extLst>
              <a:ext uri="{FF2B5EF4-FFF2-40B4-BE49-F238E27FC236}">
                <a16:creationId xmlns:a16="http://schemas.microsoft.com/office/drawing/2014/main" id="{8F487B61-6CCB-DDED-A51E-A09BC06F1596}"/>
              </a:ext>
            </a:extLst>
          </p:cNvPr>
          <p:cNvPicPr>
            <a:picLocks noChangeAspect="1"/>
          </p:cNvPicPr>
          <p:nvPr/>
        </p:nvPicPr>
        <p:blipFill>
          <a:blip r:embed="rId4"/>
          <a:srcRect t="25000" b="19200"/>
          <a:stretch>
            <a:fillRect/>
          </a:stretch>
        </p:blipFill>
        <p:spPr>
          <a:xfrm>
            <a:off x="6248400" y="1625600"/>
            <a:ext cx="5334000" cy="2209800"/>
          </a:xfrm>
          <a:prstGeom prst="rect">
            <a:avLst/>
          </a:prstGeom>
        </p:spPr>
      </p:pic>
      <p:pic>
        <p:nvPicPr>
          <p:cNvPr id="5" name="Picture 4">
            <a:extLst>
              <a:ext uri="{FF2B5EF4-FFF2-40B4-BE49-F238E27FC236}">
                <a16:creationId xmlns:a16="http://schemas.microsoft.com/office/drawing/2014/main" id="{F8077A6C-8F19-3058-41BB-2BCD9FA9931A}"/>
              </a:ext>
            </a:extLst>
          </p:cNvPr>
          <p:cNvPicPr>
            <a:picLocks noChangeAspect="1"/>
          </p:cNvPicPr>
          <p:nvPr/>
        </p:nvPicPr>
        <p:blipFill>
          <a:blip r:embed="rId5"/>
          <a:srcRect t="26000" b="18200"/>
          <a:stretch>
            <a:fillRect/>
          </a:stretch>
        </p:blipFill>
        <p:spPr>
          <a:xfrm>
            <a:off x="6248400" y="4013200"/>
            <a:ext cx="5334000" cy="2209800"/>
          </a:xfrm>
          <a:prstGeom prst="rect">
            <a:avLst/>
          </a:prstGeom>
        </p:spPr>
      </p:pic>
    </p:spTree>
    <p:extLst>
      <p:ext uri="{BB962C8B-B14F-4D97-AF65-F5344CB8AC3E}">
        <p14:creationId xmlns:p14="http://schemas.microsoft.com/office/powerpoint/2010/main" val="9335037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ard 0"/>
          <p:cNvSpPr/>
          <p:nvPr/>
        </p:nvSpPr>
        <p:spPr>
          <a:xfrm>
            <a:off x="6248400" y="1844574"/>
            <a:ext cx="5334000" cy="2311400"/>
          </a:xfrm>
          <a:prstGeom prst="rect">
            <a:avLst/>
          </a:prstGeom>
          <a:solidFill>
            <a:srgbClr val="2C2C30"/>
          </a:solidFill>
          <a:ln>
            <a:noFill/>
          </a:ln>
        </p:spPr>
        <p:txBody>
          <a:bodyPr/>
          <a:lstStyle/>
          <a:p>
            <a:endParaRPr lang="mn-MN" dirty="0"/>
          </a:p>
        </p:txBody>
      </p:sp>
      <p:sp>
        <p:nvSpPr>
          <p:cNvPr id="12" name="Card bar 0"/>
          <p:cNvSpPr/>
          <p:nvPr/>
        </p:nvSpPr>
        <p:spPr>
          <a:xfrm>
            <a:off x="6248400" y="1675331"/>
            <a:ext cx="5334000" cy="50800"/>
          </a:xfrm>
          <a:prstGeom prst="rect">
            <a:avLst/>
          </a:prstGeom>
          <a:solidFill>
            <a:srgbClr val="F5E614"/>
          </a:solidFill>
          <a:ln>
            <a:noFill/>
          </a:ln>
        </p:spPr>
        <p:txBody>
          <a:bodyPr/>
          <a:lstStyle/>
          <a:p>
            <a:endParaRPr lang="mn-MN" dirty="0"/>
          </a:p>
        </p:txBody>
      </p:sp>
      <p:sp>
        <p:nvSpPr>
          <p:cNvPr id="2" name="Title 1">
            <a:extLst>
              <a:ext uri="{FF2B5EF4-FFF2-40B4-BE49-F238E27FC236}">
                <a16:creationId xmlns:a16="http://schemas.microsoft.com/office/drawing/2014/main" id="{17BB03C6-1CF4-B268-A4FD-F2EA062B2060}"/>
              </a:ext>
            </a:extLst>
          </p:cNvPr>
          <p:cNvSpPr>
            <a:spLocks noGrp="1"/>
          </p:cNvSpPr>
          <p:nvPr>
            <p:ph type="title"/>
          </p:nvPr>
        </p:nvSpPr>
        <p:spPr>
          <a:xfrm>
            <a:off x="609600" y="254000"/>
            <a:ext cx="7154008" cy="1168400"/>
          </a:xfrm>
        </p:spPr>
        <p:txBody>
          <a:bodyPr/>
          <a:lstStyle/>
          <a:p>
            <a:r>
              <a:rPr lang="mn-MN" dirty="0"/>
              <a:t>Ажиллах хүчин ба Хөдөлмөр хамгаалал</a:t>
            </a:r>
            <a:endParaRPr lang="en-US" dirty="0"/>
          </a:p>
        </p:txBody>
      </p:sp>
      <p:sp>
        <p:nvSpPr>
          <p:cNvPr id="14" name="Card text 1"/>
          <p:cNvSpPr txBox="1"/>
          <p:nvPr/>
        </p:nvSpPr>
        <p:spPr>
          <a:xfrm>
            <a:off x="6437697" y="1860348"/>
            <a:ext cx="4724400" cy="2295626"/>
          </a:xfrm>
          <a:prstGeom prst="rect">
            <a:avLst/>
          </a:prstGeom>
          <a:noFill/>
          <a:ln>
            <a:noFill/>
          </a:ln>
        </p:spPr>
        <p:txBody>
          <a:bodyPr wrap="square" lIns="0" tIns="0" rIns="0" bIns="0" anchor="ctr">
            <a:noAutofit/>
          </a:bodyPr>
          <a:lstStyle/>
          <a:p>
            <a:pPr marL="0" indent="0" algn="l">
              <a:lnSpc>
                <a:spcPct val="140000"/>
              </a:lnSpc>
              <a:buNone/>
            </a:pPr>
            <a:r>
              <a:rPr lang="mn-MN" sz="1500" dirty="0">
                <a:solidFill>
                  <a:srgbClr val="D6D6D8"/>
                </a:solidFill>
              </a:rPr>
              <a:t>Төсөл хэрэгжсэнээр 125 ажлын байр бий болно. Орон нутагтай хамтран ажиллах гэрээний дагуу ихэнх ажилчдыг орон нутгаас авна. ХАБЭА-н сургалт, хувцас, хэрэгсэлд 7 жилд 1,496.8 сая ₮ буюу үйл ажиллагааны зардлын 2.2%-ийг зарцуулж, гамшгийн болон ажлын байрны эрсдэлийн үнэлгээг жил бүр шинэчилнэ.</a:t>
            </a:r>
          </a:p>
        </p:txBody>
      </p:sp>
      <p:pic>
        <p:nvPicPr>
          <p:cNvPr id="900" name="!!Truck" descr="Автосамосвал"/>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81600" y="6464300"/>
            <a:ext cx="330200" cy="330200"/>
          </a:xfrm>
          <a:prstGeom prst="rect">
            <a:avLst/>
          </a:prstGeom>
        </p:spPr>
      </p:pic>
      <p:graphicFrame>
        <p:nvGraphicFramePr>
          <p:cNvPr id="4" name="Staff table">
            <a:extLst>
              <a:ext uri="{FF2B5EF4-FFF2-40B4-BE49-F238E27FC236}">
                <a16:creationId xmlns:a16="http://schemas.microsoft.com/office/drawing/2014/main" id="{E32BC496-CB5F-4F16-8EEB-D30AA304C40E}"/>
              </a:ext>
            </a:extLst>
          </p:cNvPr>
          <p:cNvGraphicFramePr>
            <a:graphicFrameLocks noGrp="1"/>
          </p:cNvGraphicFramePr>
          <p:nvPr>
            <p:extLst>
              <p:ext uri="{D42A27DB-BD31-4B8C-83A1-F6EECF244321}">
                <p14:modId xmlns:p14="http://schemas.microsoft.com/office/powerpoint/2010/main" val="519399484"/>
              </p:ext>
            </p:extLst>
          </p:nvPr>
        </p:nvGraphicFramePr>
        <p:xfrm>
          <a:off x="6248400" y="4309731"/>
          <a:ext cx="5334000" cy="1982280"/>
        </p:xfrm>
        <a:graphic>
          <a:graphicData uri="http://schemas.openxmlformats.org/drawingml/2006/table">
            <a:tbl>
              <a:tblPr/>
              <a:tblGrid>
                <a:gridCol w="3810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2"/>
                    </a:ext>
                  </a:extLst>
                </a:gridCol>
              </a:tblGrid>
              <a:tr h="205759">
                <a:tc>
                  <a:txBody>
                    <a:bodyPr/>
                    <a:lstStyle/>
                    <a:p>
                      <a:pPr algn="l"/>
                      <a:r>
                        <a:rPr lang="mn-MN" sz="1300" b="1" dirty="0">
                          <a:solidFill>
                            <a:srgbClr val="F5E614"/>
                          </a:solidFill>
                        </a:rPr>
                        <a:t>Хэсэг нэгж</a:t>
                      </a:r>
                    </a:p>
                  </a:txBody>
                  <a:tcPr marL="0" marT="36000" marB="36000" anchor="ctr">
                    <a:lnL w="0">
                      <a:noFill/>
                    </a:lnL>
                    <a:lnR w="0">
                      <a:noFill/>
                    </a:lnR>
                    <a:lnT w="0">
                      <a:noFill/>
                    </a:lnT>
                    <a:lnB w="19050">
                      <a:solidFill>
                        <a:srgbClr val="F5E614"/>
                      </a:solidFill>
                    </a:lnB>
                    <a:noFill/>
                  </a:tcPr>
                </a:tc>
                <a:tc>
                  <a:txBody>
                    <a:bodyPr/>
                    <a:lstStyle/>
                    <a:p>
                      <a:pPr algn="r"/>
                      <a:r>
                        <a:rPr lang="mn-MN" sz="1300" b="1" dirty="0">
                          <a:solidFill>
                            <a:srgbClr val="F5E614"/>
                          </a:solidFill>
                        </a:rPr>
                        <a:t>Орон тоо</a:t>
                      </a:r>
                    </a:p>
                  </a:txBody>
                  <a:tcPr marR="0" marT="36000" marB="36000" anchor="ctr">
                    <a:lnL w="0">
                      <a:noFill/>
                    </a:lnL>
                    <a:lnR w="0">
                      <a:noFill/>
                    </a:lnR>
                    <a:lnT w="0">
                      <a:noFill/>
                    </a:lnT>
                    <a:lnB w="19050">
                      <a:solidFill>
                        <a:srgbClr val="F5E614"/>
                      </a:solidFill>
                    </a:lnB>
                    <a:noFill/>
                  </a:tcPr>
                </a:tc>
                <a:extLst>
                  <a:ext uri="{0D108BD9-81ED-4DB2-BD59-A6C34878D82A}">
                    <a16:rowId xmlns:a16="http://schemas.microsoft.com/office/drawing/2014/main" val="10000"/>
                  </a:ext>
                </a:extLst>
              </a:tr>
              <a:tr h="205759">
                <a:tc>
                  <a:txBody>
                    <a:bodyPr/>
                    <a:lstStyle/>
                    <a:p>
                      <a:pPr algn="l"/>
                      <a:r>
                        <a:rPr lang="mn-MN" sz="1400" b="1" dirty="0">
                          <a:solidFill>
                            <a:srgbClr val="F2F2F0"/>
                          </a:solidFill>
                        </a:rPr>
                        <a:t>Удирдлага захиргаа</a:t>
                      </a:r>
                    </a:p>
                  </a:txBody>
                  <a:tcPr marL="0" marT="36000" marB="36000" anchor="ctr">
                    <a:lnL w="0">
                      <a:noFill/>
                    </a:lnL>
                    <a:lnR w="0">
                      <a:noFill/>
                    </a:lnR>
                    <a:lnT w="19050" cap="flat" cmpd="sng" algn="ctr">
                      <a:solidFill>
                        <a:srgbClr val="F5E614"/>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6</a:t>
                      </a:r>
                    </a:p>
                  </a:txBody>
                  <a:tcPr marR="0" marT="36000" marB="36000" anchor="ctr">
                    <a:lnL w="0">
                      <a:noFill/>
                    </a:lnL>
                    <a:lnR w="0">
                      <a:noFill/>
                    </a:lnR>
                    <a:lnT w="19050" cap="flat" cmpd="sng" algn="ctr">
                      <a:solidFill>
                        <a:srgbClr val="F5E614"/>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1"/>
                  </a:ext>
                </a:extLst>
              </a:tr>
              <a:tr h="205759">
                <a:tc>
                  <a:txBody>
                    <a:bodyPr/>
                    <a:lstStyle/>
                    <a:p>
                      <a:pPr algn="l"/>
                      <a:r>
                        <a:rPr lang="mn-MN" sz="1400" b="1" dirty="0">
                          <a:solidFill>
                            <a:srgbClr val="F2F2F0"/>
                          </a:solidFill>
                        </a:rPr>
                        <a:t>Ил уурхай</a:t>
                      </a:r>
                    </a:p>
                  </a:txBody>
                  <a:tcPr marL="0" marT="36000" marB="36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47</a:t>
                      </a:r>
                    </a:p>
                  </a:txBody>
                  <a:tcPr marR="0" marT="36000" marB="36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2"/>
                  </a:ext>
                </a:extLst>
              </a:tr>
              <a:tr h="205759">
                <a:tc>
                  <a:txBody>
                    <a:bodyPr/>
                    <a:lstStyle/>
                    <a:p>
                      <a:pPr algn="l"/>
                      <a:r>
                        <a:rPr lang="mn-MN" sz="1400" b="1" dirty="0">
                          <a:solidFill>
                            <a:srgbClr val="F2F2F0"/>
                          </a:solidFill>
                        </a:rPr>
                        <a:t>Баяжуулах цех</a:t>
                      </a:r>
                    </a:p>
                  </a:txBody>
                  <a:tcPr marL="0" marT="36000" marB="36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30</a:t>
                      </a:r>
                    </a:p>
                  </a:txBody>
                  <a:tcPr marR="0" marT="36000" marB="36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3"/>
                  </a:ext>
                </a:extLst>
              </a:tr>
              <a:tr h="205759">
                <a:tc>
                  <a:txBody>
                    <a:bodyPr/>
                    <a:lstStyle/>
                    <a:p>
                      <a:pPr algn="l"/>
                      <a:r>
                        <a:rPr lang="mn-MN" sz="1400" b="1" dirty="0">
                          <a:solidFill>
                            <a:srgbClr val="F2F2F0"/>
                          </a:solidFill>
                        </a:rPr>
                        <a:t>Засварын цех</a:t>
                      </a:r>
                    </a:p>
                  </a:txBody>
                  <a:tcPr marL="0" marT="36000" marB="36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20</a:t>
                      </a:r>
                    </a:p>
                  </a:txBody>
                  <a:tcPr marR="0" marT="36000" marB="36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4"/>
                  </a:ext>
                </a:extLst>
              </a:tr>
              <a:tr h="205759">
                <a:tc>
                  <a:txBody>
                    <a:bodyPr/>
                    <a:lstStyle/>
                    <a:p>
                      <a:pPr algn="l"/>
                      <a:r>
                        <a:rPr lang="mn-MN" sz="1400" b="1" dirty="0">
                          <a:solidFill>
                            <a:srgbClr val="F2F2F0"/>
                          </a:solidFill>
                        </a:rPr>
                        <a:t>Хотхон</a:t>
                      </a:r>
                    </a:p>
                  </a:txBody>
                  <a:tcPr marL="0" marT="36000" marB="36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tc>
                  <a:txBody>
                    <a:bodyPr/>
                    <a:lstStyle/>
                    <a:p>
                      <a:pPr algn="r"/>
                      <a:r>
                        <a:rPr lang="mn-MN" sz="1400" b="1" dirty="0">
                          <a:solidFill>
                            <a:srgbClr val="F2F2F0"/>
                          </a:solidFill>
                        </a:rPr>
                        <a:t>20</a:t>
                      </a:r>
                    </a:p>
                  </a:txBody>
                  <a:tcPr marR="0" marT="36000" marB="36000" anchor="ctr">
                    <a:lnL w="0">
                      <a:noFill/>
                    </a:lnL>
                    <a:lnR w="0">
                      <a:noFill/>
                    </a:lnR>
                    <a:lnT w="9525" cap="flat" cmpd="sng" algn="ctr">
                      <a:solidFill>
                        <a:srgbClr val="3A3A40"/>
                      </a:solidFill>
                      <a:prstDash val="solid"/>
                      <a:round/>
                      <a:headEnd type="none" w="med" len="med"/>
                      <a:tailEnd type="none" w="med" len="med"/>
                    </a:lnT>
                    <a:lnB w="9525">
                      <a:solidFill>
                        <a:srgbClr val="3A3A40"/>
                      </a:solidFill>
                    </a:lnB>
                    <a:noFill/>
                  </a:tcPr>
                </a:tc>
                <a:extLst>
                  <a:ext uri="{0D108BD9-81ED-4DB2-BD59-A6C34878D82A}">
                    <a16:rowId xmlns:a16="http://schemas.microsoft.com/office/drawing/2014/main" val="10005"/>
                  </a:ext>
                </a:extLst>
              </a:tr>
              <a:tr h="205759">
                <a:tc>
                  <a:txBody>
                    <a:bodyPr/>
                    <a:lstStyle/>
                    <a:p>
                      <a:pPr algn="l"/>
                      <a:r>
                        <a:rPr lang="mn-MN" sz="1400" b="1" dirty="0">
                          <a:solidFill>
                            <a:srgbClr val="F2F2F0"/>
                          </a:solidFill>
                        </a:rPr>
                        <a:t>Нийт</a:t>
                      </a:r>
                    </a:p>
                  </a:txBody>
                  <a:tcPr marL="0" marT="36000" marB="36000" anchor="ctr">
                    <a:lnL w="0">
                      <a:noFill/>
                    </a:lnL>
                    <a:lnR w="0">
                      <a:noFill/>
                    </a:lnR>
                    <a:lnT w="9525" cap="flat" cmpd="sng" algn="ctr">
                      <a:solidFill>
                        <a:srgbClr val="3A3A40"/>
                      </a:solidFill>
                      <a:prstDash val="solid"/>
                      <a:round/>
                      <a:headEnd type="none" w="med" len="med"/>
                      <a:tailEnd type="none" w="med" len="med"/>
                    </a:lnT>
                    <a:lnB w="0">
                      <a:noFill/>
                    </a:lnB>
                    <a:noFill/>
                  </a:tcPr>
                </a:tc>
                <a:tc>
                  <a:txBody>
                    <a:bodyPr/>
                    <a:lstStyle/>
                    <a:p>
                      <a:pPr algn="r"/>
                      <a:r>
                        <a:rPr lang="mn-MN" sz="1400" b="1" dirty="0">
                          <a:solidFill>
                            <a:srgbClr val="F2F2F0"/>
                          </a:solidFill>
                        </a:rPr>
                        <a:t>125</a:t>
                      </a:r>
                    </a:p>
                  </a:txBody>
                  <a:tcPr marR="0" marT="36000" marB="36000" anchor="ctr">
                    <a:lnL w="0">
                      <a:noFill/>
                    </a:lnL>
                    <a:lnR w="0">
                      <a:noFill/>
                    </a:lnR>
                    <a:lnT w="9525" cap="flat" cmpd="sng" algn="ctr">
                      <a:solidFill>
                        <a:srgbClr val="3A3A40"/>
                      </a:solidFill>
                      <a:prstDash val="solid"/>
                      <a:round/>
                      <a:headEnd type="none" w="med" len="med"/>
                      <a:tailEnd type="none" w="med" len="med"/>
                    </a:lnT>
                    <a:lnB w="0">
                      <a:noFill/>
                    </a:lnB>
                    <a:noFill/>
                  </a:tcPr>
                </a:tc>
                <a:extLst>
                  <a:ext uri="{0D108BD9-81ED-4DB2-BD59-A6C34878D82A}">
                    <a16:rowId xmlns:a16="http://schemas.microsoft.com/office/drawing/2014/main" val="10006"/>
                  </a:ext>
                </a:extLst>
              </a:tr>
            </a:tbl>
          </a:graphicData>
        </a:graphic>
      </p:graphicFrame>
      <p:pic>
        <p:nvPicPr>
          <p:cNvPr id="1026" name="Picture 2" descr="AI generated image">
            <a:extLst>
              <a:ext uri="{FF2B5EF4-FFF2-40B4-BE49-F238E27FC236}">
                <a16:creationId xmlns:a16="http://schemas.microsoft.com/office/drawing/2014/main" id="{14FBA074-388A-2E3F-6C0D-AB0BEA1EAB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778" y="2569928"/>
            <a:ext cx="5516616" cy="3008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83605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decel="100000" fill="hold" nodeType="after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additive="base">
                                        <p:cTn id="8" dur="500" fill="hold"/>
                                        <p:tgtEl>
                                          <p:spTgt spid="10"/>
                                        </p:tgtEl>
                                        <p:attrNameLst>
                                          <p:attrName>ppt_x</p:attrName>
                                        </p:attrNameLst>
                                      </p:cBhvr>
                                      <p:tavLst>
                                        <p:tav tm="0">
                                          <p:val>
                                            <p:strVal val="#ppt_x"/>
                                          </p:val>
                                        </p:tav>
                                        <p:tav tm="100000">
                                          <p:val>
                                            <p:strVal val="#ppt_x"/>
                                          </p:val>
                                        </p:tav>
                                      </p:tavLst>
                                    </p:anim>
                                    <p:anim calcmode="lin" valueType="num">
                                      <p:cBhvr additive="base">
                                        <p:cTn id="9" dur="500" fill="hold"/>
                                        <p:tgtEl>
                                          <p:spTgt spid="10"/>
                                        </p:tgtEl>
                                        <p:attrNameLst>
                                          <p:attrName>ppt_y</p:attrName>
                                        </p:attrNameLst>
                                      </p:cBhvr>
                                      <p:tavLst>
                                        <p:tav tm="0">
                                          <p:val>
                                            <p:strVal val="#ppt_y+.06"/>
                                          </p:val>
                                        </p:tav>
                                        <p:tav tm="100000">
                                          <p:val>
                                            <p:strVal val="#ppt_y"/>
                                          </p:val>
                                        </p:tav>
                                      </p:tavLst>
                                    </p:anim>
                                  </p:childTnLst>
                                </p:cTn>
                              </p:par>
                              <p:par>
                                <p:cTn id="10" presetID="22" presetClass="entr" presetSubtype="8"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par>
                                <p:cTn id="13" presetID="10" presetClass="entr" presetSubtype="0" fill="hold" nodeType="withEffect">
                                  <p:stCondLst>
                                    <p:cond delay="30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260FA-FE9F-A1D3-3E47-97AADF5FCE8A}"/>
              </a:ext>
            </a:extLst>
          </p:cNvPr>
          <p:cNvSpPr>
            <a:spLocks noGrp="1"/>
          </p:cNvSpPr>
          <p:nvPr>
            <p:ph type="title"/>
          </p:nvPr>
        </p:nvSpPr>
        <p:spPr/>
        <p:txBody>
          <a:bodyPr>
            <a:normAutofit/>
          </a:bodyPr>
          <a:lstStyle/>
          <a:p>
            <a:r>
              <a:rPr lang="mn-MN" dirty="0"/>
              <a:t>Уурхайн хаалт, нөхөн сэргээлт</a:t>
            </a:r>
            <a:endParaRPr lang="en-US" dirty="0"/>
          </a:p>
        </p:txBody>
      </p:sp>
      <p:graphicFrame>
        <p:nvGraphicFramePr>
          <p:cNvPr id="3" name="Chart"/>
          <p:cNvGraphicFramePr/>
          <p:nvPr/>
        </p:nvGraphicFramePr>
        <p:xfrm>
          <a:off x="609600" y="2413000"/>
          <a:ext cx="5334000" cy="2108200"/>
        </p:xfrm>
        <a:graphic>
          <a:graphicData uri="http://schemas.openxmlformats.org/drawingml/2006/chart">
            <c:chart xmlns:c="http://schemas.openxmlformats.org/drawingml/2006/chart" xmlns:r="http://schemas.openxmlformats.org/officeDocument/2006/relationships" r:id="rId2"/>
          </a:graphicData>
        </a:graphic>
      </p:graphicFrame>
      <p:sp>
        <p:nvSpPr>
          <p:cNvPr id="10" name="Chart label"/>
          <p:cNvSpPr txBox="1"/>
          <p:nvPr/>
        </p:nvSpPr>
        <p:spPr>
          <a:xfrm>
            <a:off x="609600" y="1676400"/>
            <a:ext cx="5334000" cy="279400"/>
          </a:xfrm>
          <a:prstGeom prst="rect">
            <a:avLst/>
          </a:prstGeom>
          <a:noFill/>
          <a:ln>
            <a:noFill/>
          </a:ln>
        </p:spPr>
        <p:txBody>
          <a:bodyPr wrap="square" lIns="0" tIns="0" rIns="0" bIns="0" anchor="t">
            <a:noAutofit/>
          </a:bodyPr>
          <a:lstStyle/>
          <a:p>
            <a:pPr algn="l">
              <a:buNone/>
            </a:pPr>
            <a:r>
              <a:rPr lang="mn-MN" sz="1400" b="1">
                <a:solidFill>
                  <a:srgbClr val="D6D6D8"/>
                </a:solidFill>
              </a:rPr>
              <a:t>Хаалт, нөхөн сэргээлтийн зардлын бүтэц, %</a:t>
            </a:r>
            <a:endParaRPr lang="mn-MN" sz="1400" b="1" dirty="0">
              <a:solidFill>
                <a:srgbClr val="D6D6D8"/>
              </a:solidFill>
            </a:endParaRPr>
          </a:p>
        </p:txBody>
      </p:sp>
      <p:sp>
        <p:nvSpPr>
          <p:cNvPr id="11" name="Recl head"/>
          <p:cNvSpPr txBox="1"/>
          <p:nvPr/>
        </p:nvSpPr>
        <p:spPr>
          <a:xfrm>
            <a:off x="609600" y="4648200"/>
            <a:ext cx="10972800" cy="279400"/>
          </a:xfrm>
          <a:prstGeom prst="rect">
            <a:avLst/>
          </a:prstGeom>
          <a:noFill/>
          <a:ln>
            <a:noFill/>
          </a:ln>
        </p:spPr>
        <p:txBody>
          <a:bodyPr wrap="square" lIns="0" tIns="0" rIns="0" bIns="0" anchor="t">
            <a:noAutofit/>
          </a:bodyPr>
          <a:lstStyle/>
          <a:p>
            <a:pPr algn="l">
              <a:buNone/>
            </a:pPr>
            <a:r>
              <a:rPr lang="mn-MN" sz="1400" b="1" dirty="0">
                <a:solidFill>
                  <a:srgbClr val="D6D6D8"/>
                </a:solidFill>
              </a:rPr>
              <a:t>Нөхөн сэргээлтийн дараалал</a:t>
            </a:r>
          </a:p>
        </p:txBody>
      </p:sp>
      <p:pic>
        <p:nvPicPr>
          <p:cNvPr id="900" name="!!Truck" descr="Автосамосвал"/>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8800" y="6464300"/>
            <a:ext cx="330200" cy="330200"/>
          </a:xfrm>
          <a:prstGeom prst="rect">
            <a:avLst/>
          </a:prstGeom>
        </p:spPr>
      </p:pic>
      <p:graphicFrame>
        <p:nvGraphicFramePr>
          <p:cNvPr id="901" name="Chart"/>
          <p:cNvGraphicFramePr/>
          <p:nvPr/>
        </p:nvGraphicFramePr>
        <p:xfrm>
          <a:off x="6248400" y="2362200"/>
          <a:ext cx="5334000" cy="2133600"/>
        </p:xfrm>
        <a:graphic>
          <a:graphicData uri="http://schemas.openxmlformats.org/drawingml/2006/chart">
            <c:chart xmlns:c="http://schemas.openxmlformats.org/drawingml/2006/chart" xmlns:r="http://schemas.openxmlformats.org/officeDocument/2006/relationships" r:id="rId5"/>
          </a:graphicData>
        </a:graphic>
      </p:graphicFrame>
      <p:sp>
        <p:nvSpPr>
          <p:cNvPr id="4" name="Area label">
            <a:extLst>
              <a:ext uri="{FF2B5EF4-FFF2-40B4-BE49-F238E27FC236}">
                <a16:creationId xmlns:a16="http://schemas.microsoft.com/office/drawing/2014/main" id="{F43DDFBC-9E80-4F43-B06A-0871A2F13D46}"/>
              </a:ext>
            </a:extLst>
          </p:cNvPr>
          <p:cNvSpPr txBox="1"/>
          <p:nvPr/>
        </p:nvSpPr>
        <p:spPr>
          <a:xfrm>
            <a:off x="6578600" y="2184400"/>
            <a:ext cx="5334000" cy="279400"/>
          </a:xfrm>
          <a:prstGeom prst="rect">
            <a:avLst/>
          </a:prstGeom>
          <a:noFill/>
        </p:spPr>
        <p:txBody>
          <a:bodyPr vertOverflow="overflow" vert="horz" wrap="square" lIns="0" tIns="0" rIns="0" bIns="0" rtlCol="0" anchor="t">
            <a:noAutofit/>
          </a:bodyPr>
          <a:lstStyle/>
          <a:p>
            <a:pPr algn="l"/>
            <a:r>
              <a:rPr lang="mn-MN" sz="1400" b="1" dirty="0">
                <a:solidFill>
                  <a:srgbClr val="D6D6D8"/>
                </a:solidFill>
                <a:latin typeface="Arial"/>
                <a:cs typeface="Arial"/>
              </a:rPr>
              <a:t>Жил бүрийн эвдрэлд өртөх талбайн хэмжээ. </a:t>
            </a:r>
            <a:endParaRPr lang="en-US" sz="1400" b="1" dirty="0">
              <a:solidFill>
                <a:srgbClr val="D6D6D8"/>
              </a:solidFill>
              <a:latin typeface="Arial"/>
              <a:cs typeface="Arial"/>
            </a:endParaRPr>
          </a:p>
        </p:txBody>
      </p:sp>
      <p:sp>
        <p:nvSpPr>
          <p:cNvPr id="5" name="Cost total">
            <a:extLst>
              <a:ext uri="{FF2B5EF4-FFF2-40B4-BE49-F238E27FC236}">
                <a16:creationId xmlns:a16="http://schemas.microsoft.com/office/drawing/2014/main" id="{A5D8FF7D-93C0-444C-9F92-B0349D59B824}"/>
              </a:ext>
            </a:extLst>
          </p:cNvPr>
          <p:cNvSpPr txBox="1"/>
          <p:nvPr/>
        </p:nvSpPr>
        <p:spPr>
          <a:xfrm>
            <a:off x="609600" y="1981200"/>
            <a:ext cx="2336800" cy="381000"/>
          </a:xfrm>
          <a:prstGeom prst="rect">
            <a:avLst/>
          </a:prstGeom>
          <a:noFill/>
        </p:spPr>
        <p:txBody>
          <a:bodyPr vertOverflow="overflow" vert="horz" wrap="square" lIns="0" tIns="0" rIns="0" bIns="0" rtlCol="0" anchor="t">
            <a:noAutofit/>
          </a:bodyPr>
          <a:lstStyle/>
          <a:p>
            <a:pPr algn="l"/>
            <a:r>
              <a:rPr lang="mn-MN" sz="2400" b="1">
                <a:solidFill>
                  <a:srgbClr val="F5E614"/>
                </a:solidFill>
                <a:latin typeface="Arial"/>
                <a:cs typeface="Arial"/>
              </a:rPr>
              <a:t>3,091.1 сая ₮</a:t>
            </a:r>
            <a:endParaRPr lang="en-US" sz="2400" b="1">
              <a:solidFill>
                <a:srgbClr val="F5E614"/>
              </a:solidFill>
              <a:latin typeface="Arial"/>
              <a:cs typeface="Arial"/>
            </a:endParaRPr>
          </a:p>
        </p:txBody>
      </p:sp>
      <p:sp>
        <p:nvSpPr>
          <p:cNvPr id="6" name="Cost total note">
            <a:extLst>
              <a:ext uri="{FF2B5EF4-FFF2-40B4-BE49-F238E27FC236}">
                <a16:creationId xmlns:a16="http://schemas.microsoft.com/office/drawing/2014/main" id="{923F44ED-0FF2-45A4-8246-1C41B2929AB9}"/>
              </a:ext>
            </a:extLst>
          </p:cNvPr>
          <p:cNvSpPr txBox="1"/>
          <p:nvPr/>
        </p:nvSpPr>
        <p:spPr>
          <a:xfrm>
            <a:off x="2997200" y="2108200"/>
            <a:ext cx="2946400" cy="254000"/>
          </a:xfrm>
          <a:prstGeom prst="rect">
            <a:avLst/>
          </a:prstGeom>
          <a:noFill/>
        </p:spPr>
        <p:txBody>
          <a:bodyPr vertOverflow="overflow" vert="horz" wrap="square" lIns="0" tIns="0" rIns="0" bIns="0" rtlCol="0" anchor="t">
            <a:noAutofit/>
          </a:bodyPr>
          <a:lstStyle/>
          <a:p>
            <a:pPr algn="l"/>
            <a:r>
              <a:rPr lang="mn-MN" sz="1200">
                <a:solidFill>
                  <a:srgbClr val="D6D6D8"/>
                </a:solidFill>
                <a:latin typeface="Arial"/>
                <a:cs typeface="Arial"/>
              </a:rPr>
              <a:t>7 жилийн нийт зардал</a:t>
            </a:r>
            <a:endParaRPr lang="en-US" sz="1200">
              <a:solidFill>
                <a:srgbClr val="D6D6D8"/>
              </a:solidFill>
              <a:latin typeface="Arial"/>
              <a:cs typeface="Arial"/>
            </a:endParaRPr>
          </a:p>
        </p:txBody>
      </p:sp>
      <p:sp>
        <p:nvSpPr>
          <p:cNvPr id="7" name="Area total">
            <a:extLst>
              <a:ext uri="{FF2B5EF4-FFF2-40B4-BE49-F238E27FC236}">
                <a16:creationId xmlns:a16="http://schemas.microsoft.com/office/drawing/2014/main" id="{7788BB89-647E-4A19-9078-C4101A1D6D23}"/>
              </a:ext>
            </a:extLst>
          </p:cNvPr>
          <p:cNvSpPr txBox="1"/>
          <p:nvPr/>
        </p:nvSpPr>
        <p:spPr>
          <a:xfrm>
            <a:off x="9748520" y="1562100"/>
            <a:ext cx="1219200" cy="381000"/>
          </a:xfrm>
          <a:prstGeom prst="rect">
            <a:avLst/>
          </a:prstGeom>
          <a:noFill/>
        </p:spPr>
        <p:txBody>
          <a:bodyPr vertOverflow="overflow" vert="horz" wrap="square" lIns="0" tIns="0" rIns="0" bIns="0" rtlCol="0" anchor="t">
            <a:noAutofit/>
          </a:bodyPr>
          <a:lstStyle/>
          <a:p>
            <a:pPr algn="l"/>
            <a:r>
              <a:rPr lang="mn-MN" sz="2400" b="1" dirty="0">
                <a:solidFill>
                  <a:srgbClr val="F5E614"/>
                </a:solidFill>
                <a:latin typeface="Arial"/>
                <a:cs typeface="Arial"/>
              </a:rPr>
              <a:t>49.0 га</a:t>
            </a:r>
            <a:endParaRPr lang="en-US" sz="2400" b="1" dirty="0">
              <a:solidFill>
                <a:srgbClr val="F5E614"/>
              </a:solidFill>
              <a:latin typeface="Arial"/>
              <a:cs typeface="Arial"/>
            </a:endParaRPr>
          </a:p>
        </p:txBody>
      </p:sp>
      <p:sp>
        <p:nvSpPr>
          <p:cNvPr id="9" name="Closure note">
            <a:extLst>
              <a:ext uri="{FF2B5EF4-FFF2-40B4-BE49-F238E27FC236}">
                <a16:creationId xmlns:a16="http://schemas.microsoft.com/office/drawing/2014/main" id="{F1CE1494-2C3F-4EA9-B09A-AD060FEEEE5D}"/>
              </a:ext>
            </a:extLst>
          </p:cNvPr>
          <p:cNvSpPr txBox="1"/>
          <p:nvPr/>
        </p:nvSpPr>
        <p:spPr>
          <a:xfrm>
            <a:off x="10160000" y="3352800"/>
            <a:ext cx="1397000" cy="228600"/>
          </a:xfrm>
          <a:prstGeom prst="rect">
            <a:avLst/>
          </a:prstGeom>
          <a:noFill/>
        </p:spPr>
        <p:txBody>
          <a:bodyPr vertOverflow="overflow" vert="horz" wrap="square" lIns="0" tIns="0" rIns="0" bIns="0" rtlCol="0" anchor="t">
            <a:noAutofit/>
          </a:bodyPr>
          <a:lstStyle/>
          <a:p>
            <a:pPr algn="l"/>
            <a:r>
              <a:rPr lang="mn-MN" sz="1200">
                <a:solidFill>
                  <a:srgbClr val="D6D6D8"/>
                </a:solidFill>
                <a:latin typeface="Arial"/>
                <a:cs typeface="Arial"/>
              </a:rPr>
              <a:t>Хаалтын бэлтгэл</a:t>
            </a:r>
            <a:endParaRPr lang="en-US" sz="1200">
              <a:solidFill>
                <a:srgbClr val="D6D6D8"/>
              </a:solidFill>
              <a:latin typeface="Arial"/>
              <a:cs typeface="Arial"/>
            </a:endParaRPr>
          </a:p>
        </p:txBody>
      </p:sp>
      <p:cxnSp>
        <p:nvCxnSpPr>
          <p:cNvPr id="18" name="Closure bracket">
            <a:extLst>
              <a:ext uri="{FF2B5EF4-FFF2-40B4-BE49-F238E27FC236}">
                <a16:creationId xmlns:a16="http://schemas.microsoft.com/office/drawing/2014/main" id="{E38CDDC0-A103-4E33-A489-BD16BCB22A75}"/>
              </a:ext>
            </a:extLst>
          </p:cNvPr>
          <p:cNvCxnSpPr/>
          <p:nvPr/>
        </p:nvCxnSpPr>
        <p:spPr>
          <a:xfrm>
            <a:off x="10160000" y="3606800"/>
            <a:ext cx="1143000" cy="0"/>
          </a:xfrm>
          <a:prstGeom prst="straightConnector1">
            <a:avLst/>
          </a:prstGeom>
          <a:ln w="9525" cap="flat" cmpd="sng" algn="ctr">
            <a:solidFill>
              <a:srgbClr val="D6D6D8"/>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9" name="Flow rule">
            <a:extLst>
              <a:ext uri="{FF2B5EF4-FFF2-40B4-BE49-F238E27FC236}">
                <a16:creationId xmlns:a16="http://schemas.microsoft.com/office/drawing/2014/main" id="{C5833D17-53EE-4537-8E5F-BEFCE177977F}"/>
              </a:ext>
            </a:extLst>
          </p:cNvPr>
          <p:cNvCxnSpPr/>
          <p:nvPr/>
        </p:nvCxnSpPr>
        <p:spPr>
          <a:xfrm>
            <a:off x="685800" y="5130800"/>
            <a:ext cx="10896600" cy="0"/>
          </a:xfrm>
          <a:prstGeom prst="straightConnector1">
            <a:avLst/>
          </a:prstGeom>
          <a:ln w="12700" cap="flat" cmpd="sng" algn="ctr">
            <a:solidFill>
              <a:srgbClr val="5E5E66"/>
            </a:solidFill>
            <a:prstDash val="solid"/>
            <a:miter lim="800000"/>
          </a:ln>
        </p:spPr>
        <p:style>
          <a:lnRef idx="1">
            <a:schemeClr val="accent1"/>
          </a:lnRef>
          <a:fillRef idx="0">
            <a:schemeClr val="accent1"/>
          </a:fillRef>
          <a:effectRef idx="0">
            <a:schemeClr val="accent1"/>
          </a:effectRef>
          <a:fontRef idx="minor">
            <a:schemeClr val="tx1"/>
          </a:fontRef>
        </p:style>
      </p:cxnSp>
      <p:sp>
        <p:nvSpPr>
          <p:cNvPr id="20" name="Flow dot 0">
            <a:extLst>
              <a:ext uri="{FF2B5EF4-FFF2-40B4-BE49-F238E27FC236}">
                <a16:creationId xmlns:a16="http://schemas.microsoft.com/office/drawing/2014/main" id="{26FB986E-8AC2-48B0-89C2-E5222DD54EB6}"/>
              </a:ext>
            </a:extLst>
          </p:cNvPr>
          <p:cNvSpPr/>
          <p:nvPr/>
        </p:nvSpPr>
        <p:spPr>
          <a:xfrm>
            <a:off x="609600" y="5054600"/>
            <a:ext cx="152400" cy="152400"/>
          </a:xfrm>
          <a:prstGeom prst="ellipse">
            <a:avLst/>
          </a:prstGeom>
          <a:solidFill>
            <a:srgbClr val="F5E61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Flow step 0">
            <a:extLst>
              <a:ext uri="{FF2B5EF4-FFF2-40B4-BE49-F238E27FC236}">
                <a16:creationId xmlns:a16="http://schemas.microsoft.com/office/drawing/2014/main" id="{6A6915B5-3160-4276-9D9A-77C7E2308A72}"/>
              </a:ext>
            </a:extLst>
          </p:cNvPr>
          <p:cNvSpPr txBox="1"/>
          <p:nvPr/>
        </p:nvSpPr>
        <p:spPr>
          <a:xfrm>
            <a:off x="609600" y="5308600"/>
            <a:ext cx="1991360" cy="254000"/>
          </a:xfrm>
          <a:prstGeom prst="rect">
            <a:avLst/>
          </a:prstGeom>
          <a:noFill/>
        </p:spPr>
        <p:txBody>
          <a:bodyPr vertOverflow="overflow" vert="horz" wrap="square" lIns="0" tIns="0" rIns="0" bIns="0" rtlCol="0" anchor="t">
            <a:noAutofit/>
          </a:bodyPr>
          <a:lstStyle/>
          <a:p>
            <a:pPr algn="l"/>
            <a:r>
              <a:rPr lang="mn-MN" sz="1400" b="1">
                <a:solidFill>
                  <a:srgbClr val="F2F2F0"/>
                </a:solidFill>
                <a:latin typeface="Arial"/>
                <a:cs typeface="Arial"/>
              </a:rPr>
              <a:t>1  Хуулах</a:t>
            </a:r>
            <a:endParaRPr lang="en-US" sz="1400" b="1">
              <a:solidFill>
                <a:srgbClr val="F2F2F0"/>
              </a:solidFill>
              <a:latin typeface="Arial"/>
              <a:cs typeface="Arial"/>
            </a:endParaRPr>
          </a:p>
        </p:txBody>
      </p:sp>
      <p:sp>
        <p:nvSpPr>
          <p:cNvPr id="22" name="Flow text 0">
            <a:extLst>
              <a:ext uri="{FF2B5EF4-FFF2-40B4-BE49-F238E27FC236}">
                <a16:creationId xmlns:a16="http://schemas.microsoft.com/office/drawing/2014/main" id="{7251B375-4EEE-46A4-A64B-BB55A6B1F271}"/>
              </a:ext>
            </a:extLst>
          </p:cNvPr>
          <p:cNvSpPr txBox="1"/>
          <p:nvPr/>
        </p:nvSpPr>
        <p:spPr>
          <a:xfrm>
            <a:off x="609600" y="5588000"/>
            <a:ext cx="1940560" cy="660400"/>
          </a:xfrm>
          <a:prstGeom prst="rect">
            <a:avLst/>
          </a:prstGeom>
          <a:noFill/>
        </p:spPr>
        <p:txBody>
          <a:bodyPr vertOverflow="overflow" vert="horz" wrap="square" lIns="0" tIns="0" rIns="0" bIns="0" rtlCol="0" anchor="t">
            <a:noAutofit/>
          </a:bodyPr>
          <a:lstStyle/>
          <a:p>
            <a:pPr algn="l"/>
            <a:r>
              <a:rPr lang="mn-MN" sz="1200" dirty="0">
                <a:solidFill>
                  <a:srgbClr val="D6D6D8"/>
                </a:solidFill>
                <a:latin typeface="Arial"/>
                <a:cs typeface="Arial"/>
              </a:rPr>
              <a:t>42.8 га-гаас 85.7 мян.м³ шимт хөрс хуулж, тусад нь хадгална</a:t>
            </a:r>
            <a:endParaRPr lang="en-US" sz="1200" dirty="0">
              <a:solidFill>
                <a:srgbClr val="D6D6D8"/>
              </a:solidFill>
              <a:latin typeface="Arial"/>
              <a:cs typeface="Arial"/>
            </a:endParaRPr>
          </a:p>
        </p:txBody>
      </p:sp>
      <p:sp>
        <p:nvSpPr>
          <p:cNvPr id="23" name="Flow dot 1">
            <a:extLst>
              <a:ext uri="{FF2B5EF4-FFF2-40B4-BE49-F238E27FC236}">
                <a16:creationId xmlns:a16="http://schemas.microsoft.com/office/drawing/2014/main" id="{F545E36A-8397-4377-BA2A-A21105BF905E}"/>
              </a:ext>
            </a:extLst>
          </p:cNvPr>
          <p:cNvSpPr/>
          <p:nvPr/>
        </p:nvSpPr>
        <p:spPr>
          <a:xfrm>
            <a:off x="2804160" y="5054600"/>
            <a:ext cx="152400" cy="152400"/>
          </a:xfrm>
          <a:prstGeom prst="ellipse">
            <a:avLst/>
          </a:prstGeom>
          <a:solidFill>
            <a:srgbClr val="F5E61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Flow step 1">
            <a:extLst>
              <a:ext uri="{FF2B5EF4-FFF2-40B4-BE49-F238E27FC236}">
                <a16:creationId xmlns:a16="http://schemas.microsoft.com/office/drawing/2014/main" id="{E3D5C4DB-DC00-4B36-AE56-D023C6AA134F}"/>
              </a:ext>
            </a:extLst>
          </p:cNvPr>
          <p:cNvSpPr txBox="1"/>
          <p:nvPr/>
        </p:nvSpPr>
        <p:spPr>
          <a:xfrm>
            <a:off x="2804160" y="5308600"/>
            <a:ext cx="1991360" cy="254000"/>
          </a:xfrm>
          <a:prstGeom prst="rect">
            <a:avLst/>
          </a:prstGeom>
          <a:noFill/>
        </p:spPr>
        <p:txBody>
          <a:bodyPr vertOverflow="overflow" vert="horz" wrap="square" lIns="0" tIns="0" rIns="0" bIns="0" rtlCol="0" anchor="t">
            <a:noAutofit/>
          </a:bodyPr>
          <a:lstStyle/>
          <a:p>
            <a:pPr algn="l"/>
            <a:r>
              <a:rPr lang="mn-MN" sz="1400" b="1">
                <a:solidFill>
                  <a:srgbClr val="F2F2F0"/>
                </a:solidFill>
                <a:latin typeface="Arial"/>
                <a:cs typeface="Arial"/>
              </a:rPr>
              <a:t>2  Дүүргэх</a:t>
            </a:r>
            <a:endParaRPr lang="en-US" sz="1400" b="1">
              <a:solidFill>
                <a:srgbClr val="F2F2F0"/>
              </a:solidFill>
              <a:latin typeface="Arial"/>
              <a:cs typeface="Arial"/>
            </a:endParaRPr>
          </a:p>
        </p:txBody>
      </p:sp>
      <p:sp>
        <p:nvSpPr>
          <p:cNvPr id="25" name="Flow text 1">
            <a:extLst>
              <a:ext uri="{FF2B5EF4-FFF2-40B4-BE49-F238E27FC236}">
                <a16:creationId xmlns:a16="http://schemas.microsoft.com/office/drawing/2014/main" id="{6A912299-F708-4961-8F08-A6C396F41480}"/>
              </a:ext>
            </a:extLst>
          </p:cNvPr>
          <p:cNvSpPr txBox="1"/>
          <p:nvPr/>
        </p:nvSpPr>
        <p:spPr>
          <a:xfrm>
            <a:off x="2804160" y="5588000"/>
            <a:ext cx="1940560" cy="660400"/>
          </a:xfrm>
          <a:prstGeom prst="rect">
            <a:avLst/>
          </a:prstGeom>
          <a:noFill/>
        </p:spPr>
        <p:txBody>
          <a:bodyPr vertOverflow="overflow" vert="horz" wrap="square" lIns="0" tIns="0" rIns="0" bIns="0" rtlCol="0" anchor="t">
            <a:noAutofit/>
          </a:bodyPr>
          <a:lstStyle/>
          <a:p>
            <a:pPr algn="l"/>
            <a:r>
              <a:rPr lang="mn-MN" sz="1200">
                <a:solidFill>
                  <a:srgbClr val="D6D6D8"/>
                </a:solidFill>
                <a:latin typeface="Arial"/>
                <a:cs typeface="Arial"/>
              </a:rPr>
              <a:t>Ухсан орон зайг 2,028.1 мян.м³ хөрсөөр дүүргэнэ</a:t>
            </a:r>
            <a:endParaRPr lang="en-US" sz="1200">
              <a:solidFill>
                <a:srgbClr val="D6D6D8"/>
              </a:solidFill>
              <a:latin typeface="Arial"/>
              <a:cs typeface="Arial"/>
            </a:endParaRPr>
          </a:p>
        </p:txBody>
      </p:sp>
      <p:sp>
        <p:nvSpPr>
          <p:cNvPr id="30" name="Flow dot 2">
            <a:extLst>
              <a:ext uri="{FF2B5EF4-FFF2-40B4-BE49-F238E27FC236}">
                <a16:creationId xmlns:a16="http://schemas.microsoft.com/office/drawing/2014/main" id="{21590546-E53E-4230-862C-79E560214047}"/>
              </a:ext>
            </a:extLst>
          </p:cNvPr>
          <p:cNvSpPr/>
          <p:nvPr/>
        </p:nvSpPr>
        <p:spPr>
          <a:xfrm>
            <a:off x="4998720" y="5054600"/>
            <a:ext cx="152400" cy="152400"/>
          </a:xfrm>
          <a:prstGeom prst="ellipse">
            <a:avLst/>
          </a:prstGeom>
          <a:solidFill>
            <a:srgbClr val="F5E61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Flow step 2">
            <a:extLst>
              <a:ext uri="{FF2B5EF4-FFF2-40B4-BE49-F238E27FC236}">
                <a16:creationId xmlns:a16="http://schemas.microsoft.com/office/drawing/2014/main" id="{9ED8F9AC-38CC-4D0D-8ADD-B1457C40E3BA}"/>
              </a:ext>
            </a:extLst>
          </p:cNvPr>
          <p:cNvSpPr txBox="1"/>
          <p:nvPr/>
        </p:nvSpPr>
        <p:spPr>
          <a:xfrm>
            <a:off x="4998720" y="5308600"/>
            <a:ext cx="1991360" cy="254000"/>
          </a:xfrm>
          <a:prstGeom prst="rect">
            <a:avLst/>
          </a:prstGeom>
          <a:noFill/>
        </p:spPr>
        <p:txBody>
          <a:bodyPr vertOverflow="overflow" vert="horz" wrap="square" lIns="0" tIns="0" rIns="0" bIns="0" rtlCol="0" anchor="t">
            <a:noAutofit/>
          </a:bodyPr>
          <a:lstStyle/>
          <a:p>
            <a:pPr algn="l"/>
            <a:r>
              <a:rPr lang="mn-MN" sz="1400" b="1">
                <a:solidFill>
                  <a:srgbClr val="F2F2F0"/>
                </a:solidFill>
                <a:latin typeface="Arial"/>
                <a:cs typeface="Arial"/>
              </a:rPr>
              <a:t>3  Хэвгийжүүлэх</a:t>
            </a:r>
            <a:endParaRPr lang="en-US" sz="1400" b="1">
              <a:solidFill>
                <a:srgbClr val="F2F2F0"/>
              </a:solidFill>
              <a:latin typeface="Arial"/>
              <a:cs typeface="Arial"/>
            </a:endParaRPr>
          </a:p>
        </p:txBody>
      </p:sp>
      <p:sp>
        <p:nvSpPr>
          <p:cNvPr id="896" name="Flow text 2">
            <a:extLst>
              <a:ext uri="{FF2B5EF4-FFF2-40B4-BE49-F238E27FC236}">
                <a16:creationId xmlns:a16="http://schemas.microsoft.com/office/drawing/2014/main" id="{250A781C-D1DC-471D-BCC0-088EC2A6CC00}"/>
              </a:ext>
            </a:extLst>
          </p:cNvPr>
          <p:cNvSpPr txBox="1"/>
          <p:nvPr/>
        </p:nvSpPr>
        <p:spPr>
          <a:xfrm>
            <a:off x="4998720" y="5588000"/>
            <a:ext cx="1940560" cy="660400"/>
          </a:xfrm>
          <a:prstGeom prst="rect">
            <a:avLst/>
          </a:prstGeom>
          <a:noFill/>
        </p:spPr>
        <p:txBody>
          <a:bodyPr vertOverflow="overflow" vert="horz" wrap="square" lIns="0" tIns="0" rIns="0" bIns="0" rtlCol="0" anchor="t">
            <a:noAutofit/>
          </a:bodyPr>
          <a:lstStyle/>
          <a:p>
            <a:pPr algn="l"/>
            <a:r>
              <a:rPr lang="mn-MN" sz="1200">
                <a:solidFill>
                  <a:srgbClr val="D6D6D8"/>
                </a:solidFill>
                <a:latin typeface="Arial"/>
                <a:cs typeface="Arial"/>
              </a:rPr>
              <a:t>Овоолгын 230.4 мян.м³ хөрсийг бульдозероор тэгшилнэ</a:t>
            </a:r>
            <a:endParaRPr lang="en-US" sz="1200">
              <a:solidFill>
                <a:srgbClr val="D6D6D8"/>
              </a:solidFill>
              <a:latin typeface="Arial"/>
              <a:cs typeface="Arial"/>
            </a:endParaRPr>
          </a:p>
        </p:txBody>
      </p:sp>
      <p:sp>
        <p:nvSpPr>
          <p:cNvPr id="897" name="Flow dot 3">
            <a:extLst>
              <a:ext uri="{FF2B5EF4-FFF2-40B4-BE49-F238E27FC236}">
                <a16:creationId xmlns:a16="http://schemas.microsoft.com/office/drawing/2014/main" id="{2923CE27-278A-4C0A-9C6B-153702A1866C}"/>
              </a:ext>
            </a:extLst>
          </p:cNvPr>
          <p:cNvSpPr/>
          <p:nvPr/>
        </p:nvSpPr>
        <p:spPr>
          <a:xfrm>
            <a:off x="7193280" y="5054600"/>
            <a:ext cx="152400" cy="152400"/>
          </a:xfrm>
          <a:prstGeom prst="ellipse">
            <a:avLst/>
          </a:prstGeom>
          <a:solidFill>
            <a:srgbClr val="F5E61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98" name="Flow step 3">
            <a:extLst>
              <a:ext uri="{FF2B5EF4-FFF2-40B4-BE49-F238E27FC236}">
                <a16:creationId xmlns:a16="http://schemas.microsoft.com/office/drawing/2014/main" id="{1D8F9C45-3193-40F6-98F6-F1F0F87DB8A0}"/>
              </a:ext>
            </a:extLst>
          </p:cNvPr>
          <p:cNvSpPr txBox="1"/>
          <p:nvPr/>
        </p:nvSpPr>
        <p:spPr>
          <a:xfrm>
            <a:off x="7193280" y="5308600"/>
            <a:ext cx="1991360" cy="254000"/>
          </a:xfrm>
          <a:prstGeom prst="rect">
            <a:avLst/>
          </a:prstGeom>
          <a:noFill/>
        </p:spPr>
        <p:txBody>
          <a:bodyPr vertOverflow="overflow" vert="horz" wrap="square" lIns="0" tIns="0" rIns="0" bIns="0" rtlCol="0" anchor="t">
            <a:noAutofit/>
          </a:bodyPr>
          <a:lstStyle/>
          <a:p>
            <a:pPr algn="l"/>
            <a:r>
              <a:rPr lang="mn-MN" sz="1400" b="1">
                <a:solidFill>
                  <a:srgbClr val="F2F2F0"/>
                </a:solidFill>
                <a:latin typeface="Arial"/>
                <a:cs typeface="Arial"/>
              </a:rPr>
              <a:t>4  Хучих</a:t>
            </a:r>
            <a:endParaRPr lang="en-US" sz="1400" b="1">
              <a:solidFill>
                <a:srgbClr val="F2F2F0"/>
              </a:solidFill>
              <a:latin typeface="Arial"/>
              <a:cs typeface="Arial"/>
            </a:endParaRPr>
          </a:p>
        </p:txBody>
      </p:sp>
      <p:sp>
        <p:nvSpPr>
          <p:cNvPr id="899" name="Flow text 3">
            <a:extLst>
              <a:ext uri="{FF2B5EF4-FFF2-40B4-BE49-F238E27FC236}">
                <a16:creationId xmlns:a16="http://schemas.microsoft.com/office/drawing/2014/main" id="{00741032-ACEF-4BB9-8D76-F4B58F4DC615}"/>
              </a:ext>
            </a:extLst>
          </p:cNvPr>
          <p:cNvSpPr txBox="1"/>
          <p:nvPr/>
        </p:nvSpPr>
        <p:spPr>
          <a:xfrm>
            <a:off x="7193280" y="5588000"/>
            <a:ext cx="1940560" cy="660400"/>
          </a:xfrm>
          <a:prstGeom prst="rect">
            <a:avLst/>
          </a:prstGeom>
          <a:noFill/>
        </p:spPr>
        <p:txBody>
          <a:bodyPr vertOverflow="overflow" vert="horz" wrap="square" lIns="0" tIns="0" rIns="0" bIns="0" rtlCol="0" anchor="t">
            <a:noAutofit/>
          </a:bodyPr>
          <a:lstStyle/>
          <a:p>
            <a:pPr algn="l"/>
            <a:r>
              <a:rPr lang="mn-MN" sz="1200">
                <a:solidFill>
                  <a:srgbClr val="D6D6D8"/>
                </a:solidFill>
                <a:latin typeface="Arial"/>
                <a:cs typeface="Arial"/>
              </a:rPr>
              <a:t>Гадаргууг шимт хөрсөөр 20 см үеэр буцааж хучина</a:t>
            </a:r>
            <a:endParaRPr lang="en-US" sz="1200">
              <a:solidFill>
                <a:srgbClr val="D6D6D8"/>
              </a:solidFill>
              <a:latin typeface="Arial"/>
              <a:cs typeface="Arial"/>
            </a:endParaRPr>
          </a:p>
        </p:txBody>
      </p:sp>
      <p:sp>
        <p:nvSpPr>
          <p:cNvPr id="902" name="Flow dot 4">
            <a:extLst>
              <a:ext uri="{FF2B5EF4-FFF2-40B4-BE49-F238E27FC236}">
                <a16:creationId xmlns:a16="http://schemas.microsoft.com/office/drawing/2014/main" id="{E6C9B060-A5FB-438E-A690-2DC3555AD864}"/>
              </a:ext>
            </a:extLst>
          </p:cNvPr>
          <p:cNvSpPr/>
          <p:nvPr/>
        </p:nvSpPr>
        <p:spPr>
          <a:xfrm>
            <a:off x="9387840" y="5054600"/>
            <a:ext cx="152400" cy="152400"/>
          </a:xfrm>
          <a:prstGeom prst="ellipse">
            <a:avLst/>
          </a:prstGeom>
          <a:solidFill>
            <a:srgbClr val="F5E61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03" name="Flow step 4">
            <a:extLst>
              <a:ext uri="{FF2B5EF4-FFF2-40B4-BE49-F238E27FC236}">
                <a16:creationId xmlns:a16="http://schemas.microsoft.com/office/drawing/2014/main" id="{2B23C16E-ABBC-47E7-B222-8EC133733D0F}"/>
              </a:ext>
            </a:extLst>
          </p:cNvPr>
          <p:cNvSpPr txBox="1"/>
          <p:nvPr/>
        </p:nvSpPr>
        <p:spPr>
          <a:xfrm>
            <a:off x="9387840" y="5308600"/>
            <a:ext cx="1991360" cy="254000"/>
          </a:xfrm>
          <a:prstGeom prst="rect">
            <a:avLst/>
          </a:prstGeom>
          <a:noFill/>
        </p:spPr>
        <p:txBody>
          <a:bodyPr vertOverflow="overflow" vert="horz" wrap="square" lIns="0" tIns="0" rIns="0" bIns="0" rtlCol="0" anchor="t">
            <a:noAutofit/>
          </a:bodyPr>
          <a:lstStyle/>
          <a:p>
            <a:pPr algn="l"/>
            <a:r>
              <a:rPr lang="mn-MN" sz="1400" b="1">
                <a:solidFill>
                  <a:srgbClr val="F2F2F0"/>
                </a:solidFill>
                <a:latin typeface="Arial"/>
                <a:cs typeface="Arial"/>
              </a:rPr>
              <a:t>5  Ургамалжуулах</a:t>
            </a:r>
            <a:endParaRPr lang="en-US" sz="1400" b="1">
              <a:solidFill>
                <a:srgbClr val="F2F2F0"/>
              </a:solidFill>
              <a:latin typeface="Arial"/>
              <a:cs typeface="Arial"/>
            </a:endParaRPr>
          </a:p>
        </p:txBody>
      </p:sp>
      <p:sp>
        <p:nvSpPr>
          <p:cNvPr id="904" name="Flow text 4">
            <a:extLst>
              <a:ext uri="{FF2B5EF4-FFF2-40B4-BE49-F238E27FC236}">
                <a16:creationId xmlns:a16="http://schemas.microsoft.com/office/drawing/2014/main" id="{14BEE162-9861-4325-885B-071E3945F264}"/>
              </a:ext>
            </a:extLst>
          </p:cNvPr>
          <p:cNvSpPr txBox="1"/>
          <p:nvPr/>
        </p:nvSpPr>
        <p:spPr>
          <a:xfrm>
            <a:off x="9387840" y="5588000"/>
            <a:ext cx="1940560" cy="660400"/>
          </a:xfrm>
          <a:prstGeom prst="rect">
            <a:avLst/>
          </a:prstGeom>
          <a:noFill/>
        </p:spPr>
        <p:txBody>
          <a:bodyPr vertOverflow="overflow" vert="horz" wrap="square" lIns="0" tIns="0" rIns="0" bIns="0" rtlCol="0" anchor="t">
            <a:noAutofit/>
          </a:bodyPr>
          <a:lstStyle/>
          <a:p>
            <a:pPr algn="l"/>
            <a:r>
              <a:rPr lang="ru-RU" sz="1200">
                <a:solidFill>
                  <a:srgbClr val="D6D6D8"/>
                </a:solidFill>
                <a:latin typeface="Arial"/>
                <a:cs typeface="Arial"/>
              </a:rPr>
              <a:t>Олон наст ургамлын үр тариалж, мод, бут сөөг тарина</a:t>
            </a:r>
            <a:endParaRPr lang="en-US" sz="1200">
              <a:solidFill>
                <a:srgbClr val="D6D6D8"/>
              </a:solidFill>
              <a:latin typeface="Arial"/>
              <a:cs typeface="Arial"/>
            </a:endParaRPr>
          </a:p>
        </p:txBody>
      </p:sp>
      <p:sp>
        <p:nvSpPr>
          <p:cNvPr id="12" name="Area label">
            <a:extLst>
              <a:ext uri="{FF2B5EF4-FFF2-40B4-BE49-F238E27FC236}">
                <a16:creationId xmlns:a16="http://schemas.microsoft.com/office/drawing/2014/main" id="{CA3CFCB1-577A-454D-BD26-5B10A7A1F088}"/>
              </a:ext>
            </a:extLst>
          </p:cNvPr>
          <p:cNvSpPr txBox="1"/>
          <p:nvPr/>
        </p:nvSpPr>
        <p:spPr>
          <a:xfrm>
            <a:off x="6229350" y="1625600"/>
            <a:ext cx="3409950" cy="203199"/>
          </a:xfrm>
          <a:prstGeom prst="rect">
            <a:avLst/>
          </a:prstGeom>
          <a:noFill/>
        </p:spPr>
        <p:txBody>
          <a:bodyPr vertOverflow="overflow" vert="horz" wrap="square" lIns="0" tIns="0" rIns="0" bIns="0" rtlCol="0" anchor="t">
            <a:noAutofit/>
          </a:bodyPr>
          <a:lstStyle/>
          <a:p>
            <a:pPr algn="l"/>
            <a:r>
              <a:rPr lang="mn-MN" sz="1400" b="1" dirty="0">
                <a:solidFill>
                  <a:srgbClr val="D6D6D8"/>
                </a:solidFill>
                <a:latin typeface="Arial"/>
                <a:cs typeface="Arial"/>
              </a:rPr>
              <a:t>Нийт эвдрэлд өртөх талбайн хэмжээ:</a:t>
            </a:r>
            <a:endParaRPr lang="en-US" sz="1400" b="1" dirty="0">
              <a:solidFill>
                <a:srgbClr val="D6D6D8"/>
              </a:solidFill>
              <a:latin typeface="Arial"/>
              <a:cs typeface="Arial"/>
            </a:endParaRPr>
          </a:p>
        </p:txBody>
      </p:sp>
    </p:spTree>
    <p:extLst>
      <p:ext uri="{BB962C8B-B14F-4D97-AF65-F5344CB8AC3E}">
        <p14:creationId xmlns:p14="http://schemas.microsoft.com/office/powerpoint/2010/main" val="22586470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6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1200"/>
                                        <p:tgtEl>
                                          <p:spTgt spid="3"/>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C53B3-A428-4498-24FC-E09D7B07A265}"/>
            </a:ext>
          </a:extLst>
        </p:cNvPr>
        <p:cNvGrpSpPr/>
        <p:nvPr/>
      </p:nvGrpSpPr>
      <p:grpSpPr>
        <a:xfrm>
          <a:off x="0" y="0"/>
          <a:ext cx="0" cy="0"/>
          <a:chOff x="0" y="0"/>
          <a:chExt cx="0" cy="0"/>
        </a:xfrm>
      </p:grpSpPr>
      <p:sp>
        <p:nvSpPr>
          <p:cNvPr id="6" name="Freeform 2">
            <a:extLst>
              <a:ext uri="{FF2B5EF4-FFF2-40B4-BE49-F238E27FC236}">
                <a16:creationId xmlns:a16="http://schemas.microsoft.com/office/drawing/2014/main" id="{E026D7A1-54FE-2E19-EFB0-4FEFD8F5CC68}"/>
              </a:ext>
            </a:extLst>
          </p:cNvPr>
          <p:cNvSpPr/>
          <p:nvPr/>
        </p:nvSpPr>
        <p:spPr>
          <a:xfrm>
            <a:off x="0" y="2999"/>
            <a:ext cx="12192000" cy="68834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rgbClr val="242223"/>
          </a:solidFill>
        </p:spPr>
        <p:txBody>
          <a:bodyPr/>
          <a:lstStyle/>
          <a:p>
            <a:endParaRPr lang="en-US" dirty="0"/>
          </a:p>
        </p:txBody>
      </p:sp>
      <p:sp>
        <p:nvSpPr>
          <p:cNvPr id="7" name="TextBox 10">
            <a:extLst>
              <a:ext uri="{FF2B5EF4-FFF2-40B4-BE49-F238E27FC236}">
                <a16:creationId xmlns:a16="http://schemas.microsoft.com/office/drawing/2014/main" id="{FBE065CF-A59F-CC90-F88C-D88236952F3C}"/>
              </a:ext>
            </a:extLst>
          </p:cNvPr>
          <p:cNvSpPr txBox="1"/>
          <p:nvPr/>
        </p:nvSpPr>
        <p:spPr>
          <a:xfrm>
            <a:off x="333456" y="2999"/>
            <a:ext cx="8890001" cy="539507"/>
          </a:xfrm>
          <a:prstGeom prst="rect">
            <a:avLst/>
          </a:prstGeom>
        </p:spPr>
        <p:txBody>
          <a:bodyPr wrap="square" lIns="0" tIns="0" rIns="0" bIns="0" rtlCol="0" anchor="t">
            <a:spAutoFit/>
          </a:bodyPr>
          <a:lstStyle/>
          <a:p>
            <a:pPr algn="l">
              <a:lnSpc>
                <a:spcPts val="4767"/>
              </a:lnSpc>
            </a:pPr>
            <a:r>
              <a:rPr lang="mn-MN" sz="2650" b="1" dirty="0">
                <a:solidFill>
                  <a:schemeClr val="bg1"/>
                </a:solidFill>
                <a:latin typeface="Arial" panose="020B0604020202020204" pitchFamily="34" charset="0"/>
                <a:ea typeface="Inter Bold"/>
                <a:cs typeface="Arial" panose="020B0604020202020204" pitchFamily="34" charset="0"/>
                <a:sym typeface="Inter Bold"/>
              </a:rPr>
              <a:t>Уурхайн хөрөнгө оруулалт ба хүний нөөц</a:t>
            </a:r>
            <a:endParaRPr lang="en-US" sz="2650" b="1" dirty="0">
              <a:solidFill>
                <a:schemeClr val="bg1"/>
              </a:solidFill>
              <a:latin typeface="Arial" panose="020B0604020202020204" pitchFamily="34" charset="0"/>
              <a:ea typeface="Inter Bold"/>
              <a:cs typeface="Arial" panose="020B0604020202020204" pitchFamily="34" charset="0"/>
              <a:sym typeface="Inter Bold"/>
            </a:endParaRPr>
          </a:p>
        </p:txBody>
      </p:sp>
      <p:graphicFrame>
        <p:nvGraphicFramePr>
          <p:cNvPr id="12" name="Table 11">
            <a:extLst>
              <a:ext uri="{FF2B5EF4-FFF2-40B4-BE49-F238E27FC236}">
                <a16:creationId xmlns:a16="http://schemas.microsoft.com/office/drawing/2014/main" id="{FFC142F0-8FB1-7707-BA4A-FAAC99EFA52E}"/>
              </a:ext>
            </a:extLst>
          </p:cNvPr>
          <p:cNvGraphicFramePr>
            <a:graphicFrameLocks noGrp="1"/>
          </p:cNvGraphicFramePr>
          <p:nvPr/>
        </p:nvGraphicFramePr>
        <p:xfrm>
          <a:off x="558800" y="1812061"/>
          <a:ext cx="6045958" cy="1819195"/>
        </p:xfrm>
        <a:graphic>
          <a:graphicData uri="http://schemas.openxmlformats.org/drawingml/2006/table">
            <a:tbl>
              <a:tblPr firstRow="1" firstCol="1" bandRow="1">
                <a:tableStyleId>{2D5ABB26-0587-4C30-8999-92F81FD0307C}</a:tableStyleId>
              </a:tblPr>
              <a:tblGrid>
                <a:gridCol w="274541">
                  <a:extLst>
                    <a:ext uri="{9D8B030D-6E8A-4147-A177-3AD203B41FA5}">
                      <a16:colId xmlns:a16="http://schemas.microsoft.com/office/drawing/2014/main" val="20000"/>
                    </a:ext>
                  </a:extLst>
                </a:gridCol>
                <a:gridCol w="1337632">
                  <a:extLst>
                    <a:ext uri="{9D8B030D-6E8A-4147-A177-3AD203B41FA5}">
                      <a16:colId xmlns:a16="http://schemas.microsoft.com/office/drawing/2014/main" val="20001"/>
                    </a:ext>
                  </a:extLst>
                </a:gridCol>
                <a:gridCol w="1006249">
                  <a:extLst>
                    <a:ext uri="{9D8B030D-6E8A-4147-A177-3AD203B41FA5}">
                      <a16:colId xmlns:a16="http://schemas.microsoft.com/office/drawing/2014/main" val="20002"/>
                    </a:ext>
                  </a:extLst>
                </a:gridCol>
                <a:gridCol w="939731">
                  <a:extLst>
                    <a:ext uri="{9D8B030D-6E8A-4147-A177-3AD203B41FA5}">
                      <a16:colId xmlns:a16="http://schemas.microsoft.com/office/drawing/2014/main" val="20003"/>
                    </a:ext>
                  </a:extLst>
                </a:gridCol>
                <a:gridCol w="846602">
                  <a:extLst>
                    <a:ext uri="{9D8B030D-6E8A-4147-A177-3AD203B41FA5}">
                      <a16:colId xmlns:a16="http://schemas.microsoft.com/office/drawing/2014/main" val="20004"/>
                    </a:ext>
                  </a:extLst>
                </a:gridCol>
                <a:gridCol w="939731">
                  <a:extLst>
                    <a:ext uri="{9D8B030D-6E8A-4147-A177-3AD203B41FA5}">
                      <a16:colId xmlns:a16="http://schemas.microsoft.com/office/drawing/2014/main" val="20005"/>
                    </a:ext>
                  </a:extLst>
                </a:gridCol>
                <a:gridCol w="701472">
                  <a:extLst>
                    <a:ext uri="{9D8B030D-6E8A-4147-A177-3AD203B41FA5}">
                      <a16:colId xmlns:a16="http://schemas.microsoft.com/office/drawing/2014/main" val="20006"/>
                    </a:ext>
                  </a:extLst>
                </a:gridCol>
              </a:tblGrid>
              <a:tr h="219195">
                <a:tc>
                  <a:txBody>
                    <a:bodyPr/>
                    <a:lstStyle/>
                    <a:p>
                      <a:pPr marL="0" marR="0" indent="0" algn="ctr">
                        <a:spcBef>
                          <a:spcPts val="200"/>
                        </a:spcBef>
                        <a:spcAft>
                          <a:spcPts val="200"/>
                        </a:spcAft>
                        <a:buNone/>
                      </a:pPr>
                      <a:r>
                        <a:rPr lang="mn-MN" sz="950" b="1" dirty="0">
                          <a:effectLst/>
                          <a:latin typeface="Arial" panose="020B0604020202020204" pitchFamily="34" charset="0"/>
                          <a:cs typeface="Arial" panose="020B0604020202020204" pitchFamily="34" charset="0"/>
                        </a:rPr>
                        <a:t>№</a:t>
                      </a:r>
                      <a:endParaRPr lang="en-US" sz="950" b="1" dirty="0">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tc>
                  <a:txBody>
                    <a:bodyPr/>
                    <a:lstStyle/>
                    <a:p>
                      <a:pPr marL="0" marR="0" indent="0" algn="ctr">
                        <a:spcBef>
                          <a:spcPts val="200"/>
                        </a:spcBef>
                        <a:spcAft>
                          <a:spcPts val="200"/>
                        </a:spcAft>
                        <a:buNone/>
                      </a:pPr>
                      <a:r>
                        <a:rPr lang="mn-MN" sz="950" b="1" dirty="0">
                          <a:effectLst/>
                          <a:latin typeface="Arial" panose="020B0604020202020204" pitchFamily="34" charset="0"/>
                          <a:cs typeface="Arial" panose="020B0604020202020204" pitchFamily="34" charset="0"/>
                        </a:rPr>
                        <a:t>Хөрөнгө оруулалт</a:t>
                      </a:r>
                      <a:endParaRPr lang="en-US" sz="950" b="1" dirty="0">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tc>
                  <a:txBody>
                    <a:bodyPr/>
                    <a:lstStyle/>
                    <a:p>
                      <a:pPr marL="0" marR="0" indent="0" algn="ctr">
                        <a:spcBef>
                          <a:spcPts val="200"/>
                        </a:spcBef>
                        <a:spcAft>
                          <a:spcPts val="200"/>
                        </a:spcAft>
                        <a:buNone/>
                      </a:pPr>
                      <a:r>
                        <a:rPr lang="mn-MN" sz="950" b="1" dirty="0">
                          <a:effectLst/>
                          <a:latin typeface="Arial" panose="020B0604020202020204" pitchFamily="34" charset="0"/>
                          <a:cs typeface="Arial" panose="020B0604020202020204" pitchFamily="34" charset="0"/>
                        </a:rPr>
                        <a:t>Хэмжих нэгж</a:t>
                      </a:r>
                      <a:endParaRPr lang="en-US" sz="950" b="1" dirty="0">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tc>
                  <a:txBody>
                    <a:bodyPr/>
                    <a:lstStyle/>
                    <a:p>
                      <a:pPr marL="0" marR="0" indent="0" algn="ctr">
                        <a:spcBef>
                          <a:spcPts val="200"/>
                        </a:spcBef>
                        <a:spcAft>
                          <a:spcPts val="200"/>
                        </a:spcAft>
                        <a:buNone/>
                      </a:pPr>
                      <a:r>
                        <a:rPr lang="mn-MN" sz="950" b="1" dirty="0" err="1">
                          <a:effectLst/>
                          <a:latin typeface="Arial" panose="020B0604020202020204" pitchFamily="34" charset="0"/>
                          <a:cs typeface="Arial" panose="020B0604020202020204" pitchFamily="34" charset="0"/>
                        </a:rPr>
                        <a:t>АХО</a:t>
                      </a:r>
                      <a:endParaRPr lang="en-US" sz="950" b="1" dirty="0">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tc>
                  <a:txBody>
                    <a:bodyPr/>
                    <a:lstStyle/>
                    <a:p>
                      <a:pPr marL="0" marR="0" indent="0" algn="ctr">
                        <a:spcBef>
                          <a:spcPts val="200"/>
                        </a:spcBef>
                        <a:spcAft>
                          <a:spcPts val="200"/>
                        </a:spcAft>
                        <a:buNone/>
                      </a:pPr>
                      <a:r>
                        <a:rPr lang="mn-MN" sz="950" b="1" dirty="0" err="1">
                          <a:effectLst/>
                          <a:latin typeface="Arial" panose="020B0604020202020204" pitchFamily="34" charset="0"/>
                          <a:cs typeface="Arial" panose="020B0604020202020204" pitchFamily="34" charset="0"/>
                        </a:rPr>
                        <a:t>АшХО</a:t>
                      </a:r>
                      <a:endParaRPr lang="en-US" sz="950" b="1" dirty="0">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tc>
                  <a:txBody>
                    <a:bodyPr/>
                    <a:lstStyle/>
                    <a:p>
                      <a:pPr marL="0" marR="0" indent="0" algn="ctr">
                        <a:spcBef>
                          <a:spcPts val="200"/>
                        </a:spcBef>
                        <a:spcAft>
                          <a:spcPts val="200"/>
                        </a:spcAft>
                        <a:buNone/>
                      </a:pPr>
                      <a:r>
                        <a:rPr lang="mn-MN" sz="950" b="1" dirty="0">
                          <a:effectLst/>
                          <a:latin typeface="Arial" panose="020B0604020202020204" pitchFamily="34" charset="0"/>
                          <a:cs typeface="Arial" panose="020B0604020202020204" pitchFamily="34" charset="0"/>
                        </a:rPr>
                        <a:t>Нийт</a:t>
                      </a:r>
                      <a:endParaRPr lang="en-US" sz="950" b="1" dirty="0">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tc>
                  <a:txBody>
                    <a:bodyPr/>
                    <a:lstStyle/>
                    <a:p>
                      <a:pPr marL="0" marR="0" indent="0" algn="ctr">
                        <a:spcBef>
                          <a:spcPts val="200"/>
                        </a:spcBef>
                        <a:spcAft>
                          <a:spcPts val="200"/>
                        </a:spcAft>
                        <a:buNone/>
                      </a:pPr>
                      <a:r>
                        <a:rPr lang="mn-MN" sz="950" b="1" dirty="0">
                          <a:effectLst/>
                          <a:latin typeface="Arial" panose="020B0604020202020204" pitchFamily="34" charset="0"/>
                          <a:cs typeface="Arial" panose="020B0604020202020204" pitchFamily="34" charset="0"/>
                        </a:rPr>
                        <a:t>Бүтэц</a:t>
                      </a:r>
                      <a:endParaRPr lang="en-US" sz="950" b="1" dirty="0">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extLst>
                  <a:ext uri="{0D108BD9-81ED-4DB2-BD59-A6C34878D82A}">
                    <a16:rowId xmlns:a16="http://schemas.microsoft.com/office/drawing/2014/main" val="10000"/>
                  </a:ext>
                </a:extLst>
              </a:tr>
              <a:tr h="200000">
                <a:tc>
                  <a:txBody>
                    <a:bodyPr/>
                    <a:lstStyle/>
                    <a:p>
                      <a:pPr algn="ctr" fontAlgn="ctr">
                        <a:buNone/>
                      </a:pPr>
                      <a:r>
                        <a:rPr lang="en-US" sz="950" b="0" i="0" u="none" strike="noStrike" dirty="0">
                          <a:solidFill>
                            <a:schemeClr val="bg1"/>
                          </a:solidFill>
                          <a:effectLst/>
                          <a:latin typeface="Arial" panose="020B0604020202020204" pitchFamily="34" charset="0"/>
                        </a:rPr>
                        <a:t>1</a:t>
                      </a:r>
                    </a:p>
                  </a:txBody>
                  <a:tcPr marL="6350" marR="6350" marT="6350" marB="0" anchor="ctr">
                    <a:noFill/>
                  </a:tcPr>
                </a:tc>
                <a:tc>
                  <a:txBody>
                    <a:bodyPr/>
                    <a:lstStyle/>
                    <a:p>
                      <a:pPr marL="73152" algn="l" fontAlgn="ctr">
                        <a:buNone/>
                      </a:pPr>
                      <a:r>
                        <a:rPr lang="mn-MN" sz="950" b="0" i="0" u="none" strike="noStrike" dirty="0">
                          <a:solidFill>
                            <a:schemeClr val="bg1"/>
                          </a:solidFill>
                          <a:effectLst/>
                          <a:latin typeface="Arial" panose="020B0604020202020204" pitchFamily="34" charset="0"/>
                        </a:rPr>
                        <a:t>Биет бус хөрөнгө</a:t>
                      </a:r>
                    </a:p>
                  </a:txBody>
                  <a:tcPr marL="6350" marR="6350" marT="6350" marB="0" anchor="ctr">
                    <a:noFill/>
                  </a:tcPr>
                </a:tc>
                <a:tc>
                  <a:txBody>
                    <a:bodyPr/>
                    <a:lstStyle/>
                    <a:p>
                      <a:pPr algn="ctr" fontAlgn="ctr">
                        <a:buNone/>
                      </a:pPr>
                      <a:r>
                        <a:rPr lang="mn-MN" sz="950" b="0" i="0" u="none" strike="noStrike">
                          <a:solidFill>
                            <a:schemeClr val="bg1"/>
                          </a:solidFill>
                          <a:effectLst/>
                          <a:latin typeface="Arial" panose="020B0604020202020204" pitchFamily="34" charset="0"/>
                        </a:rPr>
                        <a:t>сая төг.</a:t>
                      </a:r>
                    </a:p>
                  </a:txBody>
                  <a:tcPr marL="6350" marR="6350" marT="6350" marB="0" anchor="ctr">
                    <a:noFill/>
                  </a:tcPr>
                </a:tc>
                <a:tc>
                  <a:txBody>
                    <a:bodyPr/>
                    <a:lstStyle/>
                    <a:p>
                      <a:pPr algn="ctr" fontAlgn="ctr">
                        <a:buNone/>
                      </a:pPr>
                      <a:r>
                        <a:rPr lang="en-US" sz="950" b="0" i="0" u="none" strike="noStrike" dirty="0">
                          <a:solidFill>
                            <a:schemeClr val="bg1"/>
                          </a:solidFill>
                          <a:effectLst/>
                          <a:latin typeface="Arial" panose="020B0604020202020204" pitchFamily="34" charset="0"/>
                        </a:rPr>
                        <a:t>115.0</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a:t>
                      </a:r>
                    </a:p>
                  </a:txBody>
                  <a:tcPr marL="6350" marR="6350" marT="6350" marB="0" anchor="ctr">
                    <a:noFill/>
                  </a:tcPr>
                </a:tc>
                <a:tc>
                  <a:txBody>
                    <a:bodyPr/>
                    <a:lstStyle/>
                    <a:p>
                      <a:pPr algn="ctr" fontAlgn="b">
                        <a:buNone/>
                      </a:pPr>
                      <a:r>
                        <a:rPr lang="en-US" sz="950" b="0" i="0" u="none" strike="noStrike" dirty="0">
                          <a:solidFill>
                            <a:schemeClr val="bg1"/>
                          </a:solidFill>
                          <a:effectLst/>
                          <a:latin typeface="Arial" panose="020B0604020202020204" pitchFamily="34" charset="0"/>
                        </a:rPr>
                        <a:t>115.0</a:t>
                      </a:r>
                    </a:p>
                  </a:txBody>
                  <a:tcPr marL="6350" marR="6350" marT="6350" marB="0" anchor="ctr">
                    <a:noFill/>
                  </a:tcPr>
                </a:tc>
                <a:tc>
                  <a:txBody>
                    <a:bodyPr/>
                    <a:lstStyle/>
                    <a:p>
                      <a:pPr algn="ctr" fontAlgn="b">
                        <a:buNone/>
                      </a:pPr>
                      <a:r>
                        <a:rPr lang="en-US" sz="950" b="0" i="0" u="none" strike="noStrike">
                          <a:solidFill>
                            <a:schemeClr val="bg1"/>
                          </a:solidFill>
                          <a:effectLst/>
                          <a:latin typeface="Arial" panose="020B0604020202020204" pitchFamily="34" charset="0"/>
                        </a:rPr>
                        <a:t>1.5%</a:t>
                      </a:r>
                    </a:p>
                  </a:txBody>
                  <a:tcPr marL="6350" marR="6350" marT="6350" marB="0" anchor="ctr">
                    <a:noFill/>
                  </a:tcPr>
                </a:tc>
                <a:extLst>
                  <a:ext uri="{0D108BD9-81ED-4DB2-BD59-A6C34878D82A}">
                    <a16:rowId xmlns:a16="http://schemas.microsoft.com/office/drawing/2014/main" val="10001"/>
                  </a:ext>
                </a:extLst>
              </a:tr>
              <a:tr h="200000">
                <a:tc>
                  <a:txBody>
                    <a:bodyPr/>
                    <a:lstStyle/>
                    <a:p>
                      <a:pPr algn="ctr" fontAlgn="ctr">
                        <a:buNone/>
                      </a:pPr>
                      <a:r>
                        <a:rPr lang="en-US" sz="950" b="0" i="0" u="none" strike="noStrike" dirty="0">
                          <a:solidFill>
                            <a:schemeClr val="bg1"/>
                          </a:solidFill>
                          <a:effectLst/>
                          <a:latin typeface="Arial" panose="020B0604020202020204" pitchFamily="34" charset="0"/>
                        </a:rPr>
                        <a:t>2</a:t>
                      </a:r>
                    </a:p>
                  </a:txBody>
                  <a:tcPr marL="6350" marR="6350" marT="6350" marB="0" anchor="ctr">
                    <a:noFill/>
                  </a:tcPr>
                </a:tc>
                <a:tc>
                  <a:txBody>
                    <a:bodyPr/>
                    <a:lstStyle/>
                    <a:p>
                      <a:pPr marL="73152" algn="l" fontAlgn="ctr">
                        <a:buNone/>
                      </a:pPr>
                      <a:r>
                        <a:rPr lang="mn-MN" sz="950" b="0" i="0" u="none" strike="noStrike" dirty="0">
                          <a:solidFill>
                            <a:schemeClr val="bg1"/>
                          </a:solidFill>
                          <a:effectLst/>
                          <a:latin typeface="Arial" panose="020B0604020202020204" pitchFamily="34" charset="0"/>
                        </a:rPr>
                        <a:t>Удирдлага захиргаа</a:t>
                      </a:r>
                    </a:p>
                  </a:txBody>
                  <a:tcPr marL="6350" marR="6350" marT="6350" marB="0" anchor="ctr">
                    <a:noFill/>
                  </a:tcPr>
                </a:tc>
                <a:tc>
                  <a:txBody>
                    <a:bodyPr/>
                    <a:lstStyle/>
                    <a:p>
                      <a:pPr algn="ctr" fontAlgn="ctr">
                        <a:buNone/>
                      </a:pPr>
                      <a:r>
                        <a:rPr lang="mn-MN" sz="950" b="0" i="0" u="none" strike="noStrike">
                          <a:solidFill>
                            <a:schemeClr val="bg1"/>
                          </a:solidFill>
                          <a:effectLst/>
                          <a:latin typeface="Arial" panose="020B0604020202020204" pitchFamily="34" charset="0"/>
                        </a:rPr>
                        <a:t>сая төг.</a:t>
                      </a:r>
                    </a:p>
                  </a:txBody>
                  <a:tcPr marL="6350" marR="6350" marT="6350" marB="0" anchor="ctr">
                    <a:noFill/>
                  </a:tcPr>
                </a:tc>
                <a:tc>
                  <a:txBody>
                    <a:bodyPr/>
                    <a:lstStyle/>
                    <a:p>
                      <a:pPr algn="ctr" fontAlgn="ctr">
                        <a:buNone/>
                      </a:pPr>
                      <a:r>
                        <a:rPr lang="en-US" sz="950" b="0" i="0" u="none" strike="noStrike" dirty="0">
                          <a:solidFill>
                            <a:schemeClr val="bg1"/>
                          </a:solidFill>
                          <a:effectLst/>
                          <a:latin typeface="Arial" panose="020B0604020202020204" pitchFamily="34" charset="0"/>
                        </a:rPr>
                        <a:t>619.3</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a:t>
                      </a:r>
                    </a:p>
                  </a:txBody>
                  <a:tcPr marL="6350" marR="6350" marT="6350" marB="0" anchor="ctr">
                    <a:noFill/>
                  </a:tcPr>
                </a:tc>
                <a:tc>
                  <a:txBody>
                    <a:bodyPr/>
                    <a:lstStyle/>
                    <a:p>
                      <a:pPr algn="ctr" fontAlgn="b">
                        <a:buNone/>
                      </a:pPr>
                      <a:r>
                        <a:rPr lang="en-US" sz="950" b="0" i="0" u="none" strike="noStrike" dirty="0">
                          <a:solidFill>
                            <a:schemeClr val="bg1"/>
                          </a:solidFill>
                          <a:effectLst/>
                          <a:latin typeface="Arial" panose="020B0604020202020204" pitchFamily="34" charset="0"/>
                        </a:rPr>
                        <a:t>619.3</a:t>
                      </a:r>
                    </a:p>
                  </a:txBody>
                  <a:tcPr marL="6350" marR="6350" marT="6350" marB="0" anchor="ctr">
                    <a:noFill/>
                  </a:tcPr>
                </a:tc>
                <a:tc>
                  <a:txBody>
                    <a:bodyPr/>
                    <a:lstStyle/>
                    <a:p>
                      <a:pPr algn="ctr" fontAlgn="b">
                        <a:buNone/>
                      </a:pPr>
                      <a:r>
                        <a:rPr lang="en-US" sz="950" b="0" i="0" u="none" strike="noStrike">
                          <a:solidFill>
                            <a:schemeClr val="bg1"/>
                          </a:solidFill>
                          <a:effectLst/>
                          <a:latin typeface="Arial" panose="020B0604020202020204" pitchFamily="34" charset="0"/>
                        </a:rPr>
                        <a:t>8.2%</a:t>
                      </a:r>
                    </a:p>
                  </a:txBody>
                  <a:tcPr marL="6350" marR="6350" marT="6350" marB="0" anchor="ctr">
                    <a:noFill/>
                  </a:tcPr>
                </a:tc>
                <a:extLst>
                  <a:ext uri="{0D108BD9-81ED-4DB2-BD59-A6C34878D82A}">
                    <a16:rowId xmlns:a16="http://schemas.microsoft.com/office/drawing/2014/main" val="10002"/>
                  </a:ext>
                </a:extLst>
              </a:tr>
              <a:tr h="200000">
                <a:tc>
                  <a:txBody>
                    <a:bodyPr/>
                    <a:lstStyle/>
                    <a:p>
                      <a:pPr algn="ctr" fontAlgn="ctr">
                        <a:buNone/>
                      </a:pPr>
                      <a:r>
                        <a:rPr lang="en-US" sz="950" b="0" i="0" u="none" strike="noStrike" dirty="0">
                          <a:solidFill>
                            <a:schemeClr val="bg1"/>
                          </a:solidFill>
                          <a:effectLst/>
                          <a:latin typeface="Arial" panose="020B0604020202020204" pitchFamily="34" charset="0"/>
                        </a:rPr>
                        <a:t>3</a:t>
                      </a:r>
                    </a:p>
                  </a:txBody>
                  <a:tcPr marL="6350" marR="6350" marT="6350" marB="0" anchor="ctr">
                    <a:noFill/>
                  </a:tcPr>
                </a:tc>
                <a:tc>
                  <a:txBody>
                    <a:bodyPr/>
                    <a:lstStyle/>
                    <a:p>
                      <a:pPr marL="73152" algn="l" fontAlgn="ctr">
                        <a:buNone/>
                      </a:pPr>
                      <a:r>
                        <a:rPr lang="mn-MN" sz="950" b="0" i="0" u="none" strike="noStrike" dirty="0">
                          <a:solidFill>
                            <a:schemeClr val="bg1"/>
                          </a:solidFill>
                          <a:effectLst/>
                          <a:latin typeface="Arial" panose="020B0604020202020204" pitchFamily="34" charset="0"/>
                        </a:rPr>
                        <a:t>Ил уурхай</a:t>
                      </a:r>
                    </a:p>
                  </a:txBody>
                  <a:tcPr marL="6350" marR="6350" marT="6350" marB="0" anchor="ctr">
                    <a:noFill/>
                  </a:tcPr>
                </a:tc>
                <a:tc>
                  <a:txBody>
                    <a:bodyPr/>
                    <a:lstStyle/>
                    <a:p>
                      <a:pPr algn="ctr" fontAlgn="ctr">
                        <a:buNone/>
                      </a:pPr>
                      <a:r>
                        <a:rPr lang="mn-MN" sz="950" b="0" i="0" u="none" strike="noStrike">
                          <a:solidFill>
                            <a:schemeClr val="bg1"/>
                          </a:solidFill>
                          <a:effectLst/>
                          <a:latin typeface="Arial" panose="020B0604020202020204" pitchFamily="34" charset="0"/>
                        </a:rPr>
                        <a:t>сая төг.</a:t>
                      </a:r>
                    </a:p>
                  </a:txBody>
                  <a:tcPr marL="6350" marR="6350" marT="6350" marB="0" anchor="ctr">
                    <a:noFill/>
                  </a:tcPr>
                </a:tc>
                <a:tc>
                  <a:txBody>
                    <a:bodyPr/>
                    <a:lstStyle/>
                    <a:p>
                      <a:pPr algn="ctr" fontAlgn="ctr">
                        <a:buNone/>
                      </a:pPr>
                      <a:r>
                        <a:rPr lang="en-US" sz="950" b="0" i="0" u="none" strike="noStrike" dirty="0">
                          <a:solidFill>
                            <a:schemeClr val="bg1"/>
                          </a:solidFill>
                          <a:effectLst/>
                          <a:latin typeface="Arial" panose="020B0604020202020204" pitchFamily="34" charset="0"/>
                        </a:rPr>
                        <a:t>2,668.0</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a:t>
                      </a:r>
                    </a:p>
                  </a:txBody>
                  <a:tcPr marL="6350" marR="6350" marT="6350" marB="0" anchor="ctr">
                    <a:noFill/>
                  </a:tcPr>
                </a:tc>
                <a:tc>
                  <a:txBody>
                    <a:bodyPr/>
                    <a:lstStyle/>
                    <a:p>
                      <a:pPr algn="ctr" fontAlgn="b">
                        <a:buNone/>
                      </a:pPr>
                      <a:r>
                        <a:rPr lang="en-US" sz="950" b="0" i="0" u="none" strike="noStrike" dirty="0">
                          <a:solidFill>
                            <a:schemeClr val="bg1"/>
                          </a:solidFill>
                          <a:effectLst/>
                          <a:latin typeface="Arial" panose="020B0604020202020204" pitchFamily="34" charset="0"/>
                        </a:rPr>
                        <a:t>2,668.0</a:t>
                      </a:r>
                    </a:p>
                  </a:txBody>
                  <a:tcPr marL="6350" marR="6350" marT="6350" marB="0" anchor="ctr">
                    <a:noFill/>
                  </a:tcPr>
                </a:tc>
                <a:tc>
                  <a:txBody>
                    <a:bodyPr/>
                    <a:lstStyle/>
                    <a:p>
                      <a:pPr algn="ctr" fontAlgn="b">
                        <a:buNone/>
                      </a:pPr>
                      <a:r>
                        <a:rPr lang="en-US" sz="950" b="0" i="0" u="none" strike="noStrike">
                          <a:solidFill>
                            <a:schemeClr val="bg1"/>
                          </a:solidFill>
                          <a:effectLst/>
                          <a:latin typeface="Arial" panose="020B0604020202020204" pitchFamily="34" charset="0"/>
                        </a:rPr>
                        <a:t>35.1%</a:t>
                      </a:r>
                    </a:p>
                  </a:txBody>
                  <a:tcPr marL="6350" marR="6350" marT="6350" marB="0" anchor="ctr">
                    <a:noFill/>
                  </a:tcPr>
                </a:tc>
                <a:extLst>
                  <a:ext uri="{0D108BD9-81ED-4DB2-BD59-A6C34878D82A}">
                    <a16:rowId xmlns:a16="http://schemas.microsoft.com/office/drawing/2014/main" val="10003"/>
                  </a:ext>
                </a:extLst>
              </a:tr>
              <a:tr h="200000">
                <a:tc>
                  <a:txBody>
                    <a:bodyPr/>
                    <a:lstStyle/>
                    <a:p>
                      <a:pPr algn="ctr" fontAlgn="ctr">
                        <a:buNone/>
                      </a:pPr>
                      <a:r>
                        <a:rPr lang="en-US" sz="950" b="0" i="0" u="none" strike="noStrike" dirty="0">
                          <a:solidFill>
                            <a:schemeClr val="bg1"/>
                          </a:solidFill>
                          <a:effectLst/>
                          <a:latin typeface="Arial" panose="020B0604020202020204" pitchFamily="34" charset="0"/>
                        </a:rPr>
                        <a:t>4</a:t>
                      </a:r>
                    </a:p>
                  </a:txBody>
                  <a:tcPr marL="6350" marR="6350" marT="6350" marB="0" anchor="ctr">
                    <a:noFill/>
                  </a:tcPr>
                </a:tc>
                <a:tc>
                  <a:txBody>
                    <a:bodyPr/>
                    <a:lstStyle/>
                    <a:p>
                      <a:pPr marL="73152" algn="l" fontAlgn="ctr">
                        <a:buNone/>
                      </a:pPr>
                      <a:r>
                        <a:rPr lang="mn-MN" sz="950" b="0" i="0" u="none" strike="noStrike" dirty="0">
                          <a:solidFill>
                            <a:schemeClr val="bg1"/>
                          </a:solidFill>
                          <a:effectLst/>
                          <a:latin typeface="Arial" panose="020B0604020202020204" pitchFamily="34" charset="0"/>
                        </a:rPr>
                        <a:t>Баяжуулах цех</a:t>
                      </a:r>
                    </a:p>
                  </a:txBody>
                  <a:tcPr marL="6350" marR="6350" marT="6350" marB="0" anchor="ctr">
                    <a:noFill/>
                  </a:tcPr>
                </a:tc>
                <a:tc>
                  <a:txBody>
                    <a:bodyPr/>
                    <a:lstStyle/>
                    <a:p>
                      <a:pPr algn="ctr" fontAlgn="ctr">
                        <a:buNone/>
                      </a:pPr>
                      <a:r>
                        <a:rPr lang="mn-MN" sz="950" b="0" i="0" u="none" strike="noStrike">
                          <a:solidFill>
                            <a:schemeClr val="bg1"/>
                          </a:solidFill>
                          <a:effectLst/>
                          <a:latin typeface="Arial" panose="020B0604020202020204" pitchFamily="34" charset="0"/>
                        </a:rPr>
                        <a:t>сая төг.</a:t>
                      </a:r>
                    </a:p>
                  </a:txBody>
                  <a:tcPr marL="6350" marR="6350" marT="6350" marB="0" anchor="ctr">
                    <a:noFill/>
                  </a:tcPr>
                </a:tc>
                <a:tc>
                  <a:txBody>
                    <a:bodyPr/>
                    <a:lstStyle/>
                    <a:p>
                      <a:pPr algn="ctr" fontAlgn="ctr">
                        <a:buNone/>
                      </a:pPr>
                      <a:r>
                        <a:rPr lang="en-US" sz="950" b="0" i="0" u="none" strike="noStrike" dirty="0">
                          <a:solidFill>
                            <a:schemeClr val="bg1"/>
                          </a:solidFill>
                          <a:effectLst/>
                          <a:latin typeface="Arial" panose="020B0604020202020204" pitchFamily="34" charset="0"/>
                        </a:rPr>
                        <a:t>1,099.4</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a:t>
                      </a:r>
                    </a:p>
                  </a:txBody>
                  <a:tcPr marL="6350" marR="6350" marT="6350" marB="0" anchor="ctr">
                    <a:noFill/>
                  </a:tcPr>
                </a:tc>
                <a:tc>
                  <a:txBody>
                    <a:bodyPr/>
                    <a:lstStyle/>
                    <a:p>
                      <a:pPr algn="ctr" fontAlgn="b">
                        <a:buNone/>
                      </a:pPr>
                      <a:r>
                        <a:rPr lang="en-US" sz="950" b="0" i="0" u="none" strike="noStrike" dirty="0">
                          <a:solidFill>
                            <a:schemeClr val="bg1"/>
                          </a:solidFill>
                          <a:effectLst/>
                          <a:latin typeface="Arial" panose="020B0604020202020204" pitchFamily="34" charset="0"/>
                        </a:rPr>
                        <a:t>1,099.4</a:t>
                      </a:r>
                    </a:p>
                  </a:txBody>
                  <a:tcPr marL="6350" marR="6350" marT="6350" marB="0" anchor="ctr">
                    <a:noFill/>
                  </a:tcPr>
                </a:tc>
                <a:tc>
                  <a:txBody>
                    <a:bodyPr/>
                    <a:lstStyle/>
                    <a:p>
                      <a:pPr algn="ctr" fontAlgn="b">
                        <a:buNone/>
                      </a:pPr>
                      <a:r>
                        <a:rPr lang="en-US" sz="950" b="0" i="0" u="none" strike="noStrike">
                          <a:solidFill>
                            <a:schemeClr val="bg1"/>
                          </a:solidFill>
                          <a:effectLst/>
                          <a:latin typeface="Arial" panose="020B0604020202020204" pitchFamily="34" charset="0"/>
                        </a:rPr>
                        <a:t>14.5%</a:t>
                      </a:r>
                    </a:p>
                  </a:txBody>
                  <a:tcPr marL="6350" marR="6350" marT="6350" marB="0" anchor="ctr">
                    <a:noFill/>
                  </a:tcPr>
                </a:tc>
                <a:extLst>
                  <a:ext uri="{0D108BD9-81ED-4DB2-BD59-A6C34878D82A}">
                    <a16:rowId xmlns:a16="http://schemas.microsoft.com/office/drawing/2014/main" val="10004"/>
                  </a:ext>
                </a:extLst>
              </a:tr>
              <a:tr h="200000">
                <a:tc>
                  <a:txBody>
                    <a:bodyPr/>
                    <a:lstStyle/>
                    <a:p>
                      <a:pPr algn="ctr" fontAlgn="ctr">
                        <a:buNone/>
                      </a:pPr>
                      <a:r>
                        <a:rPr lang="en-US" sz="950" b="0" i="0" u="none" strike="noStrike" dirty="0">
                          <a:solidFill>
                            <a:schemeClr val="bg1"/>
                          </a:solidFill>
                          <a:effectLst/>
                          <a:latin typeface="Arial" panose="020B0604020202020204" pitchFamily="34" charset="0"/>
                        </a:rPr>
                        <a:t>5</a:t>
                      </a:r>
                    </a:p>
                  </a:txBody>
                  <a:tcPr marL="6350" marR="6350" marT="6350" marB="0" anchor="ctr">
                    <a:noFill/>
                  </a:tcPr>
                </a:tc>
                <a:tc>
                  <a:txBody>
                    <a:bodyPr/>
                    <a:lstStyle/>
                    <a:p>
                      <a:pPr marL="73152" algn="l" fontAlgn="ctr">
                        <a:buNone/>
                      </a:pPr>
                      <a:r>
                        <a:rPr lang="mn-MN" sz="950" b="0" i="0" u="none" strike="noStrike" dirty="0">
                          <a:solidFill>
                            <a:schemeClr val="bg1"/>
                          </a:solidFill>
                          <a:effectLst/>
                          <a:latin typeface="Arial" panose="020B0604020202020204" pitchFamily="34" charset="0"/>
                        </a:rPr>
                        <a:t>Засварын цех</a:t>
                      </a:r>
                    </a:p>
                  </a:txBody>
                  <a:tcPr marL="6350" marR="6350" marT="6350" marB="0" anchor="ctr">
                    <a:noFill/>
                  </a:tcPr>
                </a:tc>
                <a:tc>
                  <a:txBody>
                    <a:bodyPr/>
                    <a:lstStyle/>
                    <a:p>
                      <a:pPr algn="ctr" fontAlgn="ctr">
                        <a:buNone/>
                      </a:pPr>
                      <a:r>
                        <a:rPr lang="mn-MN" sz="950" b="0" i="0" u="none" strike="noStrike">
                          <a:solidFill>
                            <a:schemeClr val="bg1"/>
                          </a:solidFill>
                          <a:effectLst/>
                          <a:latin typeface="Arial" panose="020B0604020202020204" pitchFamily="34" charset="0"/>
                        </a:rPr>
                        <a:t>сая төг.</a:t>
                      </a:r>
                    </a:p>
                  </a:txBody>
                  <a:tcPr marL="6350" marR="6350" marT="6350" marB="0" anchor="ctr">
                    <a:noFill/>
                  </a:tcPr>
                </a:tc>
                <a:tc>
                  <a:txBody>
                    <a:bodyPr/>
                    <a:lstStyle/>
                    <a:p>
                      <a:pPr algn="ctr" fontAlgn="ctr">
                        <a:buNone/>
                      </a:pPr>
                      <a:r>
                        <a:rPr lang="en-US" sz="950" b="0" i="0" u="none" strike="noStrike" dirty="0">
                          <a:solidFill>
                            <a:schemeClr val="bg1"/>
                          </a:solidFill>
                          <a:effectLst/>
                          <a:latin typeface="Arial" panose="020B0604020202020204" pitchFamily="34" charset="0"/>
                        </a:rPr>
                        <a:t>98.7</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a:t>
                      </a:r>
                    </a:p>
                  </a:txBody>
                  <a:tcPr marL="6350" marR="6350" marT="6350" marB="0" anchor="ctr">
                    <a:noFill/>
                  </a:tcPr>
                </a:tc>
                <a:tc>
                  <a:txBody>
                    <a:bodyPr/>
                    <a:lstStyle/>
                    <a:p>
                      <a:pPr algn="ctr" fontAlgn="b">
                        <a:buNone/>
                      </a:pPr>
                      <a:r>
                        <a:rPr lang="en-US" sz="950" b="0" i="0" u="none" strike="noStrike" dirty="0">
                          <a:solidFill>
                            <a:schemeClr val="bg1"/>
                          </a:solidFill>
                          <a:effectLst/>
                          <a:latin typeface="Arial" panose="020B0604020202020204" pitchFamily="34" charset="0"/>
                        </a:rPr>
                        <a:t>98.7</a:t>
                      </a:r>
                    </a:p>
                  </a:txBody>
                  <a:tcPr marL="6350" marR="6350" marT="6350" marB="0" anchor="ctr">
                    <a:noFill/>
                  </a:tcPr>
                </a:tc>
                <a:tc>
                  <a:txBody>
                    <a:bodyPr/>
                    <a:lstStyle/>
                    <a:p>
                      <a:pPr algn="ctr" fontAlgn="b">
                        <a:buNone/>
                      </a:pPr>
                      <a:r>
                        <a:rPr lang="en-US" sz="950" b="0" i="0" u="none" strike="noStrike">
                          <a:solidFill>
                            <a:schemeClr val="bg1"/>
                          </a:solidFill>
                          <a:effectLst/>
                          <a:latin typeface="Arial" panose="020B0604020202020204" pitchFamily="34" charset="0"/>
                        </a:rPr>
                        <a:t>1.3%</a:t>
                      </a:r>
                    </a:p>
                  </a:txBody>
                  <a:tcPr marL="6350" marR="6350" marT="6350" marB="0" anchor="ctr">
                    <a:noFill/>
                  </a:tcPr>
                </a:tc>
                <a:extLst>
                  <a:ext uri="{0D108BD9-81ED-4DB2-BD59-A6C34878D82A}">
                    <a16:rowId xmlns:a16="http://schemas.microsoft.com/office/drawing/2014/main" val="10005"/>
                  </a:ext>
                </a:extLst>
              </a:tr>
              <a:tr h="200000">
                <a:tc>
                  <a:txBody>
                    <a:bodyPr/>
                    <a:lstStyle/>
                    <a:p>
                      <a:pPr algn="ctr" fontAlgn="ctr">
                        <a:buNone/>
                      </a:pPr>
                      <a:r>
                        <a:rPr lang="en-US" sz="950" b="0" i="0" u="none" strike="noStrike" dirty="0">
                          <a:solidFill>
                            <a:schemeClr val="bg1"/>
                          </a:solidFill>
                          <a:effectLst/>
                          <a:latin typeface="Arial" panose="020B0604020202020204" pitchFamily="34" charset="0"/>
                        </a:rPr>
                        <a:t>6</a:t>
                      </a:r>
                    </a:p>
                  </a:txBody>
                  <a:tcPr marL="6350" marR="6350" marT="6350" marB="0" anchor="ctr">
                    <a:noFill/>
                  </a:tcPr>
                </a:tc>
                <a:tc>
                  <a:txBody>
                    <a:bodyPr/>
                    <a:lstStyle/>
                    <a:p>
                      <a:pPr marL="73152" algn="l" fontAlgn="ctr">
                        <a:buNone/>
                      </a:pPr>
                      <a:r>
                        <a:rPr lang="mn-MN" sz="950" b="0" i="0" u="none" strike="noStrike" dirty="0">
                          <a:solidFill>
                            <a:schemeClr val="bg1"/>
                          </a:solidFill>
                          <a:effectLst/>
                          <a:latin typeface="Arial" panose="020B0604020202020204" pitchFamily="34" charset="0"/>
                        </a:rPr>
                        <a:t>Дэд бүтэц</a:t>
                      </a:r>
                    </a:p>
                  </a:txBody>
                  <a:tcPr marL="6350" marR="6350" marT="6350" marB="0" anchor="ctr">
                    <a:noFill/>
                  </a:tcPr>
                </a:tc>
                <a:tc>
                  <a:txBody>
                    <a:bodyPr/>
                    <a:lstStyle/>
                    <a:p>
                      <a:pPr algn="ctr" fontAlgn="ctr">
                        <a:buNone/>
                      </a:pPr>
                      <a:r>
                        <a:rPr lang="mn-MN" sz="950" b="0" i="0" u="none" strike="noStrike">
                          <a:solidFill>
                            <a:schemeClr val="bg1"/>
                          </a:solidFill>
                          <a:effectLst/>
                          <a:latin typeface="Arial" panose="020B0604020202020204" pitchFamily="34" charset="0"/>
                        </a:rPr>
                        <a:t>сая төг.</a:t>
                      </a:r>
                    </a:p>
                  </a:txBody>
                  <a:tcPr marL="6350" marR="6350" marT="6350" marB="0" anchor="ctr">
                    <a:noFill/>
                  </a:tcPr>
                </a:tc>
                <a:tc>
                  <a:txBody>
                    <a:bodyPr/>
                    <a:lstStyle/>
                    <a:p>
                      <a:pPr algn="ctr" fontAlgn="ctr">
                        <a:buNone/>
                      </a:pPr>
                      <a:r>
                        <a:rPr lang="en-US" sz="950" b="0" i="0" u="none" strike="noStrike" dirty="0">
                          <a:solidFill>
                            <a:schemeClr val="bg1"/>
                          </a:solidFill>
                          <a:effectLst/>
                          <a:latin typeface="Arial" panose="020B0604020202020204" pitchFamily="34" charset="0"/>
                        </a:rPr>
                        <a:t>2,306.3</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a:t>
                      </a:r>
                    </a:p>
                  </a:txBody>
                  <a:tcPr marL="6350" marR="6350" marT="6350" marB="0" anchor="ctr">
                    <a:noFill/>
                  </a:tcPr>
                </a:tc>
                <a:tc>
                  <a:txBody>
                    <a:bodyPr/>
                    <a:lstStyle/>
                    <a:p>
                      <a:pPr algn="ctr" fontAlgn="b">
                        <a:buNone/>
                      </a:pPr>
                      <a:r>
                        <a:rPr lang="en-US" sz="950" b="0" i="0" u="none" strike="noStrike" dirty="0">
                          <a:solidFill>
                            <a:schemeClr val="bg1"/>
                          </a:solidFill>
                          <a:effectLst/>
                          <a:latin typeface="Arial" panose="020B0604020202020204" pitchFamily="34" charset="0"/>
                        </a:rPr>
                        <a:t>2,306.3</a:t>
                      </a:r>
                    </a:p>
                  </a:txBody>
                  <a:tcPr marL="6350" marR="6350" marT="6350" marB="0" anchor="ctr">
                    <a:noFill/>
                  </a:tcPr>
                </a:tc>
                <a:tc>
                  <a:txBody>
                    <a:bodyPr/>
                    <a:lstStyle/>
                    <a:p>
                      <a:pPr algn="ctr" fontAlgn="b">
                        <a:buNone/>
                      </a:pPr>
                      <a:r>
                        <a:rPr lang="en-US" sz="950" b="0" i="0" u="none" strike="noStrike">
                          <a:solidFill>
                            <a:schemeClr val="bg1"/>
                          </a:solidFill>
                          <a:effectLst/>
                          <a:latin typeface="Arial" panose="020B0604020202020204" pitchFamily="34" charset="0"/>
                        </a:rPr>
                        <a:t>30.4%</a:t>
                      </a:r>
                    </a:p>
                  </a:txBody>
                  <a:tcPr marL="6350" marR="6350" marT="6350" marB="0" anchor="ctr">
                    <a:noFill/>
                  </a:tcPr>
                </a:tc>
                <a:extLst>
                  <a:ext uri="{0D108BD9-81ED-4DB2-BD59-A6C34878D82A}">
                    <a16:rowId xmlns:a16="http://schemas.microsoft.com/office/drawing/2014/main" val="10006"/>
                  </a:ext>
                </a:extLst>
              </a:tr>
              <a:tr h="200000">
                <a:tc>
                  <a:txBody>
                    <a:bodyPr/>
                    <a:lstStyle/>
                    <a:p>
                      <a:pPr algn="ctr" fontAlgn="ctr">
                        <a:buNone/>
                      </a:pPr>
                      <a:r>
                        <a:rPr lang="en-US" sz="950" b="0" i="0" u="none" strike="noStrike" dirty="0">
                          <a:solidFill>
                            <a:schemeClr val="bg1"/>
                          </a:solidFill>
                          <a:effectLst/>
                          <a:latin typeface="Arial" panose="020B0604020202020204" pitchFamily="34" charset="0"/>
                        </a:rPr>
                        <a:t>7</a:t>
                      </a:r>
                    </a:p>
                  </a:txBody>
                  <a:tcPr marL="6350" marR="6350" marT="6350" marB="0" anchor="ctr">
                    <a:noFill/>
                  </a:tcPr>
                </a:tc>
                <a:tc>
                  <a:txBody>
                    <a:bodyPr/>
                    <a:lstStyle/>
                    <a:p>
                      <a:pPr marL="73152" algn="l" fontAlgn="ctr">
                        <a:buNone/>
                      </a:pPr>
                      <a:r>
                        <a:rPr lang="mn-MN" sz="950" b="0" i="0" u="none" strike="noStrike" dirty="0">
                          <a:solidFill>
                            <a:schemeClr val="bg1"/>
                          </a:solidFill>
                          <a:effectLst/>
                          <a:latin typeface="Arial" panose="020B0604020202020204" pitchFamily="34" charset="0"/>
                        </a:rPr>
                        <a:t>Эргэлтийн хөрөнгө</a:t>
                      </a:r>
                    </a:p>
                  </a:txBody>
                  <a:tcPr marL="6350" marR="6350" marT="6350" marB="0" anchor="ctr">
                    <a:noFill/>
                  </a:tcPr>
                </a:tc>
                <a:tc>
                  <a:txBody>
                    <a:bodyPr/>
                    <a:lstStyle/>
                    <a:p>
                      <a:pPr algn="ctr" fontAlgn="ctr">
                        <a:buNone/>
                      </a:pPr>
                      <a:r>
                        <a:rPr lang="mn-MN" sz="950" b="0" i="0" u="none" strike="noStrike">
                          <a:solidFill>
                            <a:schemeClr val="bg1"/>
                          </a:solidFill>
                          <a:effectLst/>
                          <a:latin typeface="Arial" panose="020B0604020202020204" pitchFamily="34" charset="0"/>
                        </a:rPr>
                        <a:t>сая төг.</a:t>
                      </a:r>
                    </a:p>
                  </a:txBody>
                  <a:tcPr marL="6350" marR="6350" marT="6350" marB="0" anchor="ctr">
                    <a:noFill/>
                  </a:tcPr>
                </a:tc>
                <a:tc>
                  <a:txBody>
                    <a:bodyPr/>
                    <a:lstStyle/>
                    <a:p>
                      <a:pPr algn="ctr" fontAlgn="ctr">
                        <a:buNone/>
                      </a:pPr>
                      <a:r>
                        <a:rPr lang="en-US" sz="950" b="0" i="0" u="none" strike="noStrike" dirty="0">
                          <a:solidFill>
                            <a:schemeClr val="bg1"/>
                          </a:solidFill>
                          <a:effectLst/>
                          <a:latin typeface="Arial" panose="020B0604020202020204" pitchFamily="34" charset="0"/>
                        </a:rPr>
                        <a:t>690.7</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a:t>
                      </a:r>
                    </a:p>
                  </a:txBody>
                  <a:tcPr marL="6350" marR="6350" marT="6350" marB="0" anchor="ctr">
                    <a:noFill/>
                  </a:tcPr>
                </a:tc>
                <a:tc>
                  <a:txBody>
                    <a:bodyPr/>
                    <a:lstStyle/>
                    <a:p>
                      <a:pPr algn="ctr" fontAlgn="b">
                        <a:buNone/>
                      </a:pPr>
                      <a:r>
                        <a:rPr lang="en-US" sz="950" b="0" i="0" u="none" strike="noStrike" dirty="0">
                          <a:solidFill>
                            <a:schemeClr val="bg1"/>
                          </a:solidFill>
                          <a:effectLst/>
                          <a:latin typeface="Arial" panose="020B0604020202020204" pitchFamily="34" charset="0"/>
                        </a:rPr>
                        <a:t>690.7</a:t>
                      </a:r>
                    </a:p>
                  </a:txBody>
                  <a:tcPr marL="6350" marR="6350" marT="6350" marB="0" anchor="ctr">
                    <a:noFill/>
                  </a:tcPr>
                </a:tc>
                <a:tc>
                  <a:txBody>
                    <a:bodyPr/>
                    <a:lstStyle/>
                    <a:p>
                      <a:pPr algn="ctr" fontAlgn="b">
                        <a:buNone/>
                      </a:pPr>
                      <a:r>
                        <a:rPr lang="en-US" sz="950" b="0" i="0" u="none" strike="noStrike">
                          <a:solidFill>
                            <a:schemeClr val="bg1"/>
                          </a:solidFill>
                          <a:effectLst/>
                          <a:latin typeface="Arial" panose="020B0604020202020204" pitchFamily="34" charset="0"/>
                        </a:rPr>
                        <a:t>9.1%</a:t>
                      </a:r>
                    </a:p>
                  </a:txBody>
                  <a:tcPr marL="6350" marR="6350" marT="6350" marB="0" anchor="ctr">
                    <a:noFill/>
                  </a:tcPr>
                </a:tc>
                <a:extLst>
                  <a:ext uri="{0D108BD9-81ED-4DB2-BD59-A6C34878D82A}">
                    <a16:rowId xmlns:a16="http://schemas.microsoft.com/office/drawing/2014/main" val="10007"/>
                  </a:ext>
                </a:extLst>
              </a:tr>
              <a:tr h="200000">
                <a:tc gridSpan="2">
                  <a:txBody>
                    <a:bodyPr/>
                    <a:lstStyle/>
                    <a:p>
                      <a:pPr marL="0" marR="0" indent="0" algn="ctr">
                        <a:spcBef>
                          <a:spcPts val="200"/>
                        </a:spcBef>
                        <a:spcAft>
                          <a:spcPts val="200"/>
                        </a:spcAft>
                        <a:buNone/>
                      </a:pPr>
                      <a:r>
                        <a:rPr lang="mn-MN" sz="950" b="1" dirty="0">
                          <a:effectLst/>
                          <a:latin typeface="Arial" panose="020B0604020202020204" pitchFamily="34" charset="0"/>
                          <a:cs typeface="Arial" panose="020B0604020202020204" pitchFamily="34" charset="0"/>
                        </a:rPr>
                        <a:t>Нийт</a:t>
                      </a:r>
                      <a:endParaRPr lang="en-US" sz="950" b="1" dirty="0">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tc hMerge="1">
                  <a:txBody>
                    <a:bodyPr/>
                    <a:lstStyle/>
                    <a:p>
                      <a:endParaRPr lang="en-US"/>
                    </a:p>
                  </a:txBody>
                  <a:tcPr/>
                </a:tc>
                <a:tc>
                  <a:txBody>
                    <a:bodyPr/>
                    <a:lstStyle/>
                    <a:p>
                      <a:pPr marL="0" marR="0" indent="0" algn="ctr">
                        <a:spcBef>
                          <a:spcPts val="200"/>
                        </a:spcBef>
                        <a:spcAft>
                          <a:spcPts val="200"/>
                        </a:spcAft>
                        <a:buNone/>
                      </a:pPr>
                      <a:r>
                        <a:rPr lang="mn-MN" sz="950" b="1" dirty="0">
                          <a:effectLst/>
                          <a:latin typeface="Arial" panose="020B0604020202020204" pitchFamily="34" charset="0"/>
                          <a:cs typeface="Arial" panose="020B0604020202020204" pitchFamily="34" charset="0"/>
                        </a:rPr>
                        <a:t>сая төг.</a:t>
                      </a:r>
                      <a:endParaRPr lang="en-US" sz="950" b="1" dirty="0">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tc>
                  <a:txBody>
                    <a:bodyPr/>
                    <a:lstStyle/>
                    <a:p>
                      <a:pPr marL="0" marR="0" indent="0" algn="ctr">
                        <a:spcBef>
                          <a:spcPts val="200"/>
                        </a:spcBef>
                        <a:spcAft>
                          <a:spcPts val="200"/>
                        </a:spcAft>
                        <a:buNone/>
                      </a:pPr>
                      <a:r>
                        <a:rPr lang="en-US" sz="950" b="1" dirty="0">
                          <a:effectLst/>
                          <a:latin typeface="Arial" panose="020B0604020202020204" pitchFamily="34" charset="0"/>
                          <a:ea typeface="Calibri" panose="020F0502020204030204" pitchFamily="34" charset="0"/>
                          <a:cs typeface="Arial" panose="020B0604020202020204" pitchFamily="34" charset="0"/>
                        </a:rPr>
                        <a:t>7,597.4</a:t>
                      </a:r>
                    </a:p>
                  </a:txBody>
                  <a:tcPr marL="45720" marR="45720" marT="0" marB="0" anchor="ctr">
                    <a:solidFill>
                      <a:srgbClr val="FFFF00"/>
                    </a:solidFill>
                  </a:tcPr>
                </a:tc>
                <a:tc>
                  <a:txBody>
                    <a:bodyPr/>
                    <a:lstStyle/>
                    <a:p>
                      <a:pPr marL="0" marR="0" indent="0" algn="ctr">
                        <a:spcBef>
                          <a:spcPts val="200"/>
                        </a:spcBef>
                        <a:spcAft>
                          <a:spcPts val="200"/>
                        </a:spcAft>
                        <a:buNone/>
                      </a:pPr>
                      <a:r>
                        <a:rPr lang="mn-MN" sz="950" b="1" dirty="0">
                          <a:effectLst/>
                          <a:latin typeface="Arial" panose="020B0604020202020204" pitchFamily="34" charset="0"/>
                          <a:cs typeface="Arial" panose="020B0604020202020204" pitchFamily="34" charset="0"/>
                        </a:rPr>
                        <a:t>-</a:t>
                      </a:r>
                      <a:endParaRPr lang="en-US" sz="950" b="1" dirty="0">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tc>
                  <a:txBody>
                    <a:bodyPr/>
                    <a:lstStyle/>
                    <a:p>
                      <a:pPr marL="0" marR="0" indent="0" algn="ctr">
                        <a:spcBef>
                          <a:spcPts val="200"/>
                        </a:spcBef>
                        <a:spcAft>
                          <a:spcPts val="200"/>
                        </a:spcAft>
                        <a:buNone/>
                      </a:pPr>
                      <a:r>
                        <a:rPr lang="en-US" sz="950" b="1" dirty="0">
                          <a:effectLst/>
                          <a:latin typeface="Arial" panose="020B0604020202020204" pitchFamily="34" charset="0"/>
                          <a:ea typeface="Calibri" panose="020F0502020204030204" pitchFamily="34" charset="0"/>
                          <a:cs typeface="Arial" panose="020B0604020202020204" pitchFamily="34" charset="0"/>
                        </a:rPr>
                        <a:t>7,597.4</a:t>
                      </a:r>
                    </a:p>
                  </a:txBody>
                  <a:tcPr marL="45720" marR="45720" marT="0" marB="0" anchor="ctr">
                    <a:solidFill>
                      <a:srgbClr val="FFFF00"/>
                    </a:solidFill>
                  </a:tcPr>
                </a:tc>
                <a:tc>
                  <a:txBody>
                    <a:bodyPr/>
                    <a:lstStyle/>
                    <a:p>
                      <a:pPr marL="0" marR="0" indent="0" algn="ctr">
                        <a:spcBef>
                          <a:spcPts val="200"/>
                        </a:spcBef>
                        <a:spcAft>
                          <a:spcPts val="200"/>
                        </a:spcAft>
                        <a:buNone/>
                      </a:pPr>
                      <a:r>
                        <a:rPr lang="mn-MN" sz="950" b="1" dirty="0">
                          <a:effectLst/>
                          <a:latin typeface="Arial" panose="020B0604020202020204" pitchFamily="34" charset="0"/>
                          <a:cs typeface="Arial" panose="020B0604020202020204" pitchFamily="34" charset="0"/>
                        </a:rPr>
                        <a:t>100.0%</a:t>
                      </a:r>
                      <a:endParaRPr lang="en-US" sz="950" b="1" dirty="0">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extLst>
                  <a:ext uri="{0D108BD9-81ED-4DB2-BD59-A6C34878D82A}">
                    <a16:rowId xmlns:a16="http://schemas.microsoft.com/office/drawing/2014/main" val="10008"/>
                  </a:ext>
                </a:extLst>
              </a:tr>
            </a:tbl>
          </a:graphicData>
        </a:graphic>
      </p:graphicFrame>
      <p:grpSp>
        <p:nvGrpSpPr>
          <p:cNvPr id="3" name="Group 2">
            <a:extLst>
              <a:ext uri="{FF2B5EF4-FFF2-40B4-BE49-F238E27FC236}">
                <a16:creationId xmlns:a16="http://schemas.microsoft.com/office/drawing/2014/main" id="{D7E177CD-F184-3A85-DEAD-302B9A90F848}"/>
              </a:ext>
            </a:extLst>
          </p:cNvPr>
          <p:cNvGrpSpPr/>
          <p:nvPr/>
        </p:nvGrpSpPr>
        <p:grpSpPr>
          <a:xfrm>
            <a:off x="2869324" y="1099185"/>
            <a:ext cx="5361709" cy="240369"/>
            <a:chOff x="4303986" y="1648777"/>
            <a:chExt cx="8042564" cy="360553"/>
          </a:xfrm>
        </p:grpSpPr>
        <p:sp>
          <p:nvSpPr>
            <p:cNvPr id="10" name="TextBox 24">
              <a:extLst>
                <a:ext uri="{FF2B5EF4-FFF2-40B4-BE49-F238E27FC236}">
                  <a16:creationId xmlns:a16="http://schemas.microsoft.com/office/drawing/2014/main" id="{71A9BDA1-FF54-0D2F-B393-209ABF065AB3}"/>
                </a:ext>
              </a:extLst>
            </p:cNvPr>
            <p:cNvSpPr txBox="1"/>
            <p:nvPr/>
          </p:nvSpPr>
          <p:spPr>
            <a:xfrm>
              <a:off x="4303986" y="1667682"/>
              <a:ext cx="4687614" cy="323871"/>
            </a:xfrm>
            <a:prstGeom prst="rect">
              <a:avLst/>
            </a:prstGeom>
          </p:spPr>
          <p:txBody>
            <a:bodyPr wrap="square" lIns="0" tIns="0" rIns="0" bIns="0" rtlCol="0" anchor="t">
              <a:spAutoFit/>
            </a:bodyPr>
            <a:lstStyle/>
            <a:p>
              <a:pPr algn="ctr">
                <a:lnSpc>
                  <a:spcPts val="1773"/>
                </a:lnSpc>
              </a:pPr>
              <a:r>
                <a:rPr lang="mn-MN" sz="1450" b="1" i="1" dirty="0">
                  <a:solidFill>
                    <a:schemeClr val="bg1"/>
                  </a:solidFill>
                  <a:latin typeface="Arial" panose="020B0604020202020204" pitchFamily="34" charset="0"/>
                  <a:ea typeface="Inter"/>
                  <a:cs typeface="Arial" panose="020B0604020202020204" pitchFamily="34" charset="0"/>
                  <a:sym typeface="Inter"/>
                </a:rPr>
                <a:t>Анхны хөрөнгө оруулалт</a:t>
              </a:r>
            </a:p>
          </p:txBody>
        </p:sp>
        <p:sp>
          <p:nvSpPr>
            <p:cNvPr id="14" name="TextBox 24">
              <a:extLst>
                <a:ext uri="{FF2B5EF4-FFF2-40B4-BE49-F238E27FC236}">
                  <a16:creationId xmlns:a16="http://schemas.microsoft.com/office/drawing/2014/main" id="{2B25103A-D394-F079-E8E1-8AF11F4551E4}"/>
                </a:ext>
              </a:extLst>
            </p:cNvPr>
            <p:cNvSpPr txBox="1"/>
            <p:nvPr/>
          </p:nvSpPr>
          <p:spPr>
            <a:xfrm>
              <a:off x="9337964" y="1673453"/>
              <a:ext cx="3008586" cy="318100"/>
            </a:xfrm>
            <a:prstGeom prst="rect">
              <a:avLst/>
            </a:prstGeom>
          </p:spPr>
          <p:txBody>
            <a:bodyPr wrap="square" lIns="0" tIns="0" rIns="0" bIns="0" rtlCol="0" anchor="t">
              <a:spAutoFit/>
            </a:bodyPr>
            <a:lstStyle/>
            <a:p>
              <a:pPr algn="ctr">
                <a:lnSpc>
                  <a:spcPts val="1773"/>
                </a:lnSpc>
              </a:pPr>
              <a:r>
                <a:rPr lang="en-US" sz="1350" b="1" i="1" dirty="0">
                  <a:solidFill>
                    <a:schemeClr val="bg1"/>
                  </a:solidFill>
                  <a:latin typeface="Arial" panose="020B0604020202020204" pitchFamily="34" charset="0"/>
                  <a:ea typeface="Inter"/>
                  <a:cs typeface="Arial" panose="020B0604020202020204" pitchFamily="34" charset="0"/>
                  <a:sym typeface="Inter"/>
                </a:rPr>
                <a:t>7.6 тэрбум төгрөг</a:t>
              </a:r>
            </a:p>
          </p:txBody>
        </p:sp>
        <p:sp>
          <p:nvSpPr>
            <p:cNvPr id="34" name="Equals 33">
              <a:extLst>
                <a:ext uri="{FF2B5EF4-FFF2-40B4-BE49-F238E27FC236}">
                  <a16:creationId xmlns:a16="http://schemas.microsoft.com/office/drawing/2014/main" id="{461235A6-1043-8410-68DC-40241517B8DD}"/>
                </a:ext>
              </a:extLst>
            </p:cNvPr>
            <p:cNvSpPr/>
            <p:nvPr/>
          </p:nvSpPr>
          <p:spPr>
            <a:xfrm>
              <a:off x="8763002" y="1648777"/>
              <a:ext cx="533400" cy="360553"/>
            </a:xfrm>
            <a:prstGeom prst="mathEqual">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5" name="TextBox 24">
            <a:extLst>
              <a:ext uri="{FF2B5EF4-FFF2-40B4-BE49-F238E27FC236}">
                <a16:creationId xmlns:a16="http://schemas.microsoft.com/office/drawing/2014/main" id="{4C05B870-9743-B85C-3DE8-AF81E36AD277}"/>
              </a:ext>
            </a:extLst>
          </p:cNvPr>
          <p:cNvSpPr txBox="1"/>
          <p:nvPr/>
        </p:nvSpPr>
        <p:spPr>
          <a:xfrm>
            <a:off x="1306786" y="3807080"/>
            <a:ext cx="3125076" cy="215914"/>
          </a:xfrm>
          <a:prstGeom prst="rect">
            <a:avLst/>
          </a:prstGeom>
        </p:spPr>
        <p:txBody>
          <a:bodyPr wrap="square" lIns="0" tIns="0" rIns="0" bIns="0" rtlCol="0" anchor="t">
            <a:spAutoFit/>
          </a:bodyPr>
          <a:lstStyle/>
          <a:p>
            <a:pPr algn="ctr">
              <a:lnSpc>
                <a:spcPts val="1773"/>
              </a:lnSpc>
            </a:pPr>
            <a:r>
              <a:rPr lang="mn-MN" sz="1450" b="1" i="1" dirty="0">
                <a:solidFill>
                  <a:schemeClr val="bg1"/>
                </a:solidFill>
                <a:latin typeface="Arial" panose="020B0604020202020204" pitchFamily="34" charset="0"/>
                <a:ea typeface="Inter"/>
                <a:cs typeface="Arial" panose="020B0604020202020204" pitchFamily="34" charset="0"/>
                <a:sym typeface="Inter"/>
              </a:rPr>
              <a:t>Нийт ажилчдын тоо</a:t>
            </a:r>
          </a:p>
        </p:txBody>
      </p:sp>
      <p:sp>
        <p:nvSpPr>
          <p:cNvPr id="36" name="TextBox 24">
            <a:extLst>
              <a:ext uri="{FF2B5EF4-FFF2-40B4-BE49-F238E27FC236}">
                <a16:creationId xmlns:a16="http://schemas.microsoft.com/office/drawing/2014/main" id="{6E7EE34F-B973-4B38-AAA2-8D8A6984E0CA}"/>
              </a:ext>
            </a:extLst>
          </p:cNvPr>
          <p:cNvSpPr txBox="1"/>
          <p:nvPr/>
        </p:nvSpPr>
        <p:spPr>
          <a:xfrm>
            <a:off x="660400" y="4228659"/>
            <a:ext cx="3125076" cy="215914"/>
          </a:xfrm>
          <a:prstGeom prst="rect">
            <a:avLst/>
          </a:prstGeom>
        </p:spPr>
        <p:txBody>
          <a:bodyPr wrap="square" lIns="0" tIns="0" rIns="0" bIns="0" rtlCol="0" anchor="t">
            <a:spAutoFit/>
          </a:bodyPr>
          <a:lstStyle/>
          <a:p>
            <a:pPr algn="ctr">
              <a:lnSpc>
                <a:spcPts val="1773"/>
              </a:lnSpc>
            </a:pPr>
            <a:r>
              <a:rPr lang="en-US" sz="1450" b="1" i="1" dirty="0">
                <a:solidFill>
                  <a:schemeClr val="bg1"/>
                </a:solidFill>
                <a:latin typeface="Arial" panose="020B0604020202020204" pitchFamily="34" charset="0"/>
                <a:ea typeface="Inter"/>
                <a:cs typeface="Arial" panose="020B0604020202020204" pitchFamily="34" charset="0"/>
                <a:sym typeface="Inter"/>
              </a:rPr>
              <a:t>125</a:t>
            </a:r>
            <a:endParaRPr lang="mn-MN" sz="1450" b="1" i="1" dirty="0">
              <a:solidFill>
                <a:schemeClr val="bg1"/>
              </a:solidFill>
              <a:latin typeface="Arial" panose="020B0604020202020204" pitchFamily="34" charset="0"/>
              <a:ea typeface="Inter"/>
              <a:cs typeface="Arial" panose="020B0604020202020204" pitchFamily="34" charset="0"/>
              <a:sym typeface="Inter"/>
            </a:endParaRPr>
          </a:p>
        </p:txBody>
      </p:sp>
      <p:sp>
        <p:nvSpPr>
          <p:cNvPr id="37" name="TextBox 24">
            <a:extLst>
              <a:ext uri="{FF2B5EF4-FFF2-40B4-BE49-F238E27FC236}">
                <a16:creationId xmlns:a16="http://schemas.microsoft.com/office/drawing/2014/main" id="{FD6EE719-8212-CBA3-E064-009D0DE8E2AD}"/>
              </a:ext>
            </a:extLst>
          </p:cNvPr>
          <p:cNvSpPr txBox="1"/>
          <p:nvPr/>
        </p:nvSpPr>
        <p:spPr>
          <a:xfrm>
            <a:off x="7137400" y="3807079"/>
            <a:ext cx="3125076" cy="215914"/>
          </a:xfrm>
          <a:prstGeom prst="rect">
            <a:avLst/>
          </a:prstGeom>
        </p:spPr>
        <p:txBody>
          <a:bodyPr wrap="square" lIns="0" tIns="0" rIns="0" bIns="0" rtlCol="0" anchor="t">
            <a:spAutoFit/>
          </a:bodyPr>
          <a:lstStyle/>
          <a:p>
            <a:pPr algn="ctr">
              <a:lnSpc>
                <a:spcPts val="1773"/>
              </a:lnSpc>
            </a:pPr>
            <a:r>
              <a:rPr lang="mn-MN" sz="1450" b="1" i="1" dirty="0">
                <a:solidFill>
                  <a:schemeClr val="bg1"/>
                </a:solidFill>
                <a:latin typeface="Arial" panose="020B0604020202020204" pitchFamily="34" charset="0"/>
                <a:ea typeface="Inter"/>
                <a:cs typeface="Arial" panose="020B0604020202020204" pitchFamily="34" charset="0"/>
                <a:sym typeface="Inter"/>
              </a:rPr>
              <a:t>Дундаж цалин</a:t>
            </a:r>
          </a:p>
        </p:txBody>
      </p:sp>
      <p:sp>
        <p:nvSpPr>
          <p:cNvPr id="38" name="TextBox 24">
            <a:extLst>
              <a:ext uri="{FF2B5EF4-FFF2-40B4-BE49-F238E27FC236}">
                <a16:creationId xmlns:a16="http://schemas.microsoft.com/office/drawing/2014/main" id="{646949AC-6AB2-122D-0F46-FF1B94181C0D}"/>
              </a:ext>
            </a:extLst>
          </p:cNvPr>
          <p:cNvSpPr txBox="1"/>
          <p:nvPr/>
        </p:nvSpPr>
        <p:spPr>
          <a:xfrm>
            <a:off x="7137400" y="4259990"/>
            <a:ext cx="3125076" cy="215914"/>
          </a:xfrm>
          <a:prstGeom prst="rect">
            <a:avLst/>
          </a:prstGeom>
        </p:spPr>
        <p:txBody>
          <a:bodyPr wrap="square" lIns="0" tIns="0" rIns="0" bIns="0" rtlCol="0" anchor="t">
            <a:spAutoFit/>
          </a:bodyPr>
          <a:lstStyle/>
          <a:p>
            <a:pPr algn="ctr">
              <a:lnSpc>
                <a:spcPts val="1773"/>
              </a:lnSpc>
            </a:pPr>
            <a:r>
              <a:rPr lang="mn-MN" sz="1450" b="1" i="1" dirty="0">
                <a:solidFill>
                  <a:schemeClr val="bg1"/>
                </a:solidFill>
                <a:latin typeface="Arial" panose="020B0604020202020204" pitchFamily="34" charset="0"/>
                <a:ea typeface="Inter"/>
                <a:cs typeface="Arial" panose="020B0604020202020204" pitchFamily="34" charset="0"/>
                <a:sym typeface="Inter"/>
              </a:rPr>
              <a:t>3.6 сая төгрөг</a:t>
            </a:r>
          </a:p>
        </p:txBody>
      </p:sp>
      <p:sp>
        <p:nvSpPr>
          <p:cNvPr id="42" name="Arrow: Curved Left 41">
            <a:extLst>
              <a:ext uri="{FF2B5EF4-FFF2-40B4-BE49-F238E27FC236}">
                <a16:creationId xmlns:a16="http://schemas.microsoft.com/office/drawing/2014/main" id="{5A02D24D-3183-084E-7944-0C04450C953F}"/>
              </a:ext>
            </a:extLst>
          </p:cNvPr>
          <p:cNvSpPr/>
          <p:nvPr/>
        </p:nvSpPr>
        <p:spPr>
          <a:xfrm>
            <a:off x="9601200" y="3898265"/>
            <a:ext cx="355600" cy="546308"/>
          </a:xfrm>
          <a:prstGeom prst="curvedLeftArrow">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Arrow: Curved Right 44">
            <a:extLst>
              <a:ext uri="{FF2B5EF4-FFF2-40B4-BE49-F238E27FC236}">
                <a16:creationId xmlns:a16="http://schemas.microsoft.com/office/drawing/2014/main" id="{90F8A9CD-3071-D1CE-AB4F-5B079FDAEA1D}"/>
              </a:ext>
            </a:extLst>
          </p:cNvPr>
          <p:cNvSpPr/>
          <p:nvPr/>
        </p:nvSpPr>
        <p:spPr>
          <a:xfrm>
            <a:off x="1306786" y="3898265"/>
            <a:ext cx="355600" cy="546308"/>
          </a:xfrm>
          <a:prstGeom prst="curvedRightArrow">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aphicFrame>
        <p:nvGraphicFramePr>
          <p:cNvPr id="4" name="Chart 3">
            <a:extLst>
              <a:ext uri="{FF2B5EF4-FFF2-40B4-BE49-F238E27FC236}">
                <a16:creationId xmlns:a16="http://schemas.microsoft.com/office/drawing/2014/main" id="{603174BB-BD7A-17CA-3B77-C7896E2D255F}"/>
              </a:ext>
            </a:extLst>
          </p:cNvPr>
          <p:cNvGraphicFramePr>
            <a:graphicFrameLocks/>
          </p:cNvGraphicFramePr>
          <p:nvPr>
            <p:extLst>
              <p:ext uri="{D42A27DB-BD31-4B8C-83A1-F6EECF244321}">
                <p14:modId xmlns:p14="http://schemas.microsoft.com/office/powerpoint/2010/main" val="2380839469"/>
              </p:ext>
            </p:extLst>
          </p:nvPr>
        </p:nvGraphicFramePr>
        <p:xfrm>
          <a:off x="6473931" y="1366667"/>
          <a:ext cx="5312427" cy="236666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23DAD268-05AA-4E7A-9018-A389E869E6A9}"/>
              </a:ext>
            </a:extLst>
          </p:cNvPr>
          <p:cNvGraphicFramePr>
            <a:graphicFrameLocks/>
          </p:cNvGraphicFramePr>
          <p:nvPr/>
        </p:nvGraphicFramePr>
        <p:xfrm>
          <a:off x="829823" y="4806191"/>
          <a:ext cx="5096753" cy="1823209"/>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cx1="http://schemas.microsoft.com/office/drawing/2015/9/8/chartex">
        <mc:Choice Requires="cx1">
          <p:graphicFrame>
            <p:nvGraphicFramePr>
              <p:cNvPr id="9" name="Chart 8">
                <a:extLst>
                  <a:ext uri="{FF2B5EF4-FFF2-40B4-BE49-F238E27FC236}">
                    <a16:creationId xmlns:a16="http://schemas.microsoft.com/office/drawing/2014/main" id="{3E5CEA8E-9158-40BA-B9AA-C05E7893DBFF}"/>
                  </a:ext>
                </a:extLst>
              </p:cNvPr>
              <p:cNvGraphicFramePr/>
              <p:nvPr/>
            </p:nvGraphicFramePr>
            <p:xfrm>
              <a:off x="6400800" y="4792327"/>
              <a:ext cx="5385558" cy="1743262"/>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9" name="Chart 8">
                <a:extLst>
                  <a:ext uri="{FF2B5EF4-FFF2-40B4-BE49-F238E27FC236}">
                    <a16:creationId xmlns:a16="http://schemas.microsoft.com/office/drawing/2014/main" id="{3E5CEA8E-9158-40BA-B9AA-C05E7893DBFF}"/>
                  </a:ext>
                </a:extLst>
              </p:cNvPr>
              <p:cNvPicPr>
                <a:picLocks noGrp="1" noRot="1" noChangeAspect="1" noMove="1" noResize="1" noEditPoints="1" noAdjustHandles="1" noChangeArrowheads="1" noChangeShapeType="1"/>
              </p:cNvPicPr>
              <p:nvPr/>
            </p:nvPicPr>
            <p:blipFill>
              <a:blip r:embed="rId7"/>
              <a:stretch>
                <a:fillRect/>
              </a:stretch>
            </p:blipFill>
            <p:spPr>
              <a:xfrm>
                <a:off x="6400800" y="4792327"/>
                <a:ext cx="5385558" cy="1743262"/>
              </a:xfrm>
              <a:prstGeom prst="rect">
                <a:avLst/>
              </a:prstGeom>
            </p:spPr>
          </p:pic>
        </mc:Fallback>
      </mc:AlternateContent>
      <p:pic>
        <p:nvPicPr>
          <p:cNvPr id="2" name="Picture 1">
            <a:extLst>
              <a:ext uri="{FF2B5EF4-FFF2-40B4-BE49-F238E27FC236}">
                <a16:creationId xmlns:a16="http://schemas.microsoft.com/office/drawing/2014/main" id="{1E9E31A8-78C0-4485-A80B-CEBDF44ED217}"/>
              </a:ext>
            </a:extLst>
          </p:cNvPr>
          <p:cNvPicPr>
            <a:picLocks noChangeAspect="1"/>
          </p:cNvPicPr>
          <p:nvPr/>
        </p:nvPicPr>
        <p:blipFill>
          <a:blip r:embed="rId8"/>
          <a:stretch>
            <a:fillRect/>
          </a:stretch>
        </p:blipFill>
        <p:spPr>
          <a:xfrm>
            <a:off x="-410669" y="4031645"/>
            <a:ext cx="3578662" cy="3243353"/>
          </a:xfrm>
          <a:prstGeom prst="rect">
            <a:avLst/>
          </a:prstGeom>
        </p:spPr>
      </p:pic>
      <p:pic>
        <p:nvPicPr>
          <p:cNvPr id="19" name="Picture 18">
            <a:extLst>
              <a:ext uri="{FF2B5EF4-FFF2-40B4-BE49-F238E27FC236}">
                <a16:creationId xmlns:a16="http://schemas.microsoft.com/office/drawing/2014/main" id="{51A42468-2344-4F33-AD69-9ED822E1A4BC}"/>
              </a:ext>
            </a:extLst>
          </p:cNvPr>
          <p:cNvPicPr/>
          <p:nvPr/>
        </p:nvPicPr>
        <p:blipFill>
          <a:blip r:embed="rId9">
            <a:extLst>
              <a:ext uri="{28A0092B-C50C-407E-A947-70E740481C1C}">
                <a14:useLocalDpi xmlns:a14="http://schemas.microsoft.com/office/drawing/2010/main" val="0"/>
              </a:ext>
            </a:extLst>
          </a:blip>
          <a:srcRect/>
          <a:stretch>
            <a:fillRect/>
          </a:stretch>
        </p:blipFill>
        <p:spPr bwMode="auto">
          <a:xfrm>
            <a:off x="381720" y="582197"/>
            <a:ext cx="7714493" cy="56798"/>
          </a:xfrm>
          <a:prstGeom prst="rect">
            <a:avLst/>
          </a:prstGeom>
          <a:noFill/>
          <a:ln>
            <a:noFill/>
          </a:ln>
        </p:spPr>
      </p:pic>
    </p:spTree>
    <p:extLst>
      <p:ext uri="{BB962C8B-B14F-4D97-AF65-F5344CB8AC3E}">
        <p14:creationId xmlns:p14="http://schemas.microsoft.com/office/powerpoint/2010/main" val="1330340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4B8C5-6A39-CD26-F044-1CC6CF2BBFA4}"/>
            </a:ext>
          </a:extLst>
        </p:cNvPr>
        <p:cNvGrpSpPr/>
        <p:nvPr/>
      </p:nvGrpSpPr>
      <p:grpSpPr>
        <a:xfrm>
          <a:off x="0" y="0"/>
          <a:ext cx="0" cy="0"/>
          <a:chOff x="0" y="0"/>
          <a:chExt cx="0" cy="0"/>
        </a:xfrm>
      </p:grpSpPr>
      <p:sp>
        <p:nvSpPr>
          <p:cNvPr id="6" name="Freeform 2">
            <a:extLst>
              <a:ext uri="{FF2B5EF4-FFF2-40B4-BE49-F238E27FC236}">
                <a16:creationId xmlns:a16="http://schemas.microsoft.com/office/drawing/2014/main" id="{1C6D229B-8A19-931B-FEFD-1BF0BA370E6E}"/>
              </a:ext>
            </a:extLst>
          </p:cNvPr>
          <p:cNvSpPr/>
          <p:nvPr/>
        </p:nvSpPr>
        <p:spPr>
          <a:xfrm>
            <a:off x="0" y="-188311"/>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rgbClr val="242223"/>
          </a:solidFill>
        </p:spPr>
        <p:txBody>
          <a:bodyPr/>
          <a:lstStyle/>
          <a:p>
            <a:endParaRPr lang="en-US" dirty="0">
              <a:solidFill>
                <a:schemeClr val="bg1"/>
              </a:solidFill>
            </a:endParaRPr>
          </a:p>
        </p:txBody>
      </p:sp>
      <p:sp>
        <p:nvSpPr>
          <p:cNvPr id="7" name="TextBox 10">
            <a:extLst>
              <a:ext uri="{FF2B5EF4-FFF2-40B4-BE49-F238E27FC236}">
                <a16:creationId xmlns:a16="http://schemas.microsoft.com/office/drawing/2014/main" id="{132CC206-602F-D68D-B21C-B2DFD11364A2}"/>
              </a:ext>
            </a:extLst>
          </p:cNvPr>
          <p:cNvSpPr txBox="1"/>
          <p:nvPr/>
        </p:nvSpPr>
        <p:spPr>
          <a:xfrm>
            <a:off x="333456" y="2999"/>
            <a:ext cx="8890001" cy="539507"/>
          </a:xfrm>
          <a:prstGeom prst="rect">
            <a:avLst/>
          </a:prstGeom>
        </p:spPr>
        <p:txBody>
          <a:bodyPr wrap="square" lIns="0" tIns="0" rIns="0" bIns="0" rtlCol="0" anchor="t">
            <a:spAutoFit/>
          </a:bodyPr>
          <a:lstStyle/>
          <a:p>
            <a:pPr algn="l">
              <a:lnSpc>
                <a:spcPts val="4767"/>
              </a:lnSpc>
            </a:pPr>
            <a:r>
              <a:rPr lang="mn-MN" sz="2650" b="1" dirty="0">
                <a:solidFill>
                  <a:schemeClr val="bg1"/>
                </a:solidFill>
                <a:latin typeface="Arial" panose="020B0604020202020204" pitchFamily="34" charset="0"/>
                <a:ea typeface="Inter Bold"/>
                <a:cs typeface="Arial" panose="020B0604020202020204" pitchFamily="34" charset="0"/>
                <a:sym typeface="Inter Bold"/>
              </a:rPr>
              <a:t>Үйл ажиллагааны зардал</a:t>
            </a:r>
            <a:endParaRPr lang="en-US" sz="2650" b="1" dirty="0">
              <a:solidFill>
                <a:schemeClr val="bg1"/>
              </a:solidFill>
              <a:latin typeface="Arial" panose="020B0604020202020204" pitchFamily="34" charset="0"/>
              <a:ea typeface="Inter Bold"/>
              <a:cs typeface="Arial" panose="020B0604020202020204" pitchFamily="34" charset="0"/>
              <a:sym typeface="Inter Bold"/>
            </a:endParaRPr>
          </a:p>
        </p:txBody>
      </p:sp>
      <p:sp>
        <p:nvSpPr>
          <p:cNvPr id="9" name="TextBox 24">
            <a:extLst>
              <a:ext uri="{FF2B5EF4-FFF2-40B4-BE49-F238E27FC236}">
                <a16:creationId xmlns:a16="http://schemas.microsoft.com/office/drawing/2014/main" id="{3E93B070-6D96-816F-F622-4574179F1C3D}"/>
              </a:ext>
            </a:extLst>
          </p:cNvPr>
          <p:cNvSpPr txBox="1"/>
          <p:nvPr/>
        </p:nvSpPr>
        <p:spPr>
          <a:xfrm>
            <a:off x="3273975" y="3024775"/>
            <a:ext cx="3125076" cy="215914"/>
          </a:xfrm>
          <a:prstGeom prst="rect">
            <a:avLst/>
          </a:prstGeom>
        </p:spPr>
        <p:txBody>
          <a:bodyPr wrap="square" lIns="0" tIns="0" rIns="0" bIns="0" rtlCol="0" anchor="t">
            <a:spAutoFit/>
          </a:bodyPr>
          <a:lstStyle/>
          <a:p>
            <a:pPr algn="ctr">
              <a:lnSpc>
                <a:spcPts val="1773"/>
              </a:lnSpc>
            </a:pPr>
            <a:r>
              <a:rPr lang="mn-MN" sz="1450" i="1" dirty="0">
                <a:solidFill>
                  <a:schemeClr val="bg1"/>
                </a:solidFill>
                <a:latin typeface="Arial" panose="020B0604020202020204" pitchFamily="34" charset="0"/>
                <a:ea typeface="Inter"/>
                <a:cs typeface="Arial" panose="020B0604020202020204" pitchFamily="34" charset="0"/>
                <a:sym typeface="Inter"/>
              </a:rPr>
              <a:t>34.6 сая төгрөг</a:t>
            </a:r>
          </a:p>
        </p:txBody>
      </p:sp>
      <p:grpSp>
        <p:nvGrpSpPr>
          <p:cNvPr id="3" name="Group 2">
            <a:extLst>
              <a:ext uri="{FF2B5EF4-FFF2-40B4-BE49-F238E27FC236}">
                <a16:creationId xmlns:a16="http://schemas.microsoft.com/office/drawing/2014/main" id="{28D6475F-9751-62A7-82E6-6AE6F62FBC1D}"/>
              </a:ext>
            </a:extLst>
          </p:cNvPr>
          <p:cNvGrpSpPr/>
          <p:nvPr/>
        </p:nvGrpSpPr>
        <p:grpSpPr>
          <a:xfrm>
            <a:off x="3507758" y="983962"/>
            <a:ext cx="8557707" cy="3291170"/>
            <a:chOff x="5261637" y="1475943"/>
            <a:chExt cx="12836561" cy="4936755"/>
          </a:xfrm>
        </p:grpSpPr>
        <p:sp>
          <p:nvSpPr>
            <p:cNvPr id="10" name="TextBox 24">
              <a:extLst>
                <a:ext uri="{FF2B5EF4-FFF2-40B4-BE49-F238E27FC236}">
                  <a16:creationId xmlns:a16="http://schemas.microsoft.com/office/drawing/2014/main" id="{9D9A680C-4CC5-FA93-CEC0-8DAE5364FFF3}"/>
                </a:ext>
              </a:extLst>
            </p:cNvPr>
            <p:cNvSpPr txBox="1"/>
            <p:nvPr/>
          </p:nvSpPr>
          <p:spPr>
            <a:xfrm>
              <a:off x="7270063" y="1485900"/>
              <a:ext cx="4687614" cy="346249"/>
            </a:xfrm>
            <a:prstGeom prst="rect">
              <a:avLst/>
            </a:prstGeom>
          </p:spPr>
          <p:txBody>
            <a:bodyPr wrap="square" lIns="0" tIns="0" rIns="0" bIns="0" rtlCol="0" anchor="t">
              <a:spAutoFit/>
            </a:bodyPr>
            <a:lstStyle/>
            <a:p>
              <a:pPr algn="ctr">
                <a:lnSpc>
                  <a:spcPts val="1773"/>
                </a:lnSpc>
              </a:pPr>
              <a:r>
                <a:rPr lang="mn-MN" sz="1800" b="1" dirty="0">
                  <a:solidFill>
                    <a:schemeClr val="bg1"/>
                  </a:solidFill>
                  <a:latin typeface="Arial" panose="020B0604020202020204" pitchFamily="34" charset="0"/>
                  <a:ea typeface="Inter"/>
                  <a:cs typeface="Arial" panose="020B0604020202020204" pitchFamily="34" charset="0"/>
                  <a:sym typeface="Inter"/>
                </a:rPr>
                <a:t>Үйл ажиллагааны зардал</a:t>
              </a:r>
            </a:p>
          </p:txBody>
        </p:sp>
        <p:sp>
          <p:nvSpPr>
            <p:cNvPr id="14" name="TextBox 24">
              <a:extLst>
                <a:ext uri="{FF2B5EF4-FFF2-40B4-BE49-F238E27FC236}">
                  <a16:creationId xmlns:a16="http://schemas.microsoft.com/office/drawing/2014/main" id="{2E027704-BCB5-5D99-76DF-B8FB768F44BC}"/>
                </a:ext>
              </a:extLst>
            </p:cNvPr>
            <p:cNvSpPr txBox="1"/>
            <p:nvPr/>
          </p:nvSpPr>
          <p:spPr>
            <a:xfrm>
              <a:off x="12223528" y="1510605"/>
              <a:ext cx="3900000" cy="346249"/>
            </a:xfrm>
            <a:prstGeom prst="rect">
              <a:avLst/>
            </a:prstGeom>
          </p:spPr>
          <p:txBody>
            <a:bodyPr wrap="square" lIns="0" tIns="0" rIns="0" bIns="0" rtlCol="0" anchor="t">
              <a:spAutoFit/>
            </a:bodyPr>
            <a:lstStyle/>
            <a:p>
              <a:pPr algn="ctr">
                <a:lnSpc>
                  <a:spcPts val="1773"/>
                </a:lnSpc>
              </a:pPr>
              <a:r>
                <a:rPr lang="en-US" sz="1800" b="1" dirty="0">
                  <a:solidFill>
                    <a:schemeClr val="bg1"/>
                  </a:solidFill>
                  <a:latin typeface="Arial" panose="020B0604020202020204" pitchFamily="34" charset="0"/>
                  <a:ea typeface="Inter"/>
                  <a:cs typeface="Arial" panose="020B0604020202020204" pitchFamily="34" charset="0"/>
                  <a:sym typeface="Inter"/>
                </a:rPr>
                <a:t>87.3 тэрбум төгрөг</a:t>
              </a:r>
            </a:p>
          </p:txBody>
        </p:sp>
        <p:sp>
          <p:nvSpPr>
            <p:cNvPr id="34" name="Equals 33">
              <a:extLst>
                <a:ext uri="{FF2B5EF4-FFF2-40B4-BE49-F238E27FC236}">
                  <a16:creationId xmlns:a16="http://schemas.microsoft.com/office/drawing/2014/main" id="{44F7708A-446F-7765-CE04-332799F0969A}"/>
                </a:ext>
              </a:extLst>
            </p:cNvPr>
            <p:cNvSpPr/>
            <p:nvPr/>
          </p:nvSpPr>
          <p:spPr>
            <a:xfrm>
              <a:off x="11946791" y="1475943"/>
              <a:ext cx="533400" cy="360553"/>
            </a:xfrm>
            <a:prstGeom prst="mathEqual">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24">
              <a:extLst>
                <a:ext uri="{FF2B5EF4-FFF2-40B4-BE49-F238E27FC236}">
                  <a16:creationId xmlns:a16="http://schemas.microsoft.com/office/drawing/2014/main" id="{F62CCDE3-E91A-D32C-7F51-054454A3F603}"/>
                </a:ext>
              </a:extLst>
            </p:cNvPr>
            <p:cNvSpPr txBox="1"/>
            <p:nvPr/>
          </p:nvSpPr>
          <p:spPr>
            <a:xfrm>
              <a:off x="5261637" y="2939389"/>
              <a:ext cx="4200000" cy="670120"/>
            </a:xfrm>
            <a:prstGeom prst="rect">
              <a:avLst/>
            </a:prstGeom>
          </p:spPr>
          <p:txBody>
            <a:bodyPr wrap="square" lIns="0" tIns="0" rIns="0" bIns="0" rtlCol="0" anchor="t">
              <a:spAutoFit/>
            </a:bodyPr>
            <a:lstStyle/>
            <a:p>
              <a:pPr algn="ctr">
                <a:lnSpc>
                  <a:spcPts val="1773"/>
                </a:lnSpc>
              </a:pPr>
              <a:r>
                <a:rPr lang="mn-MN" sz="1450" b="1" i="1" dirty="0">
                  <a:solidFill>
                    <a:schemeClr val="bg1"/>
                  </a:solidFill>
                  <a:latin typeface="Arial" panose="020B0604020202020204" pitchFamily="34" charset="0"/>
                  <a:ea typeface="Inter"/>
                  <a:cs typeface="Arial" panose="020B0604020202020204" pitchFamily="34" charset="0"/>
                  <a:sym typeface="Inter"/>
                </a:rPr>
                <a:t>1 тн цагаан тугалганы баяжмалын өртөг</a:t>
              </a:r>
            </a:p>
          </p:txBody>
        </p:sp>
        <p:cxnSp>
          <p:nvCxnSpPr>
            <p:cNvPr id="13" name="Connector: Elbow 12">
              <a:extLst>
                <a:ext uri="{FF2B5EF4-FFF2-40B4-BE49-F238E27FC236}">
                  <a16:creationId xmlns:a16="http://schemas.microsoft.com/office/drawing/2014/main" id="{362C18E0-A4DD-8210-324F-516637B9E4D0}"/>
                </a:ext>
              </a:extLst>
            </p:cNvPr>
            <p:cNvCxnSpPr>
              <a:cxnSpLocks/>
            </p:cNvCxnSpPr>
            <p:nvPr/>
          </p:nvCxnSpPr>
          <p:spPr>
            <a:xfrm rot="5400000">
              <a:off x="7029605" y="3916670"/>
              <a:ext cx="704228" cy="253899"/>
            </a:xfrm>
            <a:prstGeom prst="bentConnector3">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24">
              <a:extLst>
                <a:ext uri="{FF2B5EF4-FFF2-40B4-BE49-F238E27FC236}">
                  <a16:creationId xmlns:a16="http://schemas.microsoft.com/office/drawing/2014/main" id="{0B5E9888-3B03-E56A-B1B0-669C4815DA99}"/>
                </a:ext>
              </a:extLst>
            </p:cNvPr>
            <p:cNvSpPr txBox="1"/>
            <p:nvPr/>
          </p:nvSpPr>
          <p:spPr>
            <a:xfrm>
              <a:off x="10640537" y="2954122"/>
              <a:ext cx="4200000" cy="670120"/>
            </a:xfrm>
            <a:prstGeom prst="rect">
              <a:avLst/>
            </a:prstGeom>
          </p:spPr>
          <p:txBody>
            <a:bodyPr wrap="square" lIns="0" tIns="0" rIns="0" bIns="0" rtlCol="0" anchor="t">
              <a:spAutoFit/>
            </a:bodyPr>
            <a:lstStyle/>
            <a:p>
              <a:pPr algn="ctr">
                <a:lnSpc>
                  <a:spcPts val="1773"/>
                </a:lnSpc>
              </a:pPr>
              <a:r>
                <a:rPr lang="mn-MN" sz="1450" b="1" i="1" dirty="0">
                  <a:solidFill>
                    <a:schemeClr val="bg1"/>
                  </a:solidFill>
                  <a:latin typeface="Arial" panose="020B0604020202020204" pitchFamily="34" charset="0"/>
                  <a:ea typeface="Inter"/>
                  <a:cs typeface="Arial" panose="020B0604020202020204" pitchFamily="34" charset="0"/>
                  <a:sym typeface="Inter"/>
                </a:rPr>
                <a:t>1 тн гянтболдын баяжмалын өртөг</a:t>
              </a:r>
            </a:p>
          </p:txBody>
        </p:sp>
        <p:sp>
          <p:nvSpPr>
            <p:cNvPr id="17" name="TextBox 24">
              <a:extLst>
                <a:ext uri="{FF2B5EF4-FFF2-40B4-BE49-F238E27FC236}">
                  <a16:creationId xmlns:a16="http://schemas.microsoft.com/office/drawing/2014/main" id="{250BA5E1-B4E3-392A-831D-4D8A3B96656E}"/>
                </a:ext>
              </a:extLst>
            </p:cNvPr>
            <p:cNvSpPr txBox="1"/>
            <p:nvPr/>
          </p:nvSpPr>
          <p:spPr>
            <a:xfrm>
              <a:off x="9773952" y="5283755"/>
              <a:ext cx="3098288" cy="669512"/>
            </a:xfrm>
            <a:prstGeom prst="rect">
              <a:avLst/>
            </a:prstGeom>
          </p:spPr>
          <p:txBody>
            <a:bodyPr wrap="square" lIns="0" tIns="0" rIns="0" bIns="0" rtlCol="0" anchor="t">
              <a:spAutoFit/>
            </a:bodyPr>
            <a:lstStyle/>
            <a:p>
              <a:pPr algn="ctr">
                <a:lnSpc>
                  <a:spcPts val="1773"/>
                </a:lnSpc>
              </a:pPr>
              <a:endParaRPr lang="en-US" sz="1450" b="1" i="1" dirty="0">
                <a:solidFill>
                  <a:schemeClr val="bg1"/>
                </a:solidFill>
                <a:latin typeface="Arial" panose="020B0604020202020204" pitchFamily="34" charset="0"/>
                <a:ea typeface="Inter"/>
                <a:cs typeface="Arial" panose="020B0604020202020204" pitchFamily="34" charset="0"/>
                <a:sym typeface="Inter"/>
              </a:endParaRPr>
            </a:p>
            <a:p>
              <a:pPr algn="ctr">
                <a:lnSpc>
                  <a:spcPts val="1773"/>
                </a:lnSpc>
              </a:pPr>
              <a:endParaRPr lang="mn-MN" sz="1450" b="1" i="1" dirty="0">
                <a:solidFill>
                  <a:schemeClr val="bg1"/>
                </a:solidFill>
                <a:latin typeface="Arial" panose="020B0604020202020204" pitchFamily="34" charset="0"/>
                <a:ea typeface="Inter"/>
                <a:cs typeface="Arial" panose="020B0604020202020204" pitchFamily="34" charset="0"/>
                <a:sym typeface="Inter"/>
              </a:endParaRPr>
            </a:p>
          </p:txBody>
        </p:sp>
        <p:sp>
          <p:nvSpPr>
            <p:cNvPr id="18" name="TextBox 24">
              <a:extLst>
                <a:ext uri="{FF2B5EF4-FFF2-40B4-BE49-F238E27FC236}">
                  <a16:creationId xmlns:a16="http://schemas.microsoft.com/office/drawing/2014/main" id="{F7DF33AB-8E96-9281-BD75-3173DCAEFCBB}"/>
                </a:ext>
              </a:extLst>
            </p:cNvPr>
            <p:cNvSpPr txBox="1"/>
            <p:nvPr/>
          </p:nvSpPr>
          <p:spPr>
            <a:xfrm>
              <a:off x="13965147" y="4457286"/>
              <a:ext cx="2590800" cy="323262"/>
            </a:xfrm>
            <a:prstGeom prst="rect">
              <a:avLst/>
            </a:prstGeom>
          </p:spPr>
          <p:txBody>
            <a:bodyPr wrap="square" lIns="0" tIns="0" rIns="0" bIns="0" rtlCol="0" anchor="t">
              <a:spAutoFit/>
            </a:bodyPr>
            <a:lstStyle/>
            <a:p>
              <a:pPr algn="ctr">
                <a:lnSpc>
                  <a:spcPts val="1773"/>
                </a:lnSpc>
              </a:pPr>
              <a:endParaRPr lang="mn-MN" sz="1450" b="1" i="1" dirty="0">
                <a:solidFill>
                  <a:schemeClr val="bg1"/>
                </a:solidFill>
                <a:latin typeface="Arial" panose="020B0604020202020204" pitchFamily="34" charset="0"/>
                <a:ea typeface="Inter"/>
                <a:cs typeface="Arial" panose="020B0604020202020204" pitchFamily="34" charset="0"/>
                <a:sym typeface="Inter"/>
              </a:endParaRPr>
            </a:p>
          </p:txBody>
        </p:sp>
        <p:cxnSp>
          <p:nvCxnSpPr>
            <p:cNvPr id="19" name="Connector: Elbow 18">
              <a:extLst>
                <a:ext uri="{FF2B5EF4-FFF2-40B4-BE49-F238E27FC236}">
                  <a16:creationId xmlns:a16="http://schemas.microsoft.com/office/drawing/2014/main" id="{0A013300-EADD-CCC4-64F0-5DBABFC31178}"/>
                </a:ext>
              </a:extLst>
            </p:cNvPr>
            <p:cNvCxnSpPr>
              <a:cxnSpLocks/>
            </p:cNvCxnSpPr>
            <p:nvPr/>
          </p:nvCxnSpPr>
          <p:spPr>
            <a:xfrm flipV="1">
              <a:off x="14223090" y="2941377"/>
              <a:ext cx="845627" cy="382357"/>
            </a:xfrm>
            <a:prstGeom prst="bentConnector3">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4">
              <a:extLst>
                <a:ext uri="{FF2B5EF4-FFF2-40B4-BE49-F238E27FC236}">
                  <a16:creationId xmlns:a16="http://schemas.microsoft.com/office/drawing/2014/main" id="{7E955FA2-6D77-EBE3-FAE5-4AA169E49A52}"/>
                </a:ext>
              </a:extLst>
            </p:cNvPr>
            <p:cNvSpPr txBox="1"/>
            <p:nvPr/>
          </p:nvSpPr>
          <p:spPr>
            <a:xfrm>
              <a:off x="14345431" y="6088827"/>
              <a:ext cx="3300000" cy="323871"/>
            </a:xfrm>
            <a:prstGeom prst="rect">
              <a:avLst/>
            </a:prstGeom>
          </p:spPr>
          <p:txBody>
            <a:bodyPr wrap="square" lIns="0" tIns="0" rIns="0" bIns="0" rtlCol="0" anchor="t">
              <a:spAutoFit/>
            </a:bodyPr>
            <a:lstStyle/>
            <a:p>
              <a:pPr algn="ctr">
                <a:lnSpc>
                  <a:spcPts val="1773"/>
                </a:lnSpc>
              </a:pPr>
              <a:endParaRPr lang="mn-MN" sz="1450" i="1" dirty="0">
                <a:solidFill>
                  <a:schemeClr val="bg1"/>
                </a:solidFill>
                <a:latin typeface="Arial" panose="020B0604020202020204" pitchFamily="34" charset="0"/>
                <a:ea typeface="Inter"/>
                <a:cs typeface="Arial" panose="020B0604020202020204" pitchFamily="34" charset="0"/>
                <a:sym typeface="Inter"/>
              </a:endParaRPr>
            </a:p>
          </p:txBody>
        </p:sp>
        <p:sp>
          <p:nvSpPr>
            <p:cNvPr id="26" name="TextBox 24">
              <a:extLst>
                <a:ext uri="{FF2B5EF4-FFF2-40B4-BE49-F238E27FC236}">
                  <a16:creationId xmlns:a16="http://schemas.microsoft.com/office/drawing/2014/main" id="{770F396C-69D7-13D5-CFEF-77800803BA1D}"/>
                </a:ext>
              </a:extLst>
            </p:cNvPr>
            <p:cNvSpPr txBox="1"/>
            <p:nvPr/>
          </p:nvSpPr>
          <p:spPr>
            <a:xfrm>
              <a:off x="14798198" y="2808685"/>
              <a:ext cx="3300000" cy="323871"/>
            </a:xfrm>
            <a:prstGeom prst="rect">
              <a:avLst/>
            </a:prstGeom>
          </p:spPr>
          <p:txBody>
            <a:bodyPr wrap="square" lIns="0" tIns="0" rIns="0" bIns="0" rtlCol="0" anchor="t">
              <a:spAutoFit/>
            </a:bodyPr>
            <a:lstStyle/>
            <a:p>
              <a:pPr algn="ctr">
                <a:lnSpc>
                  <a:spcPts val="1773"/>
                </a:lnSpc>
              </a:pPr>
              <a:r>
                <a:rPr lang="mn-MN" sz="1450" i="1" dirty="0">
                  <a:solidFill>
                    <a:schemeClr val="bg1"/>
                  </a:solidFill>
                  <a:latin typeface="Arial" panose="020B0604020202020204" pitchFamily="34" charset="0"/>
                  <a:ea typeface="Inter"/>
                  <a:cs typeface="Arial" panose="020B0604020202020204" pitchFamily="34" charset="0"/>
                  <a:sym typeface="Inter"/>
                </a:rPr>
                <a:t>12.9 сая төгрөг</a:t>
              </a:r>
            </a:p>
          </p:txBody>
        </p:sp>
      </p:grpSp>
      <p:sp>
        <p:nvSpPr>
          <p:cNvPr id="31" name="TextBox 24">
            <a:extLst>
              <a:ext uri="{FF2B5EF4-FFF2-40B4-BE49-F238E27FC236}">
                <a16:creationId xmlns:a16="http://schemas.microsoft.com/office/drawing/2014/main" id="{FC1B0CBD-EC8A-CF56-CB84-04519F40ED32}"/>
              </a:ext>
            </a:extLst>
          </p:cNvPr>
          <p:cNvSpPr txBox="1"/>
          <p:nvPr/>
        </p:nvSpPr>
        <p:spPr>
          <a:xfrm>
            <a:off x="333456" y="734499"/>
            <a:ext cx="3792190" cy="202321"/>
          </a:xfrm>
          <a:prstGeom prst="rect">
            <a:avLst/>
          </a:prstGeom>
        </p:spPr>
        <p:txBody>
          <a:bodyPr wrap="square" lIns="0" tIns="0" rIns="0" bIns="0" rtlCol="0" anchor="t">
            <a:spAutoFit/>
          </a:bodyPr>
          <a:lstStyle/>
          <a:p>
            <a:pPr algn="ctr">
              <a:lnSpc>
                <a:spcPts val="1773"/>
              </a:lnSpc>
            </a:pPr>
            <a:r>
              <a:rPr lang="mn-MN" sz="1050" b="1" dirty="0">
                <a:solidFill>
                  <a:schemeClr val="bg1"/>
                </a:solidFill>
                <a:latin typeface="Arial" panose="020B0604020202020204" pitchFamily="34" charset="0"/>
                <a:ea typeface="Inter"/>
                <a:cs typeface="Arial" panose="020B0604020202020204" pitchFamily="34" charset="0"/>
                <a:sym typeface="Inter"/>
              </a:rPr>
              <a:t>Үйл ажиллагааны зардал, төрлөөр</a:t>
            </a:r>
          </a:p>
        </p:txBody>
      </p:sp>
      <p:graphicFrame>
        <p:nvGraphicFramePr>
          <p:cNvPr id="4" name="Chart 3">
            <a:extLst>
              <a:ext uri="{FF2B5EF4-FFF2-40B4-BE49-F238E27FC236}">
                <a16:creationId xmlns:a16="http://schemas.microsoft.com/office/drawing/2014/main" id="{814CB58E-AE70-78FD-216D-122195BEC919}"/>
              </a:ext>
            </a:extLst>
          </p:cNvPr>
          <p:cNvGraphicFramePr>
            <a:graphicFrameLocks/>
          </p:cNvGraphicFramePr>
          <p:nvPr/>
        </p:nvGraphicFramePr>
        <p:xfrm>
          <a:off x="254000" y="936820"/>
          <a:ext cx="4115305" cy="5690283"/>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cx1="http://schemas.microsoft.com/office/drawing/2015/9/8/chartex">
        <mc:Choice Requires="cx1">
          <p:graphicFrame>
            <p:nvGraphicFramePr>
              <p:cNvPr id="11" name="Chart 10">
                <a:extLst>
                  <a:ext uri="{FF2B5EF4-FFF2-40B4-BE49-F238E27FC236}">
                    <a16:creationId xmlns:a16="http://schemas.microsoft.com/office/drawing/2014/main" id="{357D19E9-EB59-2276-0F20-3987B4FECE32}"/>
                  </a:ext>
                </a:extLst>
              </p:cNvPr>
              <p:cNvGraphicFramePr/>
              <p:nvPr/>
            </p:nvGraphicFramePr>
            <p:xfrm>
              <a:off x="4789966" y="4494294"/>
              <a:ext cx="6890567" cy="2132809"/>
            </p:xfrm>
            <a:graphic>
              <a:graphicData uri="http://schemas.microsoft.com/office/drawing/2014/chartex">
                <cx:chart xmlns:cx="http://schemas.microsoft.com/office/drawing/2014/chartex" xmlns:r="http://schemas.openxmlformats.org/officeDocument/2006/relationships" r:id="rId4"/>
              </a:graphicData>
            </a:graphic>
          </p:graphicFrame>
        </mc:Choice>
        <mc:Fallback xmlns="">
          <p:pic>
            <p:nvPicPr>
              <p:cNvPr id="11" name="Chart 10">
                <a:extLst>
                  <a:ext uri="{FF2B5EF4-FFF2-40B4-BE49-F238E27FC236}">
                    <a16:creationId xmlns:a16="http://schemas.microsoft.com/office/drawing/2014/main" id="{357D19E9-EB59-2276-0F20-3987B4FECE32}"/>
                  </a:ext>
                </a:extLst>
              </p:cNvPr>
              <p:cNvPicPr>
                <a:picLocks noGrp="1" noRot="1" noChangeAspect="1" noMove="1" noResize="1" noEditPoints="1" noAdjustHandles="1" noChangeArrowheads="1" noChangeShapeType="1"/>
              </p:cNvPicPr>
              <p:nvPr/>
            </p:nvPicPr>
            <p:blipFill>
              <a:blip r:embed="rId6"/>
              <a:stretch>
                <a:fillRect/>
              </a:stretch>
            </p:blipFill>
            <p:spPr>
              <a:xfrm>
                <a:off x="4789966" y="4494294"/>
                <a:ext cx="6890567" cy="2132809"/>
              </a:xfrm>
              <a:prstGeom prst="rect">
                <a:avLst/>
              </a:prstGeom>
            </p:spPr>
          </p:pic>
        </mc:Fallback>
      </mc:AlternateContent>
      <p:pic>
        <p:nvPicPr>
          <p:cNvPr id="27" name="Picture 26">
            <a:extLst>
              <a:ext uri="{FF2B5EF4-FFF2-40B4-BE49-F238E27FC236}">
                <a16:creationId xmlns:a16="http://schemas.microsoft.com/office/drawing/2014/main" id="{6CD7AC1F-B19E-40FE-B3A2-987E1A3D859B}"/>
              </a:ext>
            </a:extLst>
          </p:cNvPr>
          <p:cNvPicPr/>
          <p:nvPr/>
        </p:nvPicPr>
        <p:blipFill>
          <a:blip r:embed="rId7">
            <a:extLst>
              <a:ext uri="{28A0092B-C50C-407E-A947-70E740481C1C}">
                <a14:useLocalDpi xmlns:a14="http://schemas.microsoft.com/office/drawing/2010/main" val="0"/>
              </a:ext>
            </a:extLst>
          </a:blip>
          <a:srcRect/>
          <a:stretch>
            <a:fillRect/>
          </a:stretch>
        </p:blipFill>
        <p:spPr bwMode="auto">
          <a:xfrm>
            <a:off x="333456" y="559155"/>
            <a:ext cx="7714493" cy="56798"/>
          </a:xfrm>
          <a:prstGeom prst="rect">
            <a:avLst/>
          </a:prstGeom>
          <a:noFill/>
          <a:ln>
            <a:noFill/>
          </a:ln>
        </p:spPr>
      </p:pic>
      <p:graphicFrame>
        <p:nvGraphicFramePr>
          <p:cNvPr id="28" name="Table 27">
            <a:extLst>
              <a:ext uri="{FF2B5EF4-FFF2-40B4-BE49-F238E27FC236}">
                <a16:creationId xmlns:a16="http://schemas.microsoft.com/office/drawing/2014/main" id="{ADB685A0-E7BF-491D-84D8-115650F54B1E}"/>
              </a:ext>
            </a:extLst>
          </p:cNvPr>
          <p:cNvGraphicFramePr>
            <a:graphicFrameLocks noGrp="1"/>
          </p:cNvGraphicFramePr>
          <p:nvPr>
            <p:extLst>
              <p:ext uri="{D42A27DB-BD31-4B8C-83A1-F6EECF244321}">
                <p14:modId xmlns:p14="http://schemas.microsoft.com/office/powerpoint/2010/main" val="1716280635"/>
              </p:ext>
            </p:extLst>
          </p:nvPr>
        </p:nvGraphicFramePr>
        <p:xfrm>
          <a:off x="6096001" y="3319825"/>
          <a:ext cx="4693906" cy="567690"/>
        </p:xfrm>
        <a:graphic>
          <a:graphicData uri="http://schemas.openxmlformats.org/drawingml/2006/table">
            <a:tbl>
              <a:tblPr/>
              <a:tblGrid>
                <a:gridCol w="1417102">
                  <a:extLst>
                    <a:ext uri="{9D8B030D-6E8A-4147-A177-3AD203B41FA5}">
                      <a16:colId xmlns:a16="http://schemas.microsoft.com/office/drawing/2014/main" val="1409624541"/>
                    </a:ext>
                  </a:extLst>
                </a:gridCol>
                <a:gridCol w="1581398">
                  <a:extLst>
                    <a:ext uri="{9D8B030D-6E8A-4147-A177-3AD203B41FA5}">
                      <a16:colId xmlns:a16="http://schemas.microsoft.com/office/drawing/2014/main" val="2195566499"/>
                    </a:ext>
                  </a:extLst>
                </a:gridCol>
                <a:gridCol w="1695406">
                  <a:extLst>
                    <a:ext uri="{9D8B030D-6E8A-4147-A177-3AD203B41FA5}">
                      <a16:colId xmlns:a16="http://schemas.microsoft.com/office/drawing/2014/main" val="2477778988"/>
                    </a:ext>
                  </a:extLst>
                </a:gridCol>
              </a:tblGrid>
              <a:tr h="223762">
                <a:tc>
                  <a:txBody>
                    <a:bodyPr/>
                    <a:lstStyle/>
                    <a:p>
                      <a:pPr algn="ctr" fontAlgn="ctr"/>
                      <a:r>
                        <a:rPr lang="mn-MN" sz="900" b="1" i="0" u="none" strike="noStrike" dirty="0">
                          <a:solidFill>
                            <a:srgbClr val="000000"/>
                          </a:solidFill>
                          <a:effectLst/>
                          <a:latin typeface="Arial" panose="020B0604020202020204" pitchFamily="34" charset="0"/>
                        </a:rPr>
                        <a:t>1м3 уулын цул олборлох өртөг, төгрөг</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mn-MN" sz="900" b="1" i="0" u="none" strike="noStrike" dirty="0">
                          <a:solidFill>
                            <a:srgbClr val="000000"/>
                          </a:solidFill>
                          <a:effectLst/>
                          <a:latin typeface="Arial" panose="020B0604020202020204" pitchFamily="34" charset="0"/>
                        </a:rPr>
                        <a:t>1м3 хөрс хуулах өртөг, төгрөг</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mn-MN" sz="900" b="1" i="0" u="none" strike="noStrike" dirty="0">
                          <a:solidFill>
                            <a:srgbClr val="000000"/>
                          </a:solidFill>
                          <a:effectLst/>
                          <a:latin typeface="Arial" panose="020B0604020202020204" pitchFamily="34" charset="0"/>
                        </a:rPr>
                        <a:t>1м3 элс олборлох өртөг, төгрөг</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661421659"/>
                  </a:ext>
                </a:extLst>
              </a:tr>
              <a:tr h="222552">
                <a:tc>
                  <a:txBody>
                    <a:bodyPr/>
                    <a:lstStyle/>
                    <a:p>
                      <a:pPr algn="ctr" fontAlgn="ctr"/>
                      <a:r>
                        <a:rPr lang="en-US" sz="900" b="1" i="0" u="none" strike="noStrike" dirty="0">
                          <a:solidFill>
                            <a:schemeClr val="bg1"/>
                          </a:solidFill>
                          <a:effectLst/>
                          <a:latin typeface="Arial" panose="020B0604020202020204" pitchFamily="34" charset="0"/>
                        </a:rPr>
                        <a:t>                                        9,900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900" b="1" i="0" u="none" strike="noStrike" dirty="0">
                          <a:solidFill>
                            <a:schemeClr val="bg1"/>
                          </a:solidFill>
                          <a:effectLst/>
                          <a:latin typeface="Arial" panose="020B0604020202020204" pitchFamily="34" charset="0"/>
                        </a:rPr>
                        <a:t>                                         20,000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900" b="1" i="0" u="none" strike="noStrike" dirty="0">
                          <a:solidFill>
                            <a:schemeClr val="bg1"/>
                          </a:solidFill>
                          <a:effectLst/>
                          <a:latin typeface="Arial" panose="020B0604020202020204" pitchFamily="34" charset="0"/>
                        </a:rPr>
                        <a:t>                                           19,600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54354032"/>
                  </a:ext>
                </a:extLst>
              </a:tr>
            </a:tbl>
          </a:graphicData>
        </a:graphic>
      </p:graphicFrame>
    </p:spTree>
    <p:extLst>
      <p:ext uri="{BB962C8B-B14F-4D97-AF65-F5344CB8AC3E}">
        <p14:creationId xmlns:p14="http://schemas.microsoft.com/office/powerpoint/2010/main" val="1511689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B7E60-5488-2A01-844D-B88F57B2A99B}"/>
            </a:ext>
          </a:extLst>
        </p:cNvPr>
        <p:cNvGrpSpPr/>
        <p:nvPr/>
      </p:nvGrpSpPr>
      <p:grpSpPr>
        <a:xfrm>
          <a:off x="0" y="0"/>
          <a:ext cx="0" cy="0"/>
          <a:chOff x="0" y="0"/>
          <a:chExt cx="0" cy="0"/>
        </a:xfrm>
      </p:grpSpPr>
      <p:sp>
        <p:nvSpPr>
          <p:cNvPr id="6" name="Freeform 2">
            <a:extLst>
              <a:ext uri="{FF2B5EF4-FFF2-40B4-BE49-F238E27FC236}">
                <a16:creationId xmlns:a16="http://schemas.microsoft.com/office/drawing/2014/main" id="{3BEED34B-E445-7CF0-94E0-1BD8A0554F5A}"/>
              </a:ext>
            </a:extLst>
          </p:cNvPr>
          <p:cNvSpPr/>
          <p:nvPr/>
        </p:nvSpPr>
        <p:spPr>
          <a:xfrm>
            <a:off x="0" y="-2999"/>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rgbClr val="242223"/>
          </a:solidFill>
        </p:spPr>
        <p:txBody>
          <a:bodyPr/>
          <a:lstStyle/>
          <a:p>
            <a:endParaRPr lang="en-US" dirty="0"/>
          </a:p>
        </p:txBody>
      </p:sp>
      <p:sp>
        <p:nvSpPr>
          <p:cNvPr id="7" name="TextBox 10">
            <a:extLst>
              <a:ext uri="{FF2B5EF4-FFF2-40B4-BE49-F238E27FC236}">
                <a16:creationId xmlns:a16="http://schemas.microsoft.com/office/drawing/2014/main" id="{944786DD-8F3A-8AF8-AB7A-32A6787808BD}"/>
              </a:ext>
            </a:extLst>
          </p:cNvPr>
          <p:cNvSpPr txBox="1"/>
          <p:nvPr/>
        </p:nvSpPr>
        <p:spPr>
          <a:xfrm>
            <a:off x="333456" y="2999"/>
            <a:ext cx="8890001" cy="539507"/>
          </a:xfrm>
          <a:prstGeom prst="rect">
            <a:avLst/>
          </a:prstGeom>
        </p:spPr>
        <p:txBody>
          <a:bodyPr wrap="square" lIns="0" tIns="0" rIns="0" bIns="0" rtlCol="0" anchor="t">
            <a:spAutoFit/>
          </a:bodyPr>
          <a:lstStyle/>
          <a:p>
            <a:pPr algn="l">
              <a:lnSpc>
                <a:spcPts val="4767"/>
              </a:lnSpc>
            </a:pPr>
            <a:r>
              <a:rPr lang="mn-MN" sz="2650" b="1" dirty="0">
                <a:solidFill>
                  <a:schemeClr val="bg1"/>
                </a:solidFill>
                <a:latin typeface="Arial" panose="020B0604020202020204" pitchFamily="34" charset="0"/>
                <a:ea typeface="Inter Bold"/>
                <a:cs typeface="Arial" panose="020B0604020202020204" pitchFamily="34" charset="0"/>
                <a:sym typeface="Inter Bold"/>
              </a:rPr>
              <a:t>Татвар</a:t>
            </a:r>
            <a:r>
              <a:rPr lang="mn-MN" sz="2650" b="1" dirty="0">
                <a:solidFill>
                  <a:srgbClr val="FFFF00"/>
                </a:solidFill>
                <a:latin typeface="Arial" panose="020B0604020202020204" pitchFamily="34" charset="0"/>
                <a:ea typeface="Inter Bold"/>
                <a:cs typeface="Arial" panose="020B0604020202020204" pitchFamily="34" charset="0"/>
                <a:sym typeface="Inter Bold"/>
              </a:rPr>
              <a:t> </a:t>
            </a:r>
            <a:r>
              <a:rPr lang="mn-MN" sz="2650" b="1" dirty="0">
                <a:solidFill>
                  <a:schemeClr val="bg1"/>
                </a:solidFill>
                <a:latin typeface="Arial" panose="020B0604020202020204" pitchFamily="34" charset="0"/>
                <a:ea typeface="Inter Bold"/>
                <a:cs typeface="Arial" panose="020B0604020202020204" pitchFamily="34" charset="0"/>
                <a:sym typeface="Inter Bold"/>
              </a:rPr>
              <a:t>төлбөрүүд</a:t>
            </a:r>
            <a:endParaRPr lang="en-US" sz="2650" b="1" dirty="0">
              <a:solidFill>
                <a:schemeClr val="bg1"/>
              </a:solidFill>
              <a:latin typeface="Arial" panose="020B0604020202020204" pitchFamily="34" charset="0"/>
              <a:ea typeface="Inter Bold"/>
              <a:cs typeface="Arial" panose="020B0604020202020204" pitchFamily="34" charset="0"/>
              <a:sym typeface="Inter Bold"/>
            </a:endParaRPr>
          </a:p>
        </p:txBody>
      </p:sp>
      <p:grpSp>
        <p:nvGrpSpPr>
          <p:cNvPr id="2" name="Group 1">
            <a:extLst>
              <a:ext uri="{FF2B5EF4-FFF2-40B4-BE49-F238E27FC236}">
                <a16:creationId xmlns:a16="http://schemas.microsoft.com/office/drawing/2014/main" id="{761C6A91-9C4C-E82F-0506-06081E36C596}"/>
              </a:ext>
            </a:extLst>
          </p:cNvPr>
          <p:cNvGrpSpPr/>
          <p:nvPr/>
        </p:nvGrpSpPr>
        <p:grpSpPr>
          <a:xfrm>
            <a:off x="1711491" y="806097"/>
            <a:ext cx="9334110" cy="897341"/>
            <a:chOff x="2567236" y="1209145"/>
            <a:chExt cx="14001165" cy="1346012"/>
          </a:xfrm>
        </p:grpSpPr>
        <p:sp>
          <p:nvSpPr>
            <p:cNvPr id="4" name="TextBox 24">
              <a:extLst>
                <a:ext uri="{FF2B5EF4-FFF2-40B4-BE49-F238E27FC236}">
                  <a16:creationId xmlns:a16="http://schemas.microsoft.com/office/drawing/2014/main" id="{118A0442-902B-8436-EF4C-5B71DF442BB4}"/>
                </a:ext>
              </a:extLst>
            </p:cNvPr>
            <p:cNvSpPr txBox="1"/>
            <p:nvPr/>
          </p:nvSpPr>
          <p:spPr>
            <a:xfrm>
              <a:off x="2567236" y="1360301"/>
              <a:ext cx="3008586" cy="323871"/>
            </a:xfrm>
            <a:prstGeom prst="rect">
              <a:avLst/>
            </a:prstGeom>
          </p:spPr>
          <p:txBody>
            <a:bodyPr wrap="square" lIns="0" tIns="0" rIns="0" bIns="0" rtlCol="0" anchor="t">
              <a:spAutoFit/>
            </a:bodyPr>
            <a:lstStyle/>
            <a:p>
              <a:pPr algn="ctr">
                <a:lnSpc>
                  <a:spcPts val="1773"/>
                </a:lnSpc>
              </a:pPr>
              <a:r>
                <a:rPr lang="mn-MN" sz="1450" b="1" i="1" dirty="0">
                  <a:solidFill>
                    <a:schemeClr val="bg1"/>
                  </a:solidFill>
                  <a:latin typeface="Arial" panose="020B0604020202020204" pitchFamily="34" charset="0"/>
                  <a:ea typeface="Inter"/>
                  <a:cs typeface="Arial" panose="020B0604020202020204" pitchFamily="34" charset="0"/>
                  <a:sym typeface="Inter"/>
                </a:rPr>
                <a:t>Улсын төсөвт</a:t>
              </a:r>
            </a:p>
          </p:txBody>
        </p:sp>
        <p:sp>
          <p:nvSpPr>
            <p:cNvPr id="11" name="TextBox 24">
              <a:extLst>
                <a:ext uri="{FF2B5EF4-FFF2-40B4-BE49-F238E27FC236}">
                  <a16:creationId xmlns:a16="http://schemas.microsoft.com/office/drawing/2014/main" id="{E8A442AF-3F2B-E791-7824-A9BCD0FFA0FD}"/>
                </a:ext>
              </a:extLst>
            </p:cNvPr>
            <p:cNvSpPr txBox="1"/>
            <p:nvPr/>
          </p:nvSpPr>
          <p:spPr>
            <a:xfrm>
              <a:off x="2567236" y="2230713"/>
              <a:ext cx="3008586" cy="318100"/>
            </a:xfrm>
            <a:prstGeom prst="rect">
              <a:avLst/>
            </a:prstGeom>
          </p:spPr>
          <p:txBody>
            <a:bodyPr wrap="square" lIns="0" tIns="0" rIns="0" bIns="0" rtlCol="0" anchor="t">
              <a:spAutoFit/>
            </a:bodyPr>
            <a:lstStyle/>
            <a:p>
              <a:pPr algn="ctr">
                <a:lnSpc>
                  <a:spcPts val="1773"/>
                </a:lnSpc>
              </a:pPr>
              <a:r>
                <a:rPr lang="mn-MN" sz="1350" b="1" dirty="0">
                  <a:solidFill>
                    <a:schemeClr val="bg1"/>
                  </a:solidFill>
                  <a:latin typeface="Arial" panose="020B0604020202020204" pitchFamily="34" charset="0"/>
                  <a:ea typeface="Inter"/>
                  <a:cs typeface="Arial" panose="020B0604020202020204" pitchFamily="34" charset="0"/>
                  <a:sym typeface="Inter"/>
                </a:rPr>
                <a:t>18.1 тэрбум төгрөг</a:t>
              </a:r>
            </a:p>
          </p:txBody>
        </p:sp>
        <p:sp>
          <p:nvSpPr>
            <p:cNvPr id="12" name="Plus Sign 11">
              <a:extLst>
                <a:ext uri="{FF2B5EF4-FFF2-40B4-BE49-F238E27FC236}">
                  <a16:creationId xmlns:a16="http://schemas.microsoft.com/office/drawing/2014/main" id="{9EFCF68E-B0D4-9F88-83AF-491FD43C4A0B}"/>
                </a:ext>
              </a:extLst>
            </p:cNvPr>
            <p:cNvSpPr/>
            <p:nvPr/>
          </p:nvSpPr>
          <p:spPr>
            <a:xfrm>
              <a:off x="6270032" y="1883386"/>
              <a:ext cx="415377" cy="393574"/>
            </a:xfrm>
            <a:prstGeom prst="mathPlus">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24">
              <a:extLst>
                <a:ext uri="{FF2B5EF4-FFF2-40B4-BE49-F238E27FC236}">
                  <a16:creationId xmlns:a16="http://schemas.microsoft.com/office/drawing/2014/main" id="{E721AEEE-BAAD-1B90-6E8F-A703C448D895}"/>
                </a:ext>
              </a:extLst>
            </p:cNvPr>
            <p:cNvSpPr txBox="1"/>
            <p:nvPr/>
          </p:nvSpPr>
          <p:spPr>
            <a:xfrm>
              <a:off x="7379618" y="1209145"/>
              <a:ext cx="3008586" cy="677108"/>
            </a:xfrm>
            <a:prstGeom prst="rect">
              <a:avLst/>
            </a:prstGeom>
          </p:spPr>
          <p:txBody>
            <a:bodyPr wrap="square" lIns="0" tIns="0" rIns="0" bIns="0" rtlCol="0" anchor="t">
              <a:spAutoFit/>
            </a:bodyPr>
            <a:lstStyle/>
            <a:p>
              <a:pPr algn="ctr"/>
              <a:r>
                <a:rPr lang="mn-MN" sz="1450" b="1" i="1" dirty="0">
                  <a:solidFill>
                    <a:schemeClr val="bg1"/>
                  </a:solidFill>
                  <a:latin typeface="Arial" panose="020B0604020202020204" pitchFamily="34" charset="0"/>
                  <a:ea typeface="Inter"/>
                  <a:cs typeface="Arial" panose="020B0604020202020204" pitchFamily="34" charset="0"/>
                  <a:sym typeface="Inter"/>
                </a:rPr>
                <a:t>Орон нутгийн төсөвт</a:t>
              </a:r>
            </a:p>
          </p:txBody>
        </p:sp>
        <p:sp>
          <p:nvSpPr>
            <p:cNvPr id="22" name="TextBox 24">
              <a:extLst>
                <a:ext uri="{FF2B5EF4-FFF2-40B4-BE49-F238E27FC236}">
                  <a16:creationId xmlns:a16="http://schemas.microsoft.com/office/drawing/2014/main" id="{E4886116-087E-74D9-25F5-D5881D384D4F}"/>
                </a:ext>
              </a:extLst>
            </p:cNvPr>
            <p:cNvSpPr txBox="1"/>
            <p:nvPr/>
          </p:nvSpPr>
          <p:spPr>
            <a:xfrm>
              <a:off x="7428103" y="2237057"/>
              <a:ext cx="3008586" cy="318100"/>
            </a:xfrm>
            <a:prstGeom prst="rect">
              <a:avLst/>
            </a:prstGeom>
          </p:spPr>
          <p:txBody>
            <a:bodyPr wrap="square" lIns="0" tIns="0" rIns="0" bIns="0" rtlCol="0" anchor="t">
              <a:spAutoFit/>
            </a:bodyPr>
            <a:lstStyle/>
            <a:p>
              <a:pPr algn="ctr">
                <a:lnSpc>
                  <a:spcPts val="1773"/>
                </a:lnSpc>
              </a:pPr>
              <a:r>
                <a:rPr lang="mn-MN" sz="1350" b="1" dirty="0">
                  <a:solidFill>
                    <a:schemeClr val="bg1"/>
                  </a:solidFill>
                  <a:latin typeface="Arial" panose="020B0604020202020204" pitchFamily="34" charset="0"/>
                  <a:ea typeface="Inter"/>
                  <a:cs typeface="Arial" panose="020B0604020202020204" pitchFamily="34" charset="0"/>
                  <a:sym typeface="Inter"/>
                </a:rPr>
                <a:t>8.5 тэрбум төгрөг</a:t>
              </a:r>
            </a:p>
          </p:txBody>
        </p:sp>
        <p:sp>
          <p:nvSpPr>
            <p:cNvPr id="23" name="TextBox 24">
              <a:extLst>
                <a:ext uri="{FF2B5EF4-FFF2-40B4-BE49-F238E27FC236}">
                  <a16:creationId xmlns:a16="http://schemas.microsoft.com/office/drawing/2014/main" id="{E1853FAC-D162-C4E1-BAA5-524A60E414F9}"/>
                </a:ext>
              </a:extLst>
            </p:cNvPr>
            <p:cNvSpPr txBox="1"/>
            <p:nvPr/>
          </p:nvSpPr>
          <p:spPr>
            <a:xfrm>
              <a:off x="12471280" y="1349112"/>
              <a:ext cx="4097121" cy="670120"/>
            </a:xfrm>
            <a:prstGeom prst="rect">
              <a:avLst/>
            </a:prstGeom>
          </p:spPr>
          <p:txBody>
            <a:bodyPr wrap="square" lIns="0" tIns="0" rIns="0" bIns="0" rtlCol="0" anchor="t">
              <a:spAutoFit/>
            </a:bodyPr>
            <a:lstStyle/>
            <a:p>
              <a:pPr algn="ctr">
                <a:lnSpc>
                  <a:spcPts val="1773"/>
                </a:lnSpc>
              </a:pPr>
              <a:r>
                <a:rPr lang="mn-MN" sz="1450" b="1" i="1" dirty="0">
                  <a:solidFill>
                    <a:schemeClr val="bg1"/>
                  </a:solidFill>
                  <a:latin typeface="Arial" panose="020B0604020202020204" pitchFamily="34" charset="0"/>
                  <a:ea typeface="Inter"/>
                  <a:cs typeface="Arial" panose="020B0604020202020204" pitchFamily="34" charset="0"/>
                  <a:sym typeface="Inter"/>
                </a:rPr>
                <a:t>Нийт татан төвлөрүүлэх татвар, төлбөр</a:t>
              </a:r>
            </a:p>
          </p:txBody>
        </p:sp>
        <p:sp>
          <p:nvSpPr>
            <p:cNvPr id="27" name="TextBox 24">
              <a:extLst>
                <a:ext uri="{FF2B5EF4-FFF2-40B4-BE49-F238E27FC236}">
                  <a16:creationId xmlns:a16="http://schemas.microsoft.com/office/drawing/2014/main" id="{B92238FD-492B-001A-0B28-F2E154F6807D}"/>
                </a:ext>
              </a:extLst>
            </p:cNvPr>
            <p:cNvSpPr txBox="1"/>
            <p:nvPr/>
          </p:nvSpPr>
          <p:spPr>
            <a:xfrm>
              <a:off x="13015547" y="2230713"/>
              <a:ext cx="3008586" cy="318100"/>
            </a:xfrm>
            <a:prstGeom prst="rect">
              <a:avLst/>
            </a:prstGeom>
          </p:spPr>
          <p:txBody>
            <a:bodyPr wrap="square" lIns="0" tIns="0" rIns="0" bIns="0" rtlCol="0" anchor="t">
              <a:spAutoFit/>
            </a:bodyPr>
            <a:lstStyle/>
            <a:p>
              <a:pPr algn="ctr">
                <a:lnSpc>
                  <a:spcPts val="1773"/>
                </a:lnSpc>
              </a:pPr>
              <a:r>
                <a:rPr lang="mn-MN" sz="1350" b="1" dirty="0">
                  <a:solidFill>
                    <a:schemeClr val="bg1"/>
                  </a:solidFill>
                  <a:latin typeface="Arial" panose="020B0604020202020204" pitchFamily="34" charset="0"/>
                  <a:ea typeface="Inter"/>
                  <a:cs typeface="Arial" panose="020B0604020202020204" pitchFamily="34" charset="0"/>
                  <a:sym typeface="Inter"/>
                </a:rPr>
                <a:t>26.6 тэрбум төгрөг</a:t>
              </a:r>
            </a:p>
          </p:txBody>
        </p:sp>
        <p:sp>
          <p:nvSpPr>
            <p:cNvPr id="28" name="Equals 27">
              <a:extLst>
                <a:ext uri="{FF2B5EF4-FFF2-40B4-BE49-F238E27FC236}">
                  <a16:creationId xmlns:a16="http://schemas.microsoft.com/office/drawing/2014/main" id="{9E7397E7-A39F-C0DF-DE2D-09CA01CB919F}"/>
                </a:ext>
              </a:extLst>
            </p:cNvPr>
            <p:cNvSpPr/>
            <p:nvPr/>
          </p:nvSpPr>
          <p:spPr>
            <a:xfrm>
              <a:off x="11239499" y="1875669"/>
              <a:ext cx="533400" cy="393574"/>
            </a:xfrm>
            <a:prstGeom prst="mathEqual">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aphicFrame>
        <p:nvGraphicFramePr>
          <p:cNvPr id="31" name="Table 30">
            <a:extLst>
              <a:ext uri="{FF2B5EF4-FFF2-40B4-BE49-F238E27FC236}">
                <a16:creationId xmlns:a16="http://schemas.microsoft.com/office/drawing/2014/main" id="{C1F24623-3882-1EB3-6C14-16311E5EE1AD}"/>
              </a:ext>
            </a:extLst>
          </p:cNvPr>
          <p:cNvGraphicFramePr>
            <a:graphicFrameLocks noGrp="1"/>
          </p:cNvGraphicFramePr>
          <p:nvPr/>
        </p:nvGraphicFramePr>
        <p:xfrm>
          <a:off x="609600" y="2309261"/>
          <a:ext cx="7060667" cy="2247900"/>
        </p:xfrm>
        <a:graphic>
          <a:graphicData uri="http://schemas.openxmlformats.org/drawingml/2006/table">
            <a:tbl>
              <a:tblPr firstRow="1" firstCol="1" bandRow="1">
                <a:tableStyleId>{0660B408-B3CF-4A94-85FC-2B1E0A45F4A2}</a:tableStyleId>
              </a:tblPr>
              <a:tblGrid>
                <a:gridCol w="314667">
                  <a:extLst>
                    <a:ext uri="{9D8B030D-6E8A-4147-A177-3AD203B41FA5}">
                      <a16:colId xmlns:a16="http://schemas.microsoft.com/office/drawing/2014/main" val="20000"/>
                    </a:ext>
                  </a:extLst>
                </a:gridCol>
                <a:gridCol w="2066667">
                  <a:extLst>
                    <a:ext uri="{9D8B030D-6E8A-4147-A177-3AD203B41FA5}">
                      <a16:colId xmlns:a16="http://schemas.microsoft.com/office/drawing/2014/main" val="20001"/>
                    </a:ext>
                  </a:extLst>
                </a:gridCol>
                <a:gridCol w="866667">
                  <a:extLst>
                    <a:ext uri="{9D8B030D-6E8A-4147-A177-3AD203B41FA5}">
                      <a16:colId xmlns:a16="http://schemas.microsoft.com/office/drawing/2014/main" val="20002"/>
                    </a:ext>
                  </a:extLst>
                </a:gridCol>
                <a:gridCol w="1000000">
                  <a:extLst>
                    <a:ext uri="{9D8B030D-6E8A-4147-A177-3AD203B41FA5}">
                      <a16:colId xmlns:a16="http://schemas.microsoft.com/office/drawing/2014/main" val="20003"/>
                    </a:ext>
                  </a:extLst>
                </a:gridCol>
                <a:gridCol w="733333">
                  <a:extLst>
                    <a:ext uri="{9D8B030D-6E8A-4147-A177-3AD203B41FA5}">
                      <a16:colId xmlns:a16="http://schemas.microsoft.com/office/drawing/2014/main" val="20004"/>
                    </a:ext>
                  </a:extLst>
                </a:gridCol>
                <a:gridCol w="1033333">
                  <a:extLst>
                    <a:ext uri="{9D8B030D-6E8A-4147-A177-3AD203B41FA5}">
                      <a16:colId xmlns:a16="http://schemas.microsoft.com/office/drawing/2014/main" val="20005"/>
                    </a:ext>
                  </a:extLst>
                </a:gridCol>
                <a:gridCol w="1046000">
                  <a:extLst>
                    <a:ext uri="{9D8B030D-6E8A-4147-A177-3AD203B41FA5}">
                      <a16:colId xmlns:a16="http://schemas.microsoft.com/office/drawing/2014/main" val="20006"/>
                    </a:ext>
                  </a:extLst>
                </a:gridCol>
              </a:tblGrid>
              <a:tr h="283217">
                <a:tc>
                  <a:txBody>
                    <a:bodyPr/>
                    <a:lstStyle/>
                    <a:p>
                      <a:pPr marL="0" marR="0" indent="0" algn="ctr">
                        <a:spcBef>
                          <a:spcPts val="200"/>
                        </a:spcBef>
                        <a:spcAft>
                          <a:spcPts val="200"/>
                        </a:spcAft>
                        <a:buNone/>
                      </a:pPr>
                      <a:r>
                        <a:rPr lang="mn-MN" sz="950" b="1" dirty="0">
                          <a:solidFill>
                            <a:schemeClr val="tx1"/>
                          </a:solidFill>
                          <a:effectLst/>
                          <a:latin typeface="Arial" panose="020B0604020202020204" pitchFamily="34" charset="0"/>
                          <a:cs typeface="Arial" panose="020B0604020202020204" pitchFamily="34" charset="0"/>
                        </a:rPr>
                        <a:t>№</a:t>
                      </a:r>
                      <a:endParaRPr lang="en-US" sz="95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tc>
                  <a:txBody>
                    <a:bodyPr/>
                    <a:lstStyle/>
                    <a:p>
                      <a:pPr marL="0" marR="0" indent="0" algn="ctr">
                        <a:spcBef>
                          <a:spcPts val="200"/>
                        </a:spcBef>
                        <a:spcAft>
                          <a:spcPts val="200"/>
                        </a:spcAft>
                        <a:buNone/>
                      </a:pPr>
                      <a:r>
                        <a:rPr lang="mn-MN" sz="950" b="1" dirty="0">
                          <a:solidFill>
                            <a:schemeClr val="tx1"/>
                          </a:solidFill>
                          <a:effectLst/>
                          <a:latin typeface="Arial" panose="020B0604020202020204" pitchFamily="34" charset="0"/>
                          <a:cs typeface="Arial" panose="020B0604020202020204" pitchFamily="34" charset="0"/>
                        </a:rPr>
                        <a:t>Татвар төлбөрүүд</a:t>
                      </a:r>
                      <a:endParaRPr lang="en-US" sz="95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tc>
                  <a:txBody>
                    <a:bodyPr/>
                    <a:lstStyle/>
                    <a:p>
                      <a:pPr marL="0" marR="0" indent="0" algn="ctr">
                        <a:spcBef>
                          <a:spcPts val="200"/>
                        </a:spcBef>
                        <a:spcAft>
                          <a:spcPts val="200"/>
                        </a:spcAft>
                        <a:buNone/>
                      </a:pPr>
                      <a:r>
                        <a:rPr lang="mn-MN" sz="950" b="1" dirty="0">
                          <a:solidFill>
                            <a:schemeClr val="tx1"/>
                          </a:solidFill>
                          <a:effectLst/>
                          <a:latin typeface="Arial" panose="020B0604020202020204" pitchFamily="34" charset="0"/>
                          <a:cs typeface="Arial" panose="020B0604020202020204" pitchFamily="34" charset="0"/>
                        </a:rPr>
                        <a:t>Хэмжих нэгж</a:t>
                      </a:r>
                      <a:endParaRPr lang="en-US" sz="95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tc>
                  <a:txBody>
                    <a:bodyPr/>
                    <a:lstStyle/>
                    <a:p>
                      <a:pPr marL="0" marR="0" indent="0" algn="ctr">
                        <a:spcBef>
                          <a:spcPts val="200"/>
                        </a:spcBef>
                        <a:spcAft>
                          <a:spcPts val="200"/>
                        </a:spcAft>
                        <a:buNone/>
                      </a:pPr>
                      <a:r>
                        <a:rPr lang="mn-MN" sz="950" b="1" dirty="0">
                          <a:solidFill>
                            <a:schemeClr val="tx1"/>
                          </a:solidFill>
                          <a:effectLst/>
                          <a:latin typeface="Arial" panose="020B0604020202020204" pitchFamily="34" charset="0"/>
                          <a:cs typeface="Arial" panose="020B0604020202020204" pitchFamily="34" charset="0"/>
                        </a:rPr>
                        <a:t>Нийт</a:t>
                      </a:r>
                      <a:endParaRPr lang="en-US" sz="95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tc>
                  <a:txBody>
                    <a:bodyPr/>
                    <a:lstStyle/>
                    <a:p>
                      <a:pPr marL="0" marR="0" indent="0" algn="ctr">
                        <a:spcBef>
                          <a:spcPts val="200"/>
                        </a:spcBef>
                        <a:spcAft>
                          <a:spcPts val="200"/>
                        </a:spcAft>
                        <a:buNone/>
                      </a:pPr>
                      <a:r>
                        <a:rPr lang="mn-MN" sz="950" b="1" dirty="0">
                          <a:solidFill>
                            <a:schemeClr val="tx1"/>
                          </a:solidFill>
                          <a:effectLst/>
                          <a:latin typeface="Arial" panose="020B0604020202020204" pitchFamily="34" charset="0"/>
                          <a:cs typeface="Arial" panose="020B0604020202020204" pitchFamily="34" charset="0"/>
                        </a:rPr>
                        <a:t>Бүтэц</a:t>
                      </a:r>
                      <a:endParaRPr lang="en-US" sz="95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tc>
                  <a:txBody>
                    <a:bodyPr/>
                    <a:lstStyle/>
                    <a:p>
                      <a:pPr marL="0" marR="0" indent="0" algn="ctr">
                        <a:spcBef>
                          <a:spcPts val="200"/>
                        </a:spcBef>
                        <a:spcAft>
                          <a:spcPts val="200"/>
                        </a:spcAft>
                        <a:buNone/>
                      </a:pPr>
                      <a:r>
                        <a:rPr lang="mn-MN" sz="950" b="1" dirty="0">
                          <a:solidFill>
                            <a:schemeClr val="tx1"/>
                          </a:solidFill>
                          <a:effectLst/>
                          <a:latin typeface="Arial" panose="020B0604020202020204" pitchFamily="34" charset="0"/>
                          <a:cs typeface="Arial" panose="020B0604020202020204" pitchFamily="34" charset="0"/>
                        </a:rPr>
                        <a:t>Улсын төсөвт</a:t>
                      </a:r>
                      <a:endParaRPr lang="en-US" sz="95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tc>
                  <a:txBody>
                    <a:bodyPr/>
                    <a:lstStyle/>
                    <a:p>
                      <a:pPr marL="0" marR="0" indent="0" algn="ctr">
                        <a:spcBef>
                          <a:spcPts val="200"/>
                        </a:spcBef>
                        <a:spcAft>
                          <a:spcPts val="200"/>
                        </a:spcAft>
                        <a:buNone/>
                      </a:pPr>
                      <a:r>
                        <a:rPr lang="mn-MN" sz="950" b="1" dirty="0">
                          <a:solidFill>
                            <a:schemeClr val="tx1"/>
                          </a:solidFill>
                          <a:effectLst/>
                          <a:latin typeface="Arial" panose="020B0604020202020204" pitchFamily="34" charset="0"/>
                          <a:cs typeface="Arial" panose="020B0604020202020204" pitchFamily="34" charset="0"/>
                        </a:rPr>
                        <a:t>Орон нутгийн төсөвт</a:t>
                      </a:r>
                      <a:endParaRPr lang="en-US" sz="95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extLst>
                  <a:ext uri="{0D108BD9-81ED-4DB2-BD59-A6C34878D82A}">
                    <a16:rowId xmlns:a16="http://schemas.microsoft.com/office/drawing/2014/main" val="10000"/>
                  </a:ext>
                </a:extLst>
              </a:tr>
              <a:tr h="141609">
                <a:tc>
                  <a:txBody>
                    <a:bodyPr/>
                    <a:lstStyle/>
                    <a:p>
                      <a:pPr algn="ctr" fontAlgn="ctr">
                        <a:buNone/>
                      </a:pPr>
                      <a:r>
                        <a:rPr lang="en-US" sz="950" b="0" i="0" u="none" strike="noStrike" dirty="0">
                          <a:solidFill>
                            <a:schemeClr val="bg1"/>
                          </a:solidFill>
                          <a:effectLst/>
                          <a:latin typeface="Arial" panose="020B0604020202020204" pitchFamily="34" charset="0"/>
                        </a:rPr>
                        <a:t>1</a:t>
                      </a:r>
                    </a:p>
                  </a:txBody>
                  <a:tcPr marL="6350" marR="6350" marT="6350" marB="0" anchor="ctr">
                    <a:noFill/>
                  </a:tcPr>
                </a:tc>
                <a:tc>
                  <a:txBody>
                    <a:bodyPr/>
                    <a:lstStyle/>
                    <a:p>
                      <a:pPr marL="73152" algn="l" fontAlgn="ctr">
                        <a:buNone/>
                      </a:pPr>
                      <a:r>
                        <a:rPr lang="mn-MN" sz="950" b="0" i="0" u="none" strike="noStrike" dirty="0">
                          <a:solidFill>
                            <a:schemeClr val="bg1"/>
                          </a:solidFill>
                          <a:effectLst/>
                          <a:latin typeface="Arial" panose="020B0604020202020204" pitchFamily="34" charset="0"/>
                        </a:rPr>
                        <a:t>АМНАТ-Цагаан тугалга (5%+4%)</a:t>
                      </a:r>
                    </a:p>
                  </a:txBody>
                  <a:tcPr marL="6350" marR="6350" marT="6350" marB="0" anchor="ctr">
                    <a:noFill/>
                  </a:tcPr>
                </a:tc>
                <a:tc>
                  <a:txBody>
                    <a:bodyPr/>
                    <a:lstStyle/>
                    <a:p>
                      <a:pPr marL="0" marR="0" indent="0" algn="ctr">
                        <a:spcBef>
                          <a:spcPts val="200"/>
                        </a:spcBef>
                        <a:spcAft>
                          <a:spcPts val="200"/>
                        </a:spcAft>
                        <a:buNone/>
                      </a:pPr>
                      <a:r>
                        <a:rPr lang="mn-MN" sz="950" b="0">
                          <a:solidFill>
                            <a:schemeClr val="bg1"/>
                          </a:solidFill>
                          <a:effectLst/>
                          <a:latin typeface="Arial" panose="020B0604020202020204" pitchFamily="34" charset="0"/>
                          <a:cs typeface="Arial" panose="020B0604020202020204" pitchFamily="34" charset="0"/>
                        </a:rPr>
                        <a:t>сая төг.</a:t>
                      </a:r>
                      <a:endParaRPr lang="en-US" sz="950" b="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10,511.2</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39.5%</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10,511.2</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 </a:t>
                      </a:r>
                    </a:p>
                  </a:txBody>
                  <a:tcPr marL="6350" marR="6350" marT="6350" marB="0" anchor="ctr">
                    <a:noFill/>
                  </a:tcPr>
                </a:tc>
                <a:extLst>
                  <a:ext uri="{0D108BD9-81ED-4DB2-BD59-A6C34878D82A}">
                    <a16:rowId xmlns:a16="http://schemas.microsoft.com/office/drawing/2014/main" val="10001"/>
                  </a:ext>
                </a:extLst>
              </a:tr>
              <a:tr h="141609">
                <a:tc>
                  <a:txBody>
                    <a:bodyPr/>
                    <a:lstStyle/>
                    <a:p>
                      <a:pPr algn="ctr" fontAlgn="ctr">
                        <a:buNone/>
                      </a:pPr>
                      <a:r>
                        <a:rPr lang="en-US" sz="950" b="0" i="0" u="none" strike="noStrike" dirty="0">
                          <a:solidFill>
                            <a:schemeClr val="bg1"/>
                          </a:solidFill>
                          <a:effectLst/>
                          <a:latin typeface="Arial" panose="020B0604020202020204" pitchFamily="34" charset="0"/>
                        </a:rPr>
                        <a:t>2</a:t>
                      </a:r>
                    </a:p>
                  </a:txBody>
                  <a:tcPr marL="6350" marR="6350" marT="6350" marB="0" anchor="ctr">
                    <a:noFill/>
                  </a:tcPr>
                </a:tc>
                <a:tc>
                  <a:txBody>
                    <a:bodyPr/>
                    <a:lstStyle/>
                    <a:p>
                      <a:pPr marL="73152" algn="l" fontAlgn="ctr">
                        <a:buNone/>
                      </a:pPr>
                      <a:r>
                        <a:rPr lang="mn-MN" sz="950" b="0" i="0" u="none" strike="noStrike" dirty="0">
                          <a:solidFill>
                            <a:schemeClr val="bg1"/>
                          </a:solidFill>
                          <a:effectLst/>
                          <a:latin typeface="Arial" panose="020B0604020202020204" pitchFamily="34" charset="0"/>
                        </a:rPr>
                        <a:t>АМНАТ-Гянтболд (5%+0%)</a:t>
                      </a:r>
                    </a:p>
                  </a:txBody>
                  <a:tcPr marL="6350" marR="6350" marT="6350" marB="0" anchor="ctr">
                    <a:noFill/>
                  </a:tcPr>
                </a:tc>
                <a:tc>
                  <a:txBody>
                    <a:bodyPr/>
                    <a:lstStyle/>
                    <a:p>
                      <a:pPr marL="0" marR="0" indent="0" algn="ctr">
                        <a:spcBef>
                          <a:spcPts val="200"/>
                        </a:spcBef>
                        <a:spcAft>
                          <a:spcPts val="200"/>
                        </a:spcAft>
                        <a:buNone/>
                      </a:pPr>
                      <a:r>
                        <a:rPr lang="mn-MN" sz="950" b="0">
                          <a:solidFill>
                            <a:schemeClr val="bg1"/>
                          </a:solidFill>
                          <a:effectLst/>
                          <a:latin typeface="Arial" panose="020B0604020202020204" pitchFamily="34" charset="0"/>
                          <a:cs typeface="Arial" panose="020B0604020202020204" pitchFamily="34" charset="0"/>
                        </a:rPr>
                        <a:t>сая төг.</a:t>
                      </a:r>
                      <a:endParaRPr lang="en-US" sz="950" b="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883.6</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3.3%</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883.6</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 </a:t>
                      </a:r>
                    </a:p>
                  </a:txBody>
                  <a:tcPr marL="6350" marR="6350" marT="6350" marB="0" anchor="ctr">
                    <a:noFill/>
                  </a:tcPr>
                </a:tc>
                <a:extLst>
                  <a:ext uri="{0D108BD9-81ED-4DB2-BD59-A6C34878D82A}">
                    <a16:rowId xmlns:a16="http://schemas.microsoft.com/office/drawing/2014/main" val="10002"/>
                  </a:ext>
                </a:extLst>
              </a:tr>
              <a:tr h="141609">
                <a:tc>
                  <a:txBody>
                    <a:bodyPr/>
                    <a:lstStyle/>
                    <a:p>
                      <a:pPr algn="ctr" fontAlgn="ctr">
                        <a:buNone/>
                      </a:pPr>
                      <a:r>
                        <a:rPr lang="en-US" sz="950" b="0" i="0" u="none" strike="noStrike" dirty="0">
                          <a:solidFill>
                            <a:schemeClr val="bg1"/>
                          </a:solidFill>
                          <a:effectLst/>
                          <a:latin typeface="Arial" panose="020B0604020202020204" pitchFamily="34" charset="0"/>
                        </a:rPr>
                        <a:t>3</a:t>
                      </a:r>
                    </a:p>
                  </a:txBody>
                  <a:tcPr marL="6350" marR="6350" marT="6350" marB="0" anchor="ctr">
                    <a:noFill/>
                  </a:tcPr>
                </a:tc>
                <a:tc>
                  <a:txBody>
                    <a:bodyPr/>
                    <a:lstStyle/>
                    <a:p>
                      <a:pPr marL="73152" algn="l" fontAlgn="ctr">
                        <a:buNone/>
                      </a:pPr>
                      <a:r>
                        <a:rPr lang="mn-MN" sz="950" b="0" i="0" u="none" strike="noStrike" dirty="0">
                          <a:solidFill>
                            <a:schemeClr val="bg1"/>
                          </a:solidFill>
                          <a:effectLst/>
                          <a:latin typeface="Arial" panose="020B0604020202020204" pitchFamily="34" charset="0"/>
                        </a:rPr>
                        <a:t>ААНОАТ</a:t>
                      </a:r>
                    </a:p>
                  </a:txBody>
                  <a:tcPr marL="6350" marR="6350" marT="6350" marB="0" anchor="ctr">
                    <a:noFill/>
                  </a:tcPr>
                </a:tc>
                <a:tc>
                  <a:txBody>
                    <a:bodyPr/>
                    <a:lstStyle/>
                    <a:p>
                      <a:pPr marL="0" marR="0" indent="0" algn="ctr">
                        <a:spcBef>
                          <a:spcPts val="200"/>
                        </a:spcBef>
                        <a:spcAft>
                          <a:spcPts val="200"/>
                        </a:spcAft>
                        <a:buNone/>
                      </a:pPr>
                      <a:r>
                        <a:rPr lang="mn-MN" sz="950" b="0">
                          <a:solidFill>
                            <a:schemeClr val="bg1"/>
                          </a:solidFill>
                          <a:effectLst/>
                          <a:latin typeface="Arial" panose="020B0604020202020204" pitchFamily="34" charset="0"/>
                          <a:cs typeface="Arial" panose="020B0604020202020204" pitchFamily="34" charset="0"/>
                        </a:rPr>
                        <a:t>сая төг.</a:t>
                      </a:r>
                      <a:endParaRPr lang="en-US" sz="950" b="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5,081.3</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19.1%</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5,081.3</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 </a:t>
                      </a:r>
                    </a:p>
                  </a:txBody>
                  <a:tcPr marL="6350" marR="6350" marT="6350" marB="0" anchor="ctr">
                    <a:noFill/>
                  </a:tcPr>
                </a:tc>
                <a:extLst>
                  <a:ext uri="{0D108BD9-81ED-4DB2-BD59-A6C34878D82A}">
                    <a16:rowId xmlns:a16="http://schemas.microsoft.com/office/drawing/2014/main" val="10003"/>
                  </a:ext>
                </a:extLst>
              </a:tr>
              <a:tr h="141609">
                <a:tc>
                  <a:txBody>
                    <a:bodyPr/>
                    <a:lstStyle/>
                    <a:p>
                      <a:pPr algn="ctr" fontAlgn="ctr">
                        <a:buNone/>
                      </a:pPr>
                      <a:r>
                        <a:rPr lang="en-US" sz="950" b="0" i="0" u="none" strike="noStrike" dirty="0">
                          <a:solidFill>
                            <a:schemeClr val="bg1"/>
                          </a:solidFill>
                          <a:effectLst/>
                          <a:latin typeface="Arial" panose="020B0604020202020204" pitchFamily="34" charset="0"/>
                        </a:rPr>
                        <a:t>4</a:t>
                      </a:r>
                    </a:p>
                  </a:txBody>
                  <a:tcPr marL="6350" marR="6350" marT="6350" marB="0" anchor="ctr">
                    <a:noFill/>
                  </a:tcPr>
                </a:tc>
                <a:tc>
                  <a:txBody>
                    <a:bodyPr/>
                    <a:lstStyle/>
                    <a:p>
                      <a:pPr marL="73152" algn="l" fontAlgn="ctr">
                        <a:buNone/>
                      </a:pPr>
                      <a:r>
                        <a:rPr lang="mn-MN" sz="950" b="0" i="0" u="none" strike="noStrike" dirty="0">
                          <a:solidFill>
                            <a:schemeClr val="bg1"/>
                          </a:solidFill>
                          <a:effectLst/>
                          <a:latin typeface="Arial" panose="020B0604020202020204" pitchFamily="34" charset="0"/>
                        </a:rPr>
                        <a:t>Усны төлбөр</a:t>
                      </a:r>
                    </a:p>
                  </a:txBody>
                  <a:tcPr marL="6350" marR="6350" marT="6350" marB="0" anchor="ctr">
                    <a:noFill/>
                  </a:tcPr>
                </a:tc>
                <a:tc>
                  <a:txBody>
                    <a:bodyPr/>
                    <a:lstStyle/>
                    <a:p>
                      <a:pPr marL="0" marR="0" indent="0" algn="ctr">
                        <a:spcBef>
                          <a:spcPts val="200"/>
                        </a:spcBef>
                        <a:spcAft>
                          <a:spcPts val="200"/>
                        </a:spcAft>
                        <a:buNone/>
                      </a:pPr>
                      <a:r>
                        <a:rPr lang="mn-MN" sz="950" b="0">
                          <a:solidFill>
                            <a:schemeClr val="bg1"/>
                          </a:solidFill>
                          <a:effectLst/>
                          <a:latin typeface="Arial" panose="020B0604020202020204" pitchFamily="34" charset="0"/>
                          <a:cs typeface="Arial" panose="020B0604020202020204" pitchFamily="34" charset="0"/>
                        </a:rPr>
                        <a:t>сая төг.</a:t>
                      </a:r>
                      <a:endParaRPr lang="en-US" sz="950" b="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2,661.5</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10.0%</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 </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2,661.5</a:t>
                      </a:r>
                    </a:p>
                  </a:txBody>
                  <a:tcPr marL="6350" marR="6350" marT="6350" marB="0" anchor="ctr">
                    <a:noFill/>
                  </a:tcPr>
                </a:tc>
                <a:extLst>
                  <a:ext uri="{0D108BD9-81ED-4DB2-BD59-A6C34878D82A}">
                    <a16:rowId xmlns:a16="http://schemas.microsoft.com/office/drawing/2014/main" val="10004"/>
                  </a:ext>
                </a:extLst>
              </a:tr>
              <a:tr h="141609">
                <a:tc>
                  <a:txBody>
                    <a:bodyPr/>
                    <a:lstStyle/>
                    <a:p>
                      <a:pPr algn="ctr" fontAlgn="ctr">
                        <a:buNone/>
                      </a:pPr>
                      <a:r>
                        <a:rPr lang="en-US" sz="950" b="0" i="0" u="none" strike="noStrike" dirty="0">
                          <a:solidFill>
                            <a:schemeClr val="bg1"/>
                          </a:solidFill>
                          <a:effectLst/>
                          <a:latin typeface="Arial" panose="020B0604020202020204" pitchFamily="34" charset="0"/>
                        </a:rPr>
                        <a:t>5</a:t>
                      </a:r>
                    </a:p>
                  </a:txBody>
                  <a:tcPr marL="6350" marR="6350" marT="6350" marB="0" anchor="ctr">
                    <a:noFill/>
                  </a:tcPr>
                </a:tc>
                <a:tc>
                  <a:txBody>
                    <a:bodyPr/>
                    <a:lstStyle/>
                    <a:p>
                      <a:pPr marL="73152" algn="l" fontAlgn="ctr">
                        <a:buNone/>
                      </a:pPr>
                      <a:r>
                        <a:rPr lang="mn-MN" sz="950" b="0" i="0" u="none" strike="noStrike" dirty="0">
                          <a:solidFill>
                            <a:schemeClr val="bg1"/>
                          </a:solidFill>
                          <a:effectLst/>
                          <a:latin typeface="Arial" panose="020B0604020202020204" pitchFamily="34" charset="0"/>
                        </a:rPr>
                        <a:t>Тусгай зөвшөөрлийн төлбөр</a:t>
                      </a:r>
                    </a:p>
                  </a:txBody>
                  <a:tcPr marL="6350" marR="6350" marT="6350" marB="0" anchor="ctr">
                    <a:noFill/>
                  </a:tcPr>
                </a:tc>
                <a:tc>
                  <a:txBody>
                    <a:bodyPr/>
                    <a:lstStyle/>
                    <a:p>
                      <a:pPr marL="0" marR="0" indent="0" algn="ctr">
                        <a:spcBef>
                          <a:spcPts val="200"/>
                        </a:spcBef>
                        <a:spcAft>
                          <a:spcPts val="200"/>
                        </a:spcAft>
                        <a:buNone/>
                      </a:pPr>
                      <a:r>
                        <a:rPr lang="mn-MN" sz="950" b="0">
                          <a:solidFill>
                            <a:schemeClr val="bg1"/>
                          </a:solidFill>
                          <a:effectLst/>
                          <a:latin typeface="Arial" panose="020B0604020202020204" pitchFamily="34" charset="0"/>
                          <a:cs typeface="Arial" panose="020B0604020202020204" pitchFamily="34" charset="0"/>
                        </a:rPr>
                        <a:t>сая төг.</a:t>
                      </a:r>
                      <a:endParaRPr lang="en-US" sz="950" b="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64.9</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0.2%</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32.5</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32.5</a:t>
                      </a:r>
                    </a:p>
                  </a:txBody>
                  <a:tcPr marL="6350" marR="6350" marT="6350" marB="0" anchor="ctr">
                    <a:noFill/>
                  </a:tcPr>
                </a:tc>
                <a:extLst>
                  <a:ext uri="{0D108BD9-81ED-4DB2-BD59-A6C34878D82A}">
                    <a16:rowId xmlns:a16="http://schemas.microsoft.com/office/drawing/2014/main" val="10005"/>
                  </a:ext>
                </a:extLst>
              </a:tr>
              <a:tr h="141609">
                <a:tc>
                  <a:txBody>
                    <a:bodyPr/>
                    <a:lstStyle/>
                    <a:p>
                      <a:pPr algn="ctr" fontAlgn="ctr">
                        <a:buNone/>
                      </a:pPr>
                      <a:r>
                        <a:rPr lang="en-US" sz="950" b="0" i="0" u="none" strike="noStrike" dirty="0">
                          <a:solidFill>
                            <a:schemeClr val="bg1"/>
                          </a:solidFill>
                          <a:effectLst/>
                          <a:latin typeface="Arial" panose="020B0604020202020204" pitchFamily="34" charset="0"/>
                        </a:rPr>
                        <a:t>6</a:t>
                      </a:r>
                    </a:p>
                  </a:txBody>
                  <a:tcPr marL="6350" marR="6350" marT="6350" marB="0" anchor="ctr">
                    <a:noFill/>
                  </a:tcPr>
                </a:tc>
                <a:tc>
                  <a:txBody>
                    <a:bodyPr/>
                    <a:lstStyle/>
                    <a:p>
                      <a:pPr marL="73152" algn="l" fontAlgn="ctr">
                        <a:buNone/>
                      </a:pPr>
                      <a:r>
                        <a:rPr lang="mn-MN" sz="950" b="0" i="0" u="none" strike="noStrike" dirty="0">
                          <a:solidFill>
                            <a:schemeClr val="bg1"/>
                          </a:solidFill>
                          <a:effectLst/>
                          <a:latin typeface="Arial" panose="020B0604020202020204" pitchFamily="34" charset="0"/>
                        </a:rPr>
                        <a:t>Газар ашигласны төлбөр</a:t>
                      </a:r>
                    </a:p>
                  </a:txBody>
                  <a:tcPr marL="6350" marR="6350" marT="6350" marB="0" anchor="ctr">
                    <a:noFill/>
                  </a:tcPr>
                </a:tc>
                <a:tc>
                  <a:txBody>
                    <a:bodyPr/>
                    <a:lstStyle/>
                    <a:p>
                      <a:pPr marL="0" marR="0" indent="0" algn="ctr">
                        <a:spcBef>
                          <a:spcPts val="200"/>
                        </a:spcBef>
                        <a:spcAft>
                          <a:spcPts val="200"/>
                        </a:spcAft>
                        <a:buNone/>
                      </a:pPr>
                      <a:r>
                        <a:rPr lang="mn-MN" sz="950" b="0">
                          <a:solidFill>
                            <a:schemeClr val="bg1"/>
                          </a:solidFill>
                          <a:effectLst/>
                          <a:latin typeface="Arial" panose="020B0604020202020204" pitchFamily="34" charset="0"/>
                          <a:cs typeface="Arial" panose="020B0604020202020204" pitchFamily="34" charset="0"/>
                        </a:rPr>
                        <a:t>сая төг.</a:t>
                      </a:r>
                      <a:endParaRPr lang="en-US" sz="950" b="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954.9</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3.6%</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 </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954.9</a:t>
                      </a:r>
                    </a:p>
                  </a:txBody>
                  <a:tcPr marL="6350" marR="6350" marT="6350" marB="0" anchor="ctr">
                    <a:noFill/>
                  </a:tcPr>
                </a:tc>
                <a:extLst>
                  <a:ext uri="{0D108BD9-81ED-4DB2-BD59-A6C34878D82A}">
                    <a16:rowId xmlns:a16="http://schemas.microsoft.com/office/drawing/2014/main" val="10006"/>
                  </a:ext>
                </a:extLst>
              </a:tr>
              <a:tr h="283217">
                <a:tc>
                  <a:txBody>
                    <a:bodyPr/>
                    <a:lstStyle/>
                    <a:p>
                      <a:pPr algn="ctr" fontAlgn="ctr">
                        <a:buNone/>
                      </a:pPr>
                      <a:r>
                        <a:rPr lang="en-US" sz="950" b="0" i="0" u="none" strike="noStrike" dirty="0">
                          <a:solidFill>
                            <a:schemeClr val="bg1"/>
                          </a:solidFill>
                          <a:effectLst/>
                          <a:latin typeface="Arial" panose="020B0604020202020204" pitchFamily="34" charset="0"/>
                        </a:rPr>
                        <a:t>7</a:t>
                      </a:r>
                    </a:p>
                  </a:txBody>
                  <a:tcPr marL="6350" marR="6350" marT="6350" marB="0" anchor="ctr">
                    <a:noFill/>
                  </a:tcPr>
                </a:tc>
                <a:tc>
                  <a:txBody>
                    <a:bodyPr/>
                    <a:lstStyle/>
                    <a:p>
                      <a:pPr marL="73152" algn="l" fontAlgn="ctr">
                        <a:buNone/>
                      </a:pPr>
                      <a:r>
                        <a:rPr lang="mn-MN" sz="950" b="0" i="0" u="none" strike="noStrike" dirty="0">
                          <a:solidFill>
                            <a:schemeClr val="bg1"/>
                          </a:solidFill>
                          <a:effectLst/>
                          <a:latin typeface="Arial" panose="020B0604020202020204" pitchFamily="34" charset="0"/>
                        </a:rPr>
                        <a:t>АТБӨЯХ-ийн агаарын бохирдлын төлбөр</a:t>
                      </a:r>
                    </a:p>
                  </a:txBody>
                  <a:tcPr marL="6350" marR="6350" marT="6350" marB="0" anchor="ctr">
                    <a:noFill/>
                  </a:tcPr>
                </a:tc>
                <a:tc>
                  <a:txBody>
                    <a:bodyPr/>
                    <a:lstStyle/>
                    <a:p>
                      <a:pPr marL="0" marR="0" indent="0" algn="ctr">
                        <a:spcBef>
                          <a:spcPts val="200"/>
                        </a:spcBef>
                        <a:spcAft>
                          <a:spcPts val="200"/>
                        </a:spcAft>
                        <a:buNone/>
                      </a:pPr>
                      <a:r>
                        <a:rPr lang="mn-MN" sz="950" b="0">
                          <a:solidFill>
                            <a:schemeClr val="bg1"/>
                          </a:solidFill>
                          <a:effectLst/>
                          <a:latin typeface="Arial" panose="020B0604020202020204" pitchFamily="34" charset="0"/>
                          <a:cs typeface="Arial" panose="020B0604020202020204" pitchFamily="34" charset="0"/>
                        </a:rPr>
                        <a:t>сая төг.</a:t>
                      </a:r>
                      <a:endParaRPr lang="en-US" sz="950" b="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2.2</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0.0%</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 </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2.2</a:t>
                      </a:r>
                    </a:p>
                  </a:txBody>
                  <a:tcPr marL="6350" marR="6350" marT="6350" marB="0" anchor="ctr">
                    <a:noFill/>
                  </a:tcPr>
                </a:tc>
                <a:extLst>
                  <a:ext uri="{0D108BD9-81ED-4DB2-BD59-A6C34878D82A}">
                    <a16:rowId xmlns:a16="http://schemas.microsoft.com/office/drawing/2014/main" val="10007"/>
                  </a:ext>
                </a:extLst>
              </a:tr>
              <a:tr h="141609">
                <a:tc>
                  <a:txBody>
                    <a:bodyPr/>
                    <a:lstStyle/>
                    <a:p>
                      <a:pPr algn="ctr" fontAlgn="ctr">
                        <a:buNone/>
                      </a:pPr>
                      <a:r>
                        <a:rPr lang="en-US" sz="950" b="0" i="0" u="none" strike="noStrike" dirty="0">
                          <a:solidFill>
                            <a:schemeClr val="bg1"/>
                          </a:solidFill>
                          <a:effectLst/>
                          <a:latin typeface="Arial" panose="020B0604020202020204" pitchFamily="34" charset="0"/>
                        </a:rPr>
                        <a:t>8</a:t>
                      </a:r>
                    </a:p>
                  </a:txBody>
                  <a:tcPr marL="6350" marR="6350" marT="6350" marB="0" anchor="ctr">
                    <a:noFill/>
                  </a:tcPr>
                </a:tc>
                <a:tc>
                  <a:txBody>
                    <a:bodyPr/>
                    <a:lstStyle/>
                    <a:p>
                      <a:pPr marL="73152" algn="l" fontAlgn="ctr">
                        <a:buNone/>
                      </a:pPr>
                      <a:r>
                        <a:rPr lang="mn-MN" sz="950" b="0" i="0" u="none" strike="noStrike" dirty="0">
                          <a:solidFill>
                            <a:schemeClr val="bg1"/>
                          </a:solidFill>
                          <a:effectLst/>
                          <a:latin typeface="Arial" panose="020B0604020202020204" pitchFamily="34" charset="0"/>
                        </a:rPr>
                        <a:t>АТБӨЯХАТ</a:t>
                      </a:r>
                    </a:p>
                  </a:txBody>
                  <a:tcPr marL="6350" marR="6350" marT="6350" marB="0" anchor="ctr">
                    <a:noFill/>
                  </a:tcPr>
                </a:tc>
                <a:tc>
                  <a:txBody>
                    <a:bodyPr/>
                    <a:lstStyle/>
                    <a:p>
                      <a:pPr marL="0" marR="0" indent="0" algn="ctr">
                        <a:spcBef>
                          <a:spcPts val="200"/>
                        </a:spcBef>
                        <a:spcAft>
                          <a:spcPts val="200"/>
                        </a:spcAft>
                        <a:buNone/>
                      </a:pPr>
                      <a:r>
                        <a:rPr lang="mn-MN" sz="950" b="0">
                          <a:solidFill>
                            <a:schemeClr val="bg1"/>
                          </a:solidFill>
                          <a:effectLst/>
                          <a:latin typeface="Arial" panose="020B0604020202020204" pitchFamily="34" charset="0"/>
                          <a:cs typeface="Arial" panose="020B0604020202020204" pitchFamily="34" charset="0"/>
                        </a:rPr>
                        <a:t>сая төг.</a:t>
                      </a:r>
                      <a:endParaRPr lang="en-US" sz="950" b="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37.4</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0.1%</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 </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37.4</a:t>
                      </a:r>
                    </a:p>
                  </a:txBody>
                  <a:tcPr marL="6350" marR="6350" marT="6350" marB="0" anchor="ctr">
                    <a:noFill/>
                  </a:tcPr>
                </a:tc>
                <a:extLst>
                  <a:ext uri="{0D108BD9-81ED-4DB2-BD59-A6C34878D82A}">
                    <a16:rowId xmlns:a16="http://schemas.microsoft.com/office/drawing/2014/main" val="10008"/>
                  </a:ext>
                </a:extLst>
              </a:tr>
              <a:tr h="141609">
                <a:tc>
                  <a:txBody>
                    <a:bodyPr/>
                    <a:lstStyle/>
                    <a:p>
                      <a:pPr algn="ctr" fontAlgn="ctr">
                        <a:buNone/>
                      </a:pPr>
                      <a:r>
                        <a:rPr lang="en-US" sz="950" b="0" i="0" u="none" strike="noStrike" dirty="0">
                          <a:solidFill>
                            <a:schemeClr val="bg1"/>
                          </a:solidFill>
                          <a:effectLst/>
                          <a:latin typeface="Arial" panose="020B0604020202020204" pitchFamily="34" charset="0"/>
                        </a:rPr>
                        <a:t>9</a:t>
                      </a:r>
                    </a:p>
                  </a:txBody>
                  <a:tcPr marL="6350" marR="6350" marT="6350" marB="0" anchor="ctr">
                    <a:noFill/>
                  </a:tcPr>
                </a:tc>
                <a:tc>
                  <a:txBody>
                    <a:bodyPr/>
                    <a:lstStyle/>
                    <a:p>
                      <a:pPr marL="73152" algn="l" fontAlgn="ctr">
                        <a:buNone/>
                      </a:pPr>
                      <a:r>
                        <a:rPr lang="mn-MN" sz="950" b="0" i="0" u="none" strike="noStrike" dirty="0">
                          <a:solidFill>
                            <a:schemeClr val="bg1"/>
                          </a:solidFill>
                          <a:effectLst/>
                          <a:latin typeface="Arial" panose="020B0604020202020204" pitchFamily="34" charset="0"/>
                        </a:rPr>
                        <a:t>НДШ-хувь хүн</a:t>
                      </a:r>
                    </a:p>
                  </a:txBody>
                  <a:tcPr marL="6350" marR="6350" marT="6350" marB="0" anchor="ctr">
                    <a:noFill/>
                  </a:tcPr>
                </a:tc>
                <a:tc>
                  <a:txBody>
                    <a:bodyPr/>
                    <a:lstStyle/>
                    <a:p>
                      <a:pPr marL="0" marR="0" indent="0" algn="ctr">
                        <a:spcBef>
                          <a:spcPts val="200"/>
                        </a:spcBef>
                        <a:spcAft>
                          <a:spcPts val="200"/>
                        </a:spcAft>
                        <a:buNone/>
                      </a:pPr>
                      <a:r>
                        <a:rPr lang="mn-MN" sz="950" b="0">
                          <a:solidFill>
                            <a:schemeClr val="bg1"/>
                          </a:solidFill>
                          <a:effectLst/>
                          <a:latin typeface="Arial" panose="020B0604020202020204" pitchFamily="34" charset="0"/>
                          <a:cs typeface="Arial" panose="020B0604020202020204" pitchFamily="34" charset="0"/>
                        </a:rPr>
                        <a:t>сая төг.</a:t>
                      </a:r>
                      <a:endParaRPr lang="en-US" sz="950" b="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2,134.8</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8.0%</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 </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2,134.8</a:t>
                      </a:r>
                    </a:p>
                  </a:txBody>
                  <a:tcPr marL="6350" marR="6350" marT="6350" marB="0" anchor="ctr">
                    <a:noFill/>
                  </a:tcPr>
                </a:tc>
                <a:extLst>
                  <a:ext uri="{0D108BD9-81ED-4DB2-BD59-A6C34878D82A}">
                    <a16:rowId xmlns:a16="http://schemas.microsoft.com/office/drawing/2014/main" val="10009"/>
                  </a:ext>
                </a:extLst>
              </a:tr>
              <a:tr h="141609">
                <a:tc>
                  <a:txBody>
                    <a:bodyPr/>
                    <a:lstStyle/>
                    <a:p>
                      <a:pPr algn="ctr" fontAlgn="ctr">
                        <a:buNone/>
                      </a:pPr>
                      <a:r>
                        <a:rPr lang="en-US" sz="950" b="0" i="0" u="none" strike="noStrike" dirty="0">
                          <a:solidFill>
                            <a:schemeClr val="bg1"/>
                          </a:solidFill>
                          <a:effectLst/>
                          <a:latin typeface="Arial" panose="020B0604020202020204" pitchFamily="34" charset="0"/>
                        </a:rPr>
                        <a:t>10</a:t>
                      </a:r>
                    </a:p>
                  </a:txBody>
                  <a:tcPr marL="6350" marR="6350" marT="6350" marB="0" anchor="ctr">
                    <a:noFill/>
                  </a:tcPr>
                </a:tc>
                <a:tc>
                  <a:txBody>
                    <a:bodyPr/>
                    <a:lstStyle/>
                    <a:p>
                      <a:pPr marL="73152" algn="l" fontAlgn="ctr">
                        <a:buNone/>
                      </a:pPr>
                      <a:r>
                        <a:rPr lang="mn-MN" sz="950" b="0" i="0" u="none" strike="noStrike" dirty="0">
                          <a:solidFill>
                            <a:schemeClr val="bg1"/>
                          </a:solidFill>
                          <a:effectLst/>
                          <a:latin typeface="Arial" panose="020B0604020202020204" pitchFamily="34" charset="0"/>
                        </a:rPr>
                        <a:t>НДШ-байгууллага</a:t>
                      </a:r>
                    </a:p>
                  </a:txBody>
                  <a:tcPr marL="6350" marR="6350" marT="6350" marB="0" anchor="ctr">
                    <a:noFill/>
                  </a:tcPr>
                </a:tc>
                <a:tc>
                  <a:txBody>
                    <a:bodyPr/>
                    <a:lstStyle/>
                    <a:p>
                      <a:pPr marL="0" marR="0" indent="0" algn="ctr">
                        <a:spcBef>
                          <a:spcPts val="200"/>
                        </a:spcBef>
                        <a:spcAft>
                          <a:spcPts val="200"/>
                        </a:spcAft>
                        <a:buNone/>
                      </a:pPr>
                      <a:r>
                        <a:rPr lang="mn-MN" sz="950" b="0">
                          <a:solidFill>
                            <a:schemeClr val="bg1"/>
                          </a:solidFill>
                          <a:effectLst/>
                          <a:latin typeface="Arial" panose="020B0604020202020204" pitchFamily="34" charset="0"/>
                          <a:cs typeface="Arial" panose="020B0604020202020204" pitchFamily="34" charset="0"/>
                        </a:rPr>
                        <a:t>сая төг.</a:t>
                      </a:r>
                      <a:endParaRPr lang="en-US" sz="950" b="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2,691.7</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10.1%</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 </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2,691.7</a:t>
                      </a:r>
                    </a:p>
                  </a:txBody>
                  <a:tcPr marL="6350" marR="6350" marT="6350" marB="0" anchor="ctr">
                    <a:noFill/>
                  </a:tcPr>
                </a:tc>
                <a:extLst>
                  <a:ext uri="{0D108BD9-81ED-4DB2-BD59-A6C34878D82A}">
                    <a16:rowId xmlns:a16="http://schemas.microsoft.com/office/drawing/2014/main" val="10010"/>
                  </a:ext>
                </a:extLst>
              </a:tr>
              <a:tr h="141609">
                <a:tc>
                  <a:txBody>
                    <a:bodyPr/>
                    <a:lstStyle/>
                    <a:p>
                      <a:pPr algn="ctr" fontAlgn="ctr">
                        <a:buNone/>
                      </a:pPr>
                      <a:r>
                        <a:rPr lang="en-US" sz="950" b="0" i="0" u="none" strike="noStrike" dirty="0">
                          <a:solidFill>
                            <a:schemeClr val="bg1"/>
                          </a:solidFill>
                          <a:effectLst/>
                          <a:latin typeface="Arial" panose="020B0604020202020204" pitchFamily="34" charset="0"/>
                        </a:rPr>
                        <a:t>11</a:t>
                      </a:r>
                    </a:p>
                  </a:txBody>
                  <a:tcPr marL="6350" marR="6350" marT="6350" marB="0" anchor="ctr">
                    <a:noFill/>
                  </a:tcPr>
                </a:tc>
                <a:tc>
                  <a:txBody>
                    <a:bodyPr/>
                    <a:lstStyle/>
                    <a:p>
                      <a:pPr marL="73152" algn="l" fontAlgn="ctr">
                        <a:buNone/>
                      </a:pPr>
                      <a:r>
                        <a:rPr lang="mn-MN" sz="950" b="0" i="0" u="none" strike="noStrike" dirty="0">
                          <a:solidFill>
                            <a:schemeClr val="bg1"/>
                          </a:solidFill>
                          <a:effectLst/>
                          <a:latin typeface="Arial" panose="020B0604020202020204" pitchFamily="34" charset="0"/>
                        </a:rPr>
                        <a:t>ХХОАТ</a:t>
                      </a:r>
                    </a:p>
                  </a:txBody>
                  <a:tcPr marL="6350" marR="6350" marT="6350" marB="0" anchor="ctr">
                    <a:noFill/>
                  </a:tcPr>
                </a:tc>
                <a:tc>
                  <a:txBody>
                    <a:bodyPr/>
                    <a:lstStyle/>
                    <a:p>
                      <a:pPr marL="0" marR="0" indent="0" algn="ctr">
                        <a:spcBef>
                          <a:spcPts val="200"/>
                        </a:spcBef>
                        <a:spcAft>
                          <a:spcPts val="200"/>
                        </a:spcAft>
                        <a:buNone/>
                      </a:pPr>
                      <a:r>
                        <a:rPr lang="mn-MN" sz="950" b="0">
                          <a:solidFill>
                            <a:schemeClr val="bg1"/>
                          </a:solidFill>
                          <a:effectLst/>
                          <a:latin typeface="Arial" panose="020B0604020202020204" pitchFamily="34" charset="0"/>
                          <a:cs typeface="Arial" panose="020B0604020202020204" pitchFamily="34" charset="0"/>
                        </a:rPr>
                        <a:t>сая төг.</a:t>
                      </a:r>
                      <a:endParaRPr lang="en-US" sz="950" b="0">
                        <a:solidFill>
                          <a:schemeClr val="bg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1,600.8</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6.0%</a:t>
                      </a:r>
                    </a:p>
                  </a:txBody>
                  <a:tcPr marL="6350" marR="6350" marT="6350" marB="0" anchor="ctr">
                    <a:noFill/>
                  </a:tcPr>
                </a:tc>
                <a:tc>
                  <a:txBody>
                    <a:bodyPr/>
                    <a:lstStyle/>
                    <a:p>
                      <a:pPr algn="ctr" fontAlgn="ctr">
                        <a:buNone/>
                      </a:pPr>
                      <a:r>
                        <a:rPr lang="en-US" sz="950" b="0" i="0" u="none" strike="noStrike">
                          <a:solidFill>
                            <a:schemeClr val="bg1"/>
                          </a:solidFill>
                          <a:effectLst/>
                          <a:latin typeface="Arial" panose="020B0604020202020204" pitchFamily="34" charset="0"/>
                        </a:rPr>
                        <a:t>1,600.8</a:t>
                      </a:r>
                    </a:p>
                  </a:txBody>
                  <a:tcPr marL="6350" marR="6350" marT="6350" marB="0" anchor="ctr">
                    <a:noFill/>
                  </a:tcPr>
                </a:tc>
                <a:tc>
                  <a:txBody>
                    <a:bodyPr/>
                    <a:lstStyle/>
                    <a:p>
                      <a:pPr algn="ctr" fontAlgn="ctr">
                        <a:buNone/>
                      </a:pPr>
                      <a:r>
                        <a:rPr lang="en-US" sz="950" b="0" i="0" u="none" strike="noStrike" dirty="0">
                          <a:solidFill>
                            <a:schemeClr val="bg1"/>
                          </a:solidFill>
                          <a:effectLst/>
                          <a:latin typeface="Arial" panose="020B0604020202020204" pitchFamily="34" charset="0"/>
                        </a:rPr>
                        <a:t> </a:t>
                      </a:r>
                    </a:p>
                  </a:txBody>
                  <a:tcPr marL="6350" marR="6350" marT="6350" marB="0" anchor="ctr">
                    <a:noFill/>
                  </a:tcPr>
                </a:tc>
                <a:extLst>
                  <a:ext uri="{0D108BD9-81ED-4DB2-BD59-A6C34878D82A}">
                    <a16:rowId xmlns:a16="http://schemas.microsoft.com/office/drawing/2014/main" val="10011"/>
                  </a:ext>
                </a:extLst>
              </a:tr>
              <a:tr h="141609">
                <a:tc gridSpan="2">
                  <a:txBody>
                    <a:bodyPr/>
                    <a:lstStyle/>
                    <a:p>
                      <a:pPr marL="0" marR="0" indent="0" algn="ctr">
                        <a:spcBef>
                          <a:spcPts val="200"/>
                        </a:spcBef>
                        <a:spcAft>
                          <a:spcPts val="200"/>
                        </a:spcAft>
                        <a:buNone/>
                      </a:pPr>
                      <a:r>
                        <a:rPr lang="mn-MN" sz="950" b="1" dirty="0">
                          <a:solidFill>
                            <a:schemeClr val="tx1"/>
                          </a:solidFill>
                          <a:effectLst/>
                          <a:latin typeface="Arial" panose="020B0604020202020204" pitchFamily="34" charset="0"/>
                          <a:cs typeface="Arial" panose="020B0604020202020204" pitchFamily="34" charset="0"/>
                        </a:rPr>
                        <a:t>Нийт</a:t>
                      </a:r>
                      <a:endParaRPr lang="en-US" sz="95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tc hMerge="1">
                  <a:txBody>
                    <a:bodyPr/>
                    <a:lstStyle/>
                    <a:p>
                      <a:endParaRPr lang="en-US"/>
                    </a:p>
                  </a:txBody>
                  <a:tcPr/>
                </a:tc>
                <a:tc>
                  <a:txBody>
                    <a:bodyPr/>
                    <a:lstStyle/>
                    <a:p>
                      <a:pPr marL="0" marR="0" indent="0" algn="ctr">
                        <a:spcBef>
                          <a:spcPts val="200"/>
                        </a:spcBef>
                        <a:spcAft>
                          <a:spcPts val="200"/>
                        </a:spcAft>
                        <a:buNone/>
                      </a:pPr>
                      <a:r>
                        <a:rPr lang="mn-MN" sz="950" b="1" dirty="0">
                          <a:solidFill>
                            <a:schemeClr val="tx1"/>
                          </a:solidFill>
                          <a:effectLst/>
                          <a:latin typeface="Arial" panose="020B0604020202020204" pitchFamily="34" charset="0"/>
                          <a:cs typeface="Arial" panose="020B0604020202020204" pitchFamily="34" charset="0"/>
                        </a:rPr>
                        <a:t>сая төг.</a:t>
                      </a:r>
                      <a:endParaRPr lang="en-US" sz="95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45720" marR="45720" marT="0" marB="0" anchor="ctr">
                    <a:solidFill>
                      <a:srgbClr val="FFFF00"/>
                    </a:solidFill>
                  </a:tcPr>
                </a:tc>
                <a:tc>
                  <a:txBody>
                    <a:bodyPr/>
                    <a:lstStyle/>
                    <a:p>
                      <a:pPr algn="ctr" fontAlgn="ctr">
                        <a:buNone/>
                      </a:pPr>
                      <a:r>
                        <a:rPr lang="en-US" sz="950" b="1" i="0" u="none" strike="noStrike" dirty="0">
                          <a:solidFill>
                            <a:schemeClr val="tx1"/>
                          </a:solidFill>
                          <a:effectLst/>
                          <a:latin typeface="Arial" panose="020B0604020202020204" pitchFamily="34" charset="0"/>
                        </a:rPr>
                        <a:t>26,624.3</a:t>
                      </a:r>
                    </a:p>
                  </a:txBody>
                  <a:tcPr marL="6350" marR="6350" marT="6350" marB="0" anchor="ctr">
                    <a:solidFill>
                      <a:srgbClr val="FFFF00"/>
                    </a:solidFill>
                  </a:tcPr>
                </a:tc>
                <a:tc>
                  <a:txBody>
                    <a:bodyPr/>
                    <a:lstStyle/>
                    <a:p>
                      <a:pPr algn="ctr" fontAlgn="ctr">
                        <a:buNone/>
                      </a:pPr>
                      <a:r>
                        <a:rPr lang="en-US" sz="950" b="1" i="0" u="none" strike="noStrike">
                          <a:solidFill>
                            <a:schemeClr val="tx1"/>
                          </a:solidFill>
                          <a:effectLst/>
                          <a:latin typeface="Arial" panose="020B0604020202020204" pitchFamily="34" charset="0"/>
                        </a:rPr>
                        <a:t>100%</a:t>
                      </a:r>
                    </a:p>
                  </a:txBody>
                  <a:tcPr marL="6350" marR="6350" marT="6350" marB="0" anchor="ctr">
                    <a:solidFill>
                      <a:srgbClr val="FFFF00"/>
                    </a:solidFill>
                  </a:tcPr>
                </a:tc>
                <a:tc>
                  <a:txBody>
                    <a:bodyPr/>
                    <a:lstStyle/>
                    <a:p>
                      <a:pPr algn="ctr" fontAlgn="ctr">
                        <a:buNone/>
                      </a:pPr>
                      <a:r>
                        <a:rPr lang="en-US" sz="950" b="1" i="0" u="none" strike="noStrike" dirty="0">
                          <a:solidFill>
                            <a:schemeClr val="tx1"/>
                          </a:solidFill>
                          <a:effectLst/>
                          <a:latin typeface="Arial" panose="020B0604020202020204" pitchFamily="34" charset="0"/>
                        </a:rPr>
                        <a:t>18,109.4</a:t>
                      </a:r>
                    </a:p>
                  </a:txBody>
                  <a:tcPr marL="6350" marR="6350" marT="6350" marB="0" anchor="ctr">
                    <a:solidFill>
                      <a:srgbClr val="FFFF00"/>
                    </a:solidFill>
                  </a:tcPr>
                </a:tc>
                <a:tc>
                  <a:txBody>
                    <a:bodyPr/>
                    <a:lstStyle/>
                    <a:p>
                      <a:pPr algn="ctr" fontAlgn="ctr">
                        <a:buNone/>
                      </a:pPr>
                      <a:r>
                        <a:rPr lang="en-US" sz="950" b="1" i="0" u="none" strike="noStrike" dirty="0">
                          <a:solidFill>
                            <a:schemeClr val="tx1"/>
                          </a:solidFill>
                          <a:effectLst/>
                          <a:latin typeface="Arial" panose="020B0604020202020204" pitchFamily="34" charset="0"/>
                        </a:rPr>
                        <a:t>8,514.9</a:t>
                      </a:r>
                    </a:p>
                  </a:txBody>
                  <a:tcPr marL="6350" marR="6350" marT="6350" marB="0" anchor="ctr">
                    <a:solidFill>
                      <a:srgbClr val="FFFF00"/>
                    </a:solidFill>
                  </a:tcPr>
                </a:tc>
                <a:extLst>
                  <a:ext uri="{0D108BD9-81ED-4DB2-BD59-A6C34878D82A}">
                    <a16:rowId xmlns:a16="http://schemas.microsoft.com/office/drawing/2014/main" val="10012"/>
                  </a:ext>
                </a:extLst>
              </a:tr>
            </a:tbl>
          </a:graphicData>
        </a:graphic>
      </p:graphicFrame>
      <p:graphicFrame>
        <p:nvGraphicFramePr>
          <p:cNvPr id="3" name="Chart 2">
            <a:extLst>
              <a:ext uri="{FF2B5EF4-FFF2-40B4-BE49-F238E27FC236}">
                <a16:creationId xmlns:a16="http://schemas.microsoft.com/office/drawing/2014/main" id="{2C378339-D542-4D90-8F3B-6EA0C7495A74}"/>
              </a:ext>
            </a:extLst>
          </p:cNvPr>
          <p:cNvGraphicFramePr>
            <a:graphicFrameLocks/>
          </p:cNvGraphicFramePr>
          <p:nvPr/>
        </p:nvGraphicFramePr>
        <p:xfrm>
          <a:off x="8491229" y="2232583"/>
          <a:ext cx="3192771" cy="227251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D47329BA-DB60-5960-602B-23E477D06A1C}"/>
              </a:ext>
            </a:extLst>
          </p:cNvPr>
          <p:cNvGraphicFramePr>
            <a:graphicFrameLocks/>
          </p:cNvGraphicFramePr>
          <p:nvPr/>
        </p:nvGraphicFramePr>
        <p:xfrm>
          <a:off x="639761" y="4783425"/>
          <a:ext cx="10912477" cy="1637969"/>
        </p:xfrm>
        <a:graphic>
          <a:graphicData uri="http://schemas.openxmlformats.org/drawingml/2006/chart">
            <c:chart xmlns:c="http://schemas.openxmlformats.org/drawingml/2006/chart" xmlns:r="http://schemas.openxmlformats.org/officeDocument/2006/relationships" r:id="rId4"/>
          </a:graphicData>
        </a:graphic>
      </p:graphicFrame>
      <p:pic>
        <p:nvPicPr>
          <p:cNvPr id="16" name="Picture 15">
            <a:extLst>
              <a:ext uri="{FF2B5EF4-FFF2-40B4-BE49-F238E27FC236}">
                <a16:creationId xmlns:a16="http://schemas.microsoft.com/office/drawing/2014/main" id="{287635C1-0CDD-4BAE-BBA4-67DC09A39FED}"/>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351924" y="574105"/>
            <a:ext cx="7714493" cy="56798"/>
          </a:xfrm>
          <a:prstGeom prst="rect">
            <a:avLst/>
          </a:prstGeom>
          <a:noFill/>
          <a:ln>
            <a:noFill/>
          </a:ln>
        </p:spPr>
      </p:pic>
    </p:spTree>
    <p:extLst>
      <p:ext uri="{BB962C8B-B14F-4D97-AF65-F5344CB8AC3E}">
        <p14:creationId xmlns:p14="http://schemas.microsoft.com/office/powerpoint/2010/main" val="1174129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BFA43-6AB9-2068-E939-79E17D8EF6F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6F083DD-DF33-D1CA-0626-24CF6A40ACCC}"/>
              </a:ext>
            </a:extLst>
          </p:cNvPr>
          <p:cNvSpPr/>
          <p:nvPr/>
        </p:nvSpPr>
        <p:spPr>
          <a:xfrm>
            <a:off x="0" y="2999"/>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solidFill>
            <a:srgbClr val="242223"/>
          </a:solidFill>
        </p:spPr>
        <p:txBody>
          <a:bodyPr/>
          <a:lstStyle/>
          <a:p>
            <a:endParaRPr lang="en-US" dirty="0"/>
          </a:p>
        </p:txBody>
      </p:sp>
      <p:sp>
        <p:nvSpPr>
          <p:cNvPr id="30" name="TextBox 10">
            <a:extLst>
              <a:ext uri="{FF2B5EF4-FFF2-40B4-BE49-F238E27FC236}">
                <a16:creationId xmlns:a16="http://schemas.microsoft.com/office/drawing/2014/main" id="{B3320047-1915-505A-3577-846C22ACC1B9}"/>
              </a:ext>
            </a:extLst>
          </p:cNvPr>
          <p:cNvSpPr txBox="1"/>
          <p:nvPr/>
        </p:nvSpPr>
        <p:spPr>
          <a:xfrm>
            <a:off x="333456" y="2999"/>
            <a:ext cx="8890001" cy="539507"/>
          </a:xfrm>
          <a:prstGeom prst="rect">
            <a:avLst/>
          </a:prstGeom>
        </p:spPr>
        <p:txBody>
          <a:bodyPr wrap="square" lIns="0" tIns="0" rIns="0" bIns="0" rtlCol="0" anchor="t">
            <a:spAutoFit/>
          </a:bodyPr>
          <a:lstStyle/>
          <a:p>
            <a:pPr algn="l">
              <a:lnSpc>
                <a:spcPts val="4767"/>
              </a:lnSpc>
            </a:pPr>
            <a:r>
              <a:rPr lang="mn-MN" sz="2650" b="1" dirty="0">
                <a:solidFill>
                  <a:schemeClr val="bg1"/>
                </a:solidFill>
                <a:latin typeface="Arial" panose="020B0604020202020204" pitchFamily="34" charset="0"/>
                <a:ea typeface="Inter Bold"/>
                <a:cs typeface="Arial" panose="020B0604020202020204" pitchFamily="34" charset="0"/>
                <a:sym typeface="Inter Bold"/>
              </a:rPr>
              <a:t>Төслийн үр ашгийн үзүүлэлтүүд</a:t>
            </a:r>
            <a:endParaRPr lang="en-US" sz="2650" b="1" dirty="0">
              <a:solidFill>
                <a:schemeClr val="bg1"/>
              </a:solidFill>
              <a:latin typeface="Arial" panose="020B0604020202020204" pitchFamily="34" charset="0"/>
              <a:ea typeface="Inter Bold"/>
              <a:cs typeface="Arial" panose="020B0604020202020204" pitchFamily="34" charset="0"/>
              <a:sym typeface="Inter Bold"/>
            </a:endParaRPr>
          </a:p>
        </p:txBody>
      </p:sp>
      <p:grpSp>
        <p:nvGrpSpPr>
          <p:cNvPr id="49" name="Group 48">
            <a:extLst>
              <a:ext uri="{FF2B5EF4-FFF2-40B4-BE49-F238E27FC236}">
                <a16:creationId xmlns:a16="http://schemas.microsoft.com/office/drawing/2014/main" id="{1DD2416C-50CE-9E33-2310-578E534E5C2E}"/>
              </a:ext>
            </a:extLst>
          </p:cNvPr>
          <p:cNvGrpSpPr/>
          <p:nvPr/>
        </p:nvGrpSpPr>
        <p:grpSpPr>
          <a:xfrm>
            <a:off x="692231" y="872824"/>
            <a:ext cx="10896067" cy="871291"/>
            <a:chOff x="1038346" y="1309236"/>
            <a:chExt cx="16344100" cy="1306936"/>
          </a:xfrm>
        </p:grpSpPr>
        <p:sp>
          <p:nvSpPr>
            <p:cNvPr id="11" name="TextBox 10">
              <a:extLst>
                <a:ext uri="{FF2B5EF4-FFF2-40B4-BE49-F238E27FC236}">
                  <a16:creationId xmlns:a16="http://schemas.microsoft.com/office/drawing/2014/main" id="{0FE36C30-DCC0-517F-A6AE-03B7A1ED54F6}"/>
                </a:ext>
              </a:extLst>
            </p:cNvPr>
            <p:cNvSpPr txBox="1"/>
            <p:nvPr/>
          </p:nvSpPr>
          <p:spPr>
            <a:xfrm>
              <a:off x="1038346" y="1309236"/>
              <a:ext cx="2913850" cy="707886"/>
            </a:xfrm>
            <a:prstGeom prst="rect">
              <a:avLst/>
            </a:prstGeom>
            <a:noFill/>
          </p:spPr>
          <p:txBody>
            <a:bodyPr wrap="square">
              <a:spAutoFit/>
            </a:bodyPr>
            <a:lstStyle/>
            <a:p>
              <a:pPr algn="ctr"/>
              <a:r>
                <a:rPr lang="mn-MN" sz="1350" b="1" i="1" dirty="0">
                  <a:solidFill>
                    <a:schemeClr val="bg1"/>
                  </a:solidFill>
                  <a:latin typeface="Arial" panose="020B0604020202020204" pitchFamily="34" charset="0"/>
                  <a:cs typeface="Arial" panose="020B0604020202020204" pitchFamily="34" charset="0"/>
                </a:rPr>
                <a:t>Борлуулалтын орлого</a:t>
              </a:r>
            </a:p>
          </p:txBody>
        </p:sp>
        <p:sp>
          <p:nvSpPr>
            <p:cNvPr id="12" name="TextBox 11">
              <a:extLst>
                <a:ext uri="{FF2B5EF4-FFF2-40B4-BE49-F238E27FC236}">
                  <a16:creationId xmlns:a16="http://schemas.microsoft.com/office/drawing/2014/main" id="{F16FEBF2-EFED-322A-7B2B-2C556D925B88}"/>
                </a:ext>
              </a:extLst>
            </p:cNvPr>
            <p:cNvSpPr txBox="1"/>
            <p:nvPr/>
          </p:nvSpPr>
          <p:spPr>
            <a:xfrm>
              <a:off x="5332851" y="1514695"/>
              <a:ext cx="1972145" cy="400110"/>
            </a:xfrm>
            <a:prstGeom prst="rect">
              <a:avLst/>
            </a:prstGeom>
            <a:noFill/>
          </p:spPr>
          <p:txBody>
            <a:bodyPr wrap="square">
              <a:spAutoFit/>
            </a:bodyPr>
            <a:lstStyle/>
            <a:p>
              <a:pPr algn="just"/>
              <a:r>
                <a:rPr lang="mn-MN" sz="1350" b="1" i="1" dirty="0">
                  <a:solidFill>
                    <a:schemeClr val="bg1"/>
                  </a:solidFill>
                  <a:latin typeface="Arial" panose="020B0604020202020204" pitchFamily="34" charset="0"/>
                  <a:cs typeface="Arial" panose="020B0604020202020204" pitchFamily="34" charset="0"/>
                </a:rPr>
                <a:t>Нийт зардал</a:t>
              </a:r>
            </a:p>
          </p:txBody>
        </p:sp>
        <p:sp>
          <p:nvSpPr>
            <p:cNvPr id="13" name="TextBox 12">
              <a:extLst>
                <a:ext uri="{FF2B5EF4-FFF2-40B4-BE49-F238E27FC236}">
                  <a16:creationId xmlns:a16="http://schemas.microsoft.com/office/drawing/2014/main" id="{0C59007A-D75A-EE36-69B9-CAA284A92A2A}"/>
                </a:ext>
              </a:extLst>
            </p:cNvPr>
            <p:cNvSpPr txBox="1"/>
            <p:nvPr/>
          </p:nvSpPr>
          <p:spPr>
            <a:xfrm>
              <a:off x="8695176" y="1309236"/>
              <a:ext cx="1972145" cy="707886"/>
            </a:xfrm>
            <a:prstGeom prst="rect">
              <a:avLst/>
            </a:prstGeom>
            <a:noFill/>
          </p:spPr>
          <p:txBody>
            <a:bodyPr wrap="square">
              <a:spAutoFit/>
            </a:bodyPr>
            <a:lstStyle/>
            <a:p>
              <a:pPr algn="ctr"/>
              <a:r>
                <a:rPr lang="mn-MN" sz="1350" b="1" i="1" dirty="0">
                  <a:solidFill>
                    <a:schemeClr val="bg1"/>
                  </a:solidFill>
                  <a:latin typeface="Arial" panose="020B0604020202020204" pitchFamily="34" charset="0"/>
                  <a:cs typeface="Arial" panose="020B0604020202020204" pitchFamily="34" charset="0"/>
                </a:rPr>
                <a:t>Татварын өмнөх ашиг</a:t>
              </a:r>
            </a:p>
          </p:txBody>
        </p:sp>
        <p:sp>
          <p:nvSpPr>
            <p:cNvPr id="14" name="TextBox 13">
              <a:extLst>
                <a:ext uri="{FF2B5EF4-FFF2-40B4-BE49-F238E27FC236}">
                  <a16:creationId xmlns:a16="http://schemas.microsoft.com/office/drawing/2014/main" id="{63AED334-B63E-2190-1162-9FE804D7DDD5}"/>
                </a:ext>
              </a:extLst>
            </p:cNvPr>
            <p:cNvSpPr txBox="1"/>
            <p:nvPr/>
          </p:nvSpPr>
          <p:spPr>
            <a:xfrm>
              <a:off x="12012036" y="1465838"/>
              <a:ext cx="1972145" cy="400110"/>
            </a:xfrm>
            <a:prstGeom prst="rect">
              <a:avLst/>
            </a:prstGeom>
            <a:noFill/>
          </p:spPr>
          <p:txBody>
            <a:bodyPr wrap="square">
              <a:spAutoFit/>
            </a:bodyPr>
            <a:lstStyle/>
            <a:p>
              <a:pPr algn="just"/>
              <a:r>
                <a:rPr lang="mn-MN" sz="1350" b="1" i="1" dirty="0">
                  <a:solidFill>
                    <a:schemeClr val="bg1"/>
                  </a:solidFill>
                  <a:latin typeface="Arial" panose="020B0604020202020204" pitchFamily="34" charset="0"/>
                  <a:cs typeface="Arial" panose="020B0604020202020204" pitchFamily="34" charset="0"/>
                </a:rPr>
                <a:t>Цэвэр ашиг</a:t>
              </a:r>
            </a:p>
          </p:txBody>
        </p:sp>
        <p:sp>
          <p:nvSpPr>
            <p:cNvPr id="15" name="TextBox 14">
              <a:extLst>
                <a:ext uri="{FF2B5EF4-FFF2-40B4-BE49-F238E27FC236}">
                  <a16:creationId xmlns:a16="http://schemas.microsoft.com/office/drawing/2014/main" id="{1C77EBDA-99C6-0619-CF50-D3778691AD8C}"/>
                </a:ext>
              </a:extLst>
            </p:cNvPr>
            <p:cNvSpPr txBox="1"/>
            <p:nvPr/>
          </p:nvSpPr>
          <p:spPr>
            <a:xfrm>
              <a:off x="15410301" y="1507997"/>
              <a:ext cx="1972145" cy="400110"/>
            </a:xfrm>
            <a:prstGeom prst="rect">
              <a:avLst/>
            </a:prstGeom>
            <a:noFill/>
          </p:spPr>
          <p:txBody>
            <a:bodyPr wrap="square">
              <a:spAutoFit/>
            </a:bodyPr>
            <a:lstStyle/>
            <a:p>
              <a:pPr algn="just"/>
              <a:r>
                <a:rPr lang="mn-MN" sz="1350" b="1" i="1" dirty="0">
                  <a:solidFill>
                    <a:schemeClr val="bg1"/>
                  </a:solidFill>
                  <a:latin typeface="Arial" panose="020B0604020202020204" pitchFamily="34" charset="0"/>
                  <a:cs typeface="Arial" panose="020B0604020202020204" pitchFamily="34" charset="0"/>
                </a:rPr>
                <a:t>ҮАМУ</a:t>
              </a:r>
            </a:p>
          </p:txBody>
        </p:sp>
        <p:sp>
          <p:nvSpPr>
            <p:cNvPr id="16" name="TextBox 15">
              <a:extLst>
                <a:ext uri="{FF2B5EF4-FFF2-40B4-BE49-F238E27FC236}">
                  <a16:creationId xmlns:a16="http://schemas.microsoft.com/office/drawing/2014/main" id="{B1E99F54-D3D8-CCCD-FC0B-9458CE68E6E6}"/>
                </a:ext>
              </a:extLst>
            </p:cNvPr>
            <p:cNvSpPr txBox="1"/>
            <p:nvPr/>
          </p:nvSpPr>
          <p:spPr>
            <a:xfrm>
              <a:off x="4818923" y="2239169"/>
              <a:ext cx="3000000" cy="369332"/>
            </a:xfrm>
            <a:prstGeom prst="rect">
              <a:avLst/>
            </a:prstGeom>
            <a:noFill/>
          </p:spPr>
          <p:txBody>
            <a:bodyPr wrap="square">
              <a:spAutoFit/>
            </a:bodyPr>
            <a:lstStyle/>
            <a:p>
              <a:pPr algn="just"/>
              <a:r>
                <a:rPr lang="mn-MN" b="1" dirty="0">
                  <a:solidFill>
                    <a:schemeClr val="bg1"/>
                  </a:solidFill>
                  <a:latin typeface="Arial" panose="020B0604020202020204" pitchFamily="34" charset="0"/>
                  <a:cs typeface="Arial" panose="020B0604020202020204" pitchFamily="34" charset="0"/>
                </a:rPr>
                <a:t>87.3 тэрбум</a:t>
              </a:r>
              <a:endParaRPr lang="en-US" b="1" dirty="0">
                <a:solidFill>
                  <a:schemeClr val="bg1"/>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D634471-6100-4EBF-CAD6-4ADD9F0D8DB9}"/>
                </a:ext>
              </a:extLst>
            </p:cNvPr>
            <p:cNvSpPr txBox="1"/>
            <p:nvPr/>
          </p:nvSpPr>
          <p:spPr>
            <a:xfrm>
              <a:off x="8181248" y="2239169"/>
              <a:ext cx="3000000" cy="369332"/>
            </a:xfrm>
            <a:prstGeom prst="rect">
              <a:avLst/>
            </a:prstGeom>
            <a:noFill/>
          </p:spPr>
          <p:txBody>
            <a:bodyPr wrap="square">
              <a:spAutoFit/>
            </a:bodyPr>
            <a:lstStyle/>
            <a:p>
              <a:pPr algn="just"/>
              <a:r>
                <a:rPr lang="mn-MN" b="1" dirty="0">
                  <a:solidFill>
                    <a:schemeClr val="bg1"/>
                  </a:solidFill>
                  <a:latin typeface="Arial" panose="020B0604020202020204" pitchFamily="34" charset="0"/>
                  <a:cs typeface="Arial" panose="020B0604020202020204" pitchFamily="34" charset="0"/>
                </a:rPr>
                <a:t>40.4 тэрбум</a:t>
              </a:r>
            </a:p>
          </p:txBody>
        </p:sp>
        <p:sp>
          <p:nvSpPr>
            <p:cNvPr id="18" name="Rectangle 17">
              <a:extLst>
                <a:ext uri="{FF2B5EF4-FFF2-40B4-BE49-F238E27FC236}">
                  <a16:creationId xmlns:a16="http://schemas.microsoft.com/office/drawing/2014/main" id="{B551442E-C3EC-3B63-88A9-1E945E72B67E}"/>
                </a:ext>
              </a:extLst>
            </p:cNvPr>
            <p:cNvSpPr/>
            <p:nvPr/>
          </p:nvSpPr>
          <p:spPr>
            <a:xfrm>
              <a:off x="4130734" y="1990477"/>
              <a:ext cx="493819" cy="12651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Equals 18">
              <a:extLst>
                <a:ext uri="{FF2B5EF4-FFF2-40B4-BE49-F238E27FC236}">
                  <a16:creationId xmlns:a16="http://schemas.microsoft.com/office/drawing/2014/main" id="{F4C497F9-99D4-54FD-4874-7209588602F5}"/>
                </a:ext>
              </a:extLst>
            </p:cNvPr>
            <p:cNvSpPr/>
            <p:nvPr/>
          </p:nvSpPr>
          <p:spPr>
            <a:xfrm>
              <a:off x="7775909" y="1869836"/>
              <a:ext cx="493819" cy="369332"/>
            </a:xfrm>
            <a:prstGeom prst="mathEqual">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Arrow: Right 19">
              <a:extLst>
                <a:ext uri="{FF2B5EF4-FFF2-40B4-BE49-F238E27FC236}">
                  <a16:creationId xmlns:a16="http://schemas.microsoft.com/office/drawing/2014/main" id="{5131070B-43F0-58F5-AC8D-F2DF6296EA41}"/>
                </a:ext>
              </a:extLst>
            </p:cNvPr>
            <p:cNvSpPr/>
            <p:nvPr/>
          </p:nvSpPr>
          <p:spPr>
            <a:xfrm>
              <a:off x="11033050" y="1943479"/>
              <a:ext cx="632306" cy="222046"/>
            </a:xfrm>
            <a:prstGeom prst="rightArrow">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5BD6F7E4-AF76-A604-BBDB-067CD9FD03AB}"/>
                </a:ext>
              </a:extLst>
            </p:cNvPr>
            <p:cNvSpPr/>
            <p:nvPr/>
          </p:nvSpPr>
          <p:spPr>
            <a:xfrm>
              <a:off x="14178309" y="1922240"/>
              <a:ext cx="632306" cy="222046"/>
            </a:xfrm>
            <a:prstGeom prst="rightArrow">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159DBAB9-6CC7-CA80-A349-3357D24AC6CB}"/>
                </a:ext>
              </a:extLst>
            </p:cNvPr>
            <p:cNvSpPr txBox="1"/>
            <p:nvPr/>
          </p:nvSpPr>
          <p:spPr>
            <a:xfrm>
              <a:off x="995271" y="2246840"/>
              <a:ext cx="3000000" cy="369332"/>
            </a:xfrm>
            <a:prstGeom prst="rect">
              <a:avLst/>
            </a:prstGeom>
            <a:noFill/>
          </p:spPr>
          <p:txBody>
            <a:bodyPr wrap="square">
              <a:spAutoFit/>
            </a:bodyPr>
            <a:lstStyle/>
            <a:p>
              <a:pPr algn="ctr"/>
              <a:r>
                <a:rPr lang="en-US" b="1" dirty="0">
                  <a:solidFill>
                    <a:schemeClr val="bg1"/>
                  </a:solidFill>
                  <a:latin typeface="Arial" panose="020B0604020202020204" pitchFamily="34" charset="0"/>
                  <a:cs typeface="Arial" panose="020B0604020202020204" pitchFamily="34" charset="0"/>
                </a:rPr>
                <a:t>127.7 тэрбум</a:t>
              </a:r>
            </a:p>
          </p:txBody>
        </p:sp>
        <p:sp>
          <p:nvSpPr>
            <p:cNvPr id="24" name="TextBox 23">
              <a:extLst>
                <a:ext uri="{FF2B5EF4-FFF2-40B4-BE49-F238E27FC236}">
                  <a16:creationId xmlns:a16="http://schemas.microsoft.com/office/drawing/2014/main" id="{B6979194-B5EE-CF6B-6C1D-FFC6CEA88A49}"/>
                </a:ext>
              </a:extLst>
            </p:cNvPr>
            <p:cNvSpPr txBox="1"/>
            <p:nvPr/>
          </p:nvSpPr>
          <p:spPr>
            <a:xfrm>
              <a:off x="11498108" y="2246840"/>
              <a:ext cx="3000000" cy="369332"/>
            </a:xfrm>
            <a:prstGeom prst="rect">
              <a:avLst/>
            </a:prstGeom>
            <a:noFill/>
          </p:spPr>
          <p:txBody>
            <a:bodyPr wrap="square">
              <a:spAutoFit/>
            </a:bodyPr>
            <a:lstStyle/>
            <a:p>
              <a:pPr algn="just"/>
              <a:r>
                <a:rPr lang="mn-MN" b="1" dirty="0">
                  <a:solidFill>
                    <a:schemeClr val="bg1"/>
                  </a:solidFill>
                  <a:latin typeface="Arial" panose="020B0604020202020204" pitchFamily="34" charset="0"/>
                  <a:cs typeface="Arial" panose="020B0604020202020204" pitchFamily="34" charset="0"/>
                </a:rPr>
                <a:t>35.3 тэрбум</a:t>
              </a:r>
              <a:endParaRPr lang="en-US" b="1" dirty="0">
                <a:solidFill>
                  <a:schemeClr val="bg1"/>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AB2D9E64-7488-AE25-65FC-3D2263FA6B95}"/>
                </a:ext>
              </a:extLst>
            </p:cNvPr>
            <p:cNvSpPr txBox="1"/>
            <p:nvPr/>
          </p:nvSpPr>
          <p:spPr>
            <a:xfrm>
              <a:off x="14896373" y="2239169"/>
              <a:ext cx="3000000" cy="369332"/>
            </a:xfrm>
            <a:prstGeom prst="rect">
              <a:avLst/>
            </a:prstGeom>
            <a:noFill/>
          </p:spPr>
          <p:txBody>
            <a:bodyPr wrap="square">
              <a:spAutoFit/>
            </a:bodyPr>
            <a:lstStyle/>
            <a:p>
              <a:pPr algn="just"/>
              <a:r>
                <a:rPr lang="mn-MN" b="1" dirty="0">
                  <a:solidFill>
                    <a:schemeClr val="bg1"/>
                  </a:solidFill>
                  <a:latin typeface="Arial" panose="020B0604020202020204" pitchFamily="34" charset="0"/>
                  <a:cs typeface="Arial" panose="020B0604020202020204" pitchFamily="34" charset="0"/>
                </a:rPr>
                <a:t>39.6 тэрбум</a:t>
              </a:r>
              <a:endParaRPr lang="en-US" b="1" dirty="0">
                <a:solidFill>
                  <a:schemeClr val="bg1"/>
                </a:solidFill>
                <a:latin typeface="Arial" panose="020B0604020202020204" pitchFamily="34" charset="0"/>
                <a:cs typeface="Arial" panose="020B0604020202020204" pitchFamily="34" charset="0"/>
              </a:endParaRPr>
            </a:p>
          </p:txBody>
        </p:sp>
      </p:grpSp>
      <p:grpSp>
        <p:nvGrpSpPr>
          <p:cNvPr id="56" name="Group 55">
            <a:extLst>
              <a:ext uri="{FF2B5EF4-FFF2-40B4-BE49-F238E27FC236}">
                <a16:creationId xmlns:a16="http://schemas.microsoft.com/office/drawing/2014/main" id="{FC314149-D931-8E48-9CF7-57FED84D385F}"/>
              </a:ext>
            </a:extLst>
          </p:cNvPr>
          <p:cNvGrpSpPr/>
          <p:nvPr/>
        </p:nvGrpSpPr>
        <p:grpSpPr>
          <a:xfrm>
            <a:off x="6269143" y="2448751"/>
            <a:ext cx="5580894" cy="767937"/>
            <a:chOff x="9403715" y="3673127"/>
            <a:chExt cx="8371341" cy="1151906"/>
          </a:xfrm>
        </p:grpSpPr>
        <p:sp>
          <p:nvSpPr>
            <p:cNvPr id="44" name="Flowchart: Stored Data 43">
              <a:extLst>
                <a:ext uri="{FF2B5EF4-FFF2-40B4-BE49-F238E27FC236}">
                  <a16:creationId xmlns:a16="http://schemas.microsoft.com/office/drawing/2014/main" id="{52A16B70-5EEF-0AEC-24B7-8E4039DCDF03}"/>
                </a:ext>
              </a:extLst>
            </p:cNvPr>
            <p:cNvSpPr/>
            <p:nvPr/>
          </p:nvSpPr>
          <p:spPr>
            <a:xfrm flipH="1">
              <a:off x="9403715" y="3673127"/>
              <a:ext cx="2588543" cy="1138019"/>
            </a:xfrm>
            <a:prstGeom prst="flowChartOnlineStorag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7E67AA5B-615F-6BB6-3FDF-D3942E2569D3}"/>
                </a:ext>
              </a:extLst>
            </p:cNvPr>
            <p:cNvSpPr txBox="1"/>
            <p:nvPr/>
          </p:nvSpPr>
          <p:spPr>
            <a:xfrm>
              <a:off x="9490199" y="3795859"/>
              <a:ext cx="2625740" cy="400110"/>
            </a:xfrm>
            <a:prstGeom prst="rect">
              <a:avLst/>
            </a:prstGeom>
            <a:noFill/>
          </p:spPr>
          <p:txBody>
            <a:bodyPr wrap="square">
              <a:spAutoFit/>
            </a:bodyPr>
            <a:lstStyle/>
            <a:p>
              <a:pPr algn="ctr"/>
              <a:r>
                <a:rPr lang="en-US" sz="1350" b="1" i="1" dirty="0">
                  <a:solidFill>
                    <a:schemeClr val="bg1"/>
                  </a:solidFill>
                  <a:latin typeface="Arial" panose="020B0604020202020204" pitchFamily="34" charset="0"/>
                  <a:cs typeface="Arial" panose="020B0604020202020204" pitchFamily="34" charset="0"/>
                </a:rPr>
                <a:t>NPV (10%)</a:t>
              </a:r>
              <a:endParaRPr lang="mn-MN" sz="1350" b="1" i="1" dirty="0">
                <a:solidFill>
                  <a:schemeClr val="bg1"/>
                </a:solidFill>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3EFAE4CB-CC72-69BD-CA81-A2E4F9D0C311}"/>
                </a:ext>
              </a:extLst>
            </p:cNvPr>
            <p:cNvSpPr txBox="1"/>
            <p:nvPr/>
          </p:nvSpPr>
          <p:spPr>
            <a:xfrm>
              <a:off x="9555340" y="4235784"/>
              <a:ext cx="2600000" cy="369332"/>
            </a:xfrm>
            <a:prstGeom prst="rect">
              <a:avLst/>
            </a:prstGeom>
            <a:noFill/>
          </p:spPr>
          <p:txBody>
            <a:bodyPr wrap="square">
              <a:spAutoFit/>
            </a:bodyPr>
            <a:lstStyle/>
            <a:p>
              <a:pPr algn="ctr"/>
              <a:r>
                <a:rPr lang="en-US" b="1" dirty="0">
                  <a:solidFill>
                    <a:schemeClr val="bg1"/>
                  </a:solidFill>
                  <a:latin typeface="Arial" panose="020B0604020202020204" pitchFamily="34" charset="0"/>
                  <a:cs typeface="Arial" panose="020B0604020202020204" pitchFamily="34" charset="0"/>
                </a:rPr>
                <a:t>19.0 тэрбум</a:t>
              </a:r>
            </a:p>
          </p:txBody>
        </p:sp>
        <p:sp>
          <p:nvSpPr>
            <p:cNvPr id="45" name="Flowchart: Stored Data 44">
              <a:extLst>
                <a:ext uri="{FF2B5EF4-FFF2-40B4-BE49-F238E27FC236}">
                  <a16:creationId xmlns:a16="http://schemas.microsoft.com/office/drawing/2014/main" id="{FD5B3D01-BB0E-B6EA-4C94-9E52A0249CDC}"/>
                </a:ext>
              </a:extLst>
            </p:cNvPr>
            <p:cNvSpPr/>
            <p:nvPr/>
          </p:nvSpPr>
          <p:spPr>
            <a:xfrm flipH="1">
              <a:off x="15186513" y="3687014"/>
              <a:ext cx="2588543" cy="1138019"/>
            </a:xfrm>
            <a:prstGeom prst="flowChartOnlineStorag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lowchart: Stored Data 45">
              <a:extLst>
                <a:ext uri="{FF2B5EF4-FFF2-40B4-BE49-F238E27FC236}">
                  <a16:creationId xmlns:a16="http://schemas.microsoft.com/office/drawing/2014/main" id="{6D144BFA-8149-3AD6-54F8-1A8AB14290E8}"/>
                </a:ext>
              </a:extLst>
            </p:cNvPr>
            <p:cNvSpPr/>
            <p:nvPr/>
          </p:nvSpPr>
          <p:spPr>
            <a:xfrm flipH="1">
              <a:off x="12295114" y="3687014"/>
              <a:ext cx="2588543" cy="1138019"/>
            </a:xfrm>
            <a:prstGeom prst="flowChartOnlineStorag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E66600E4-96AC-D225-8C91-87E409E40C41}"/>
                </a:ext>
              </a:extLst>
            </p:cNvPr>
            <p:cNvSpPr txBox="1"/>
            <p:nvPr/>
          </p:nvSpPr>
          <p:spPr>
            <a:xfrm>
              <a:off x="12661353" y="3853051"/>
              <a:ext cx="1972145" cy="400110"/>
            </a:xfrm>
            <a:prstGeom prst="rect">
              <a:avLst/>
            </a:prstGeom>
            <a:noFill/>
          </p:spPr>
          <p:txBody>
            <a:bodyPr wrap="square">
              <a:spAutoFit/>
            </a:bodyPr>
            <a:lstStyle/>
            <a:p>
              <a:pPr algn="ctr"/>
              <a:r>
                <a:rPr lang="en-US" sz="1350" b="1" i="1" dirty="0">
                  <a:solidFill>
                    <a:schemeClr val="bg1"/>
                  </a:solidFill>
                  <a:latin typeface="Arial" panose="020B0604020202020204" pitchFamily="34" charset="0"/>
                  <a:cs typeface="Arial" panose="020B0604020202020204" pitchFamily="34" charset="0"/>
                </a:rPr>
                <a:t>IRR</a:t>
              </a:r>
              <a:endParaRPr lang="mn-MN" sz="1350" b="1" i="1"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8E46742D-691A-95B1-15F2-D240A55EE911}"/>
                </a:ext>
              </a:extLst>
            </p:cNvPr>
            <p:cNvSpPr txBox="1"/>
            <p:nvPr/>
          </p:nvSpPr>
          <p:spPr>
            <a:xfrm>
              <a:off x="12721969" y="4268900"/>
              <a:ext cx="1972145" cy="369332"/>
            </a:xfrm>
            <a:prstGeom prst="rect">
              <a:avLst/>
            </a:prstGeom>
            <a:noFill/>
          </p:spPr>
          <p:txBody>
            <a:bodyPr wrap="square">
              <a:spAutoFit/>
            </a:bodyPr>
            <a:lstStyle/>
            <a:p>
              <a:pPr algn="ctr"/>
              <a:r>
                <a:rPr lang="mn-MN" b="1" dirty="0">
                  <a:solidFill>
                    <a:schemeClr val="bg1"/>
                  </a:solidFill>
                  <a:latin typeface="Arial" panose="020B0604020202020204" pitchFamily="34" charset="0"/>
                  <a:cs typeface="Arial" panose="020B0604020202020204" pitchFamily="34" charset="0"/>
                </a:rPr>
                <a:t>51.6%</a:t>
              </a:r>
            </a:p>
          </p:txBody>
        </p:sp>
        <p:sp>
          <p:nvSpPr>
            <p:cNvPr id="33" name="TextBox 32">
              <a:extLst>
                <a:ext uri="{FF2B5EF4-FFF2-40B4-BE49-F238E27FC236}">
                  <a16:creationId xmlns:a16="http://schemas.microsoft.com/office/drawing/2014/main" id="{6DF51D92-3F2C-CFCC-86AB-903A74977705}"/>
                </a:ext>
              </a:extLst>
            </p:cNvPr>
            <p:cNvSpPr txBox="1"/>
            <p:nvPr/>
          </p:nvSpPr>
          <p:spPr>
            <a:xfrm>
              <a:off x="15635252" y="3835674"/>
              <a:ext cx="1972145" cy="400110"/>
            </a:xfrm>
            <a:prstGeom prst="rect">
              <a:avLst/>
            </a:prstGeom>
            <a:noFill/>
          </p:spPr>
          <p:txBody>
            <a:bodyPr wrap="square">
              <a:spAutoFit/>
            </a:bodyPr>
            <a:lstStyle/>
            <a:p>
              <a:pPr algn="ctr"/>
              <a:r>
                <a:rPr lang="en-US" sz="1350" b="1" i="1" dirty="0">
                  <a:solidFill>
                    <a:schemeClr val="bg1"/>
                  </a:solidFill>
                  <a:latin typeface="Arial" panose="020B0604020202020204" pitchFamily="34" charset="0"/>
                  <a:cs typeface="Arial" panose="020B0604020202020204" pitchFamily="34" charset="0"/>
                </a:rPr>
                <a:t>PBP</a:t>
              </a:r>
              <a:endParaRPr lang="mn-MN" sz="1350" b="1" i="1" dirty="0">
                <a:solidFill>
                  <a:schemeClr val="bg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0B246761-C23B-5DD8-5327-D6CC2A78E853}"/>
                </a:ext>
              </a:extLst>
            </p:cNvPr>
            <p:cNvSpPr txBox="1"/>
            <p:nvPr/>
          </p:nvSpPr>
          <p:spPr>
            <a:xfrm>
              <a:off x="15627789" y="4242136"/>
              <a:ext cx="1972145" cy="369332"/>
            </a:xfrm>
            <a:prstGeom prst="rect">
              <a:avLst/>
            </a:prstGeom>
            <a:noFill/>
          </p:spPr>
          <p:txBody>
            <a:bodyPr wrap="square">
              <a:spAutoFit/>
            </a:bodyPr>
            <a:lstStyle/>
            <a:p>
              <a:pPr algn="ctr"/>
              <a:r>
                <a:rPr lang="en-US" b="1" dirty="0">
                  <a:solidFill>
                    <a:schemeClr val="bg1"/>
                  </a:solidFill>
                  <a:latin typeface="Arial" panose="020B0604020202020204" pitchFamily="34" charset="0"/>
                  <a:cs typeface="Arial" panose="020B0604020202020204" pitchFamily="34" charset="0"/>
                </a:rPr>
                <a:t>2.7 жил</a:t>
              </a:r>
            </a:p>
          </p:txBody>
        </p:sp>
      </p:grpSp>
      <p:graphicFrame>
        <p:nvGraphicFramePr>
          <p:cNvPr id="4" name="Table 3">
            <a:extLst>
              <a:ext uri="{FF2B5EF4-FFF2-40B4-BE49-F238E27FC236}">
                <a16:creationId xmlns:a16="http://schemas.microsoft.com/office/drawing/2014/main" id="{FBE69AFB-1F0A-B1E4-79C0-53F81B679AE2}"/>
              </a:ext>
            </a:extLst>
          </p:cNvPr>
          <p:cNvGraphicFramePr>
            <a:graphicFrameLocks noGrp="1"/>
          </p:cNvGraphicFramePr>
          <p:nvPr/>
        </p:nvGraphicFramePr>
        <p:xfrm>
          <a:off x="866245" y="2145403"/>
          <a:ext cx="4678975" cy="2679994"/>
        </p:xfrm>
        <a:graphic>
          <a:graphicData uri="http://schemas.openxmlformats.org/drawingml/2006/table">
            <a:tbl>
              <a:tblPr>
                <a:tableStyleId>{0660B408-B3CF-4A94-85FC-2B1E0A45F4A2}</a:tableStyleId>
              </a:tblPr>
              <a:tblGrid>
                <a:gridCol w="283045">
                  <a:extLst>
                    <a:ext uri="{9D8B030D-6E8A-4147-A177-3AD203B41FA5}">
                      <a16:colId xmlns:a16="http://schemas.microsoft.com/office/drawing/2014/main" val="20000"/>
                    </a:ext>
                  </a:extLst>
                </a:gridCol>
                <a:gridCol w="2757066">
                  <a:extLst>
                    <a:ext uri="{9D8B030D-6E8A-4147-A177-3AD203B41FA5}">
                      <a16:colId xmlns:a16="http://schemas.microsoft.com/office/drawing/2014/main" val="20001"/>
                    </a:ext>
                  </a:extLst>
                </a:gridCol>
                <a:gridCol w="912033">
                  <a:extLst>
                    <a:ext uri="{9D8B030D-6E8A-4147-A177-3AD203B41FA5}">
                      <a16:colId xmlns:a16="http://schemas.microsoft.com/office/drawing/2014/main" val="20002"/>
                    </a:ext>
                  </a:extLst>
                </a:gridCol>
                <a:gridCol w="726831">
                  <a:extLst>
                    <a:ext uri="{9D8B030D-6E8A-4147-A177-3AD203B41FA5}">
                      <a16:colId xmlns:a16="http://schemas.microsoft.com/office/drawing/2014/main" val="20003"/>
                    </a:ext>
                  </a:extLst>
                </a:gridCol>
              </a:tblGrid>
              <a:tr h="146667">
                <a:tc>
                  <a:txBody>
                    <a:bodyPr/>
                    <a:lstStyle/>
                    <a:p>
                      <a:pPr algn="ctr" fontAlgn="t">
                        <a:buNone/>
                      </a:pPr>
                      <a:r>
                        <a:rPr lang="en-US" sz="800" b="1" u="none" strike="noStrike" dirty="0">
                          <a:solidFill>
                            <a:schemeClr val="tx1"/>
                          </a:solidFill>
                          <a:effectLst/>
                          <a:latin typeface="Arial" panose="020B0604020202020204" pitchFamily="34" charset="0"/>
                          <a:cs typeface="Arial" panose="020B0604020202020204" pitchFamily="34" charset="0"/>
                        </a:rPr>
                        <a:t>№</a:t>
                      </a:r>
                      <a:endParaRPr lang="en-US" sz="800" b="1" i="0" u="none" strike="noStrike" dirty="0">
                        <a:solidFill>
                          <a:schemeClr val="tx1"/>
                        </a:solidFill>
                        <a:effectLst/>
                        <a:latin typeface="Arial" panose="020B0604020202020204" pitchFamily="34" charset="0"/>
                        <a:cs typeface="Arial" panose="020B0604020202020204" pitchFamily="34" charset="0"/>
                      </a:endParaRPr>
                    </a:p>
                  </a:txBody>
                  <a:tcPr marL="6350" marR="6350" marT="6350" marB="0">
                    <a:solidFill>
                      <a:srgbClr val="FFFF00"/>
                    </a:solidFill>
                  </a:tcPr>
                </a:tc>
                <a:tc>
                  <a:txBody>
                    <a:bodyPr/>
                    <a:lstStyle/>
                    <a:p>
                      <a:pPr algn="ctr" fontAlgn="t">
                        <a:buNone/>
                      </a:pPr>
                      <a:r>
                        <a:rPr lang="mn-MN" sz="800" b="1" u="none" strike="noStrike" dirty="0">
                          <a:solidFill>
                            <a:schemeClr val="tx1"/>
                          </a:solidFill>
                          <a:effectLst/>
                          <a:latin typeface="Arial" panose="020B0604020202020204" pitchFamily="34" charset="0"/>
                          <a:cs typeface="Arial" panose="020B0604020202020204" pitchFamily="34" charset="0"/>
                        </a:rPr>
                        <a:t>Үзүүлэлт</a:t>
                      </a:r>
                      <a:endParaRPr lang="mn-MN" sz="800" b="1" i="0" u="none" strike="noStrike" dirty="0">
                        <a:solidFill>
                          <a:schemeClr val="tx1"/>
                        </a:solidFill>
                        <a:effectLst/>
                        <a:latin typeface="Arial" panose="020B0604020202020204" pitchFamily="34" charset="0"/>
                        <a:cs typeface="Arial" panose="020B0604020202020204" pitchFamily="34" charset="0"/>
                      </a:endParaRPr>
                    </a:p>
                  </a:txBody>
                  <a:tcPr marL="6350" marR="6350" marT="6350" marB="0">
                    <a:solidFill>
                      <a:srgbClr val="FFFF00"/>
                    </a:solidFill>
                  </a:tcPr>
                </a:tc>
                <a:tc>
                  <a:txBody>
                    <a:bodyPr/>
                    <a:lstStyle/>
                    <a:p>
                      <a:pPr algn="ctr" fontAlgn="t">
                        <a:buNone/>
                      </a:pPr>
                      <a:r>
                        <a:rPr lang="mn-MN" sz="800" b="1" u="none" strike="noStrike" dirty="0">
                          <a:solidFill>
                            <a:schemeClr val="tx1"/>
                          </a:solidFill>
                          <a:effectLst/>
                          <a:latin typeface="Arial" panose="020B0604020202020204" pitchFamily="34" charset="0"/>
                          <a:cs typeface="Arial" panose="020B0604020202020204" pitchFamily="34" charset="0"/>
                        </a:rPr>
                        <a:t>Хэмжих нэгж</a:t>
                      </a:r>
                      <a:endParaRPr lang="mn-MN" sz="800" b="1" i="0" u="none" strike="noStrike" dirty="0">
                        <a:solidFill>
                          <a:schemeClr val="tx1"/>
                        </a:solidFill>
                        <a:effectLst/>
                        <a:latin typeface="Arial" panose="020B0604020202020204" pitchFamily="34" charset="0"/>
                        <a:cs typeface="Arial" panose="020B0604020202020204" pitchFamily="34" charset="0"/>
                      </a:endParaRPr>
                    </a:p>
                  </a:txBody>
                  <a:tcPr marL="6350" marR="6350" marT="6350" marB="0">
                    <a:solidFill>
                      <a:srgbClr val="FFFF00"/>
                    </a:solidFill>
                  </a:tcPr>
                </a:tc>
                <a:tc>
                  <a:txBody>
                    <a:bodyPr/>
                    <a:lstStyle/>
                    <a:p>
                      <a:pPr algn="ctr" fontAlgn="t">
                        <a:buNone/>
                      </a:pPr>
                      <a:r>
                        <a:rPr lang="mn-MN" sz="800" b="1" u="none" strike="noStrike" dirty="0">
                          <a:solidFill>
                            <a:schemeClr val="tx1"/>
                          </a:solidFill>
                          <a:effectLst/>
                          <a:latin typeface="Arial" panose="020B0604020202020204" pitchFamily="34" charset="0"/>
                          <a:cs typeface="Arial" panose="020B0604020202020204" pitchFamily="34" charset="0"/>
                        </a:rPr>
                        <a:t>Утга</a:t>
                      </a:r>
                      <a:endParaRPr lang="mn-MN" sz="800" b="1" i="0" u="none" strike="noStrike" dirty="0">
                        <a:solidFill>
                          <a:schemeClr val="tx1"/>
                        </a:solidFill>
                        <a:effectLst/>
                        <a:latin typeface="Arial" panose="020B0604020202020204" pitchFamily="34" charset="0"/>
                        <a:cs typeface="Arial" panose="020B0604020202020204" pitchFamily="34" charset="0"/>
                      </a:endParaRPr>
                    </a:p>
                  </a:txBody>
                  <a:tcPr marL="6350" marR="6350" marT="6350" marB="0">
                    <a:solidFill>
                      <a:srgbClr val="FFFF00"/>
                    </a:solidFill>
                  </a:tcPr>
                </a:tc>
                <a:extLst>
                  <a:ext uri="{0D108BD9-81ED-4DB2-BD59-A6C34878D82A}">
                    <a16:rowId xmlns:a16="http://schemas.microsoft.com/office/drawing/2014/main" val="10000"/>
                  </a:ext>
                </a:extLst>
              </a:tr>
              <a:tr h="133333">
                <a:tc>
                  <a:txBody>
                    <a:bodyPr/>
                    <a:lstStyle/>
                    <a:p>
                      <a:pPr algn="ctr" fontAlgn="t">
                        <a:buNone/>
                      </a:pPr>
                      <a:r>
                        <a:rPr lang="en-US" sz="800" u="none" strike="noStrike">
                          <a:solidFill>
                            <a:schemeClr val="bg1"/>
                          </a:solidFill>
                          <a:effectLst/>
                          <a:latin typeface="Arial" panose="020B0604020202020204" pitchFamily="34" charset="0"/>
                          <a:cs typeface="Arial" panose="020B0604020202020204" pitchFamily="34" charset="0"/>
                        </a:rPr>
                        <a:t>1</a:t>
                      </a:r>
                      <a:endParaRPr lang="en-US"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Уулын цулын хэмжээ</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мян.м³</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3,763.8</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01"/>
                  </a:ext>
                </a:extLst>
              </a:tr>
              <a:tr h="133333">
                <a:tc>
                  <a:txBody>
                    <a:bodyPr/>
                    <a:lstStyle/>
                    <a:p>
                      <a:pPr algn="ctr" fontAlgn="t">
                        <a:buNone/>
                      </a:pPr>
                      <a:r>
                        <a:rPr lang="en-US" sz="800" u="none" strike="noStrike">
                          <a:solidFill>
                            <a:schemeClr val="bg1"/>
                          </a:solidFill>
                          <a:effectLst/>
                          <a:latin typeface="Arial" panose="020B0604020202020204" pitchFamily="34" charset="0"/>
                          <a:cs typeface="Arial" panose="020B0604020202020204" pitchFamily="34" charset="0"/>
                        </a:rPr>
                        <a:t>2</a:t>
                      </a:r>
                      <a:endParaRPr lang="en-US"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Хөрс хуулалтын хэмжээ</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мян.м³</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1,860.9</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02"/>
                  </a:ext>
                </a:extLst>
              </a:tr>
              <a:tr h="133333">
                <a:tc>
                  <a:txBody>
                    <a:bodyPr/>
                    <a:lstStyle/>
                    <a:p>
                      <a:pPr algn="ctr" fontAlgn="t">
                        <a:buNone/>
                      </a:pPr>
                      <a:r>
                        <a:rPr lang="en-US" sz="800" u="none" strike="noStrike">
                          <a:solidFill>
                            <a:schemeClr val="bg1"/>
                          </a:solidFill>
                          <a:effectLst/>
                          <a:latin typeface="Arial" panose="020B0604020202020204" pitchFamily="34" charset="0"/>
                          <a:cs typeface="Arial" panose="020B0604020202020204" pitchFamily="34" charset="0"/>
                        </a:rPr>
                        <a:t>3</a:t>
                      </a:r>
                      <a:endParaRPr lang="en-US"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Элс олборлолтын хэмжээ</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мян.м³</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1,902.9</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03"/>
                  </a:ext>
                </a:extLst>
              </a:tr>
              <a:tr h="133333">
                <a:tc>
                  <a:txBody>
                    <a:bodyPr/>
                    <a:lstStyle/>
                    <a:p>
                      <a:pPr algn="ctr" fontAlgn="t">
                        <a:buNone/>
                      </a:pPr>
                      <a:r>
                        <a:rPr lang="en-US" sz="800" u="none" strike="noStrike">
                          <a:solidFill>
                            <a:schemeClr val="bg1"/>
                          </a:solidFill>
                          <a:effectLst/>
                          <a:latin typeface="Arial" panose="020B0604020202020204" pitchFamily="34" charset="0"/>
                          <a:cs typeface="Arial" panose="020B0604020202020204" pitchFamily="34" charset="0"/>
                        </a:rPr>
                        <a:t>4</a:t>
                      </a:r>
                      <a:endParaRPr lang="en-US"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Цагаан тугалганы баяжмал</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тн</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1,339.2</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04"/>
                  </a:ext>
                </a:extLst>
              </a:tr>
              <a:tr h="133333">
                <a:tc>
                  <a:txBody>
                    <a:bodyPr/>
                    <a:lstStyle/>
                    <a:p>
                      <a:pPr algn="ctr" fontAlgn="t">
                        <a:buNone/>
                      </a:pPr>
                      <a:r>
                        <a:rPr lang="en-US" sz="800" u="none" strike="noStrike">
                          <a:solidFill>
                            <a:schemeClr val="bg1"/>
                          </a:solidFill>
                          <a:effectLst/>
                          <a:latin typeface="Arial" panose="020B0604020202020204" pitchFamily="34" charset="0"/>
                          <a:cs typeface="Arial" panose="020B0604020202020204" pitchFamily="34" charset="0"/>
                        </a:rPr>
                        <a:t>5</a:t>
                      </a:r>
                      <a:endParaRPr lang="en-US"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Вольфрамын баяжмал</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тн</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498.0</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05"/>
                  </a:ext>
                </a:extLst>
              </a:tr>
              <a:tr h="133333">
                <a:tc>
                  <a:txBody>
                    <a:bodyPr/>
                    <a:lstStyle/>
                    <a:p>
                      <a:pPr algn="ctr" fontAlgn="t">
                        <a:buNone/>
                      </a:pPr>
                      <a:r>
                        <a:rPr lang="en-US" sz="800" u="none" strike="noStrike">
                          <a:solidFill>
                            <a:schemeClr val="bg1"/>
                          </a:solidFill>
                          <a:effectLst/>
                          <a:latin typeface="Arial" panose="020B0604020202020204" pitchFamily="34" charset="0"/>
                          <a:cs typeface="Arial" panose="020B0604020202020204" pitchFamily="34" charset="0"/>
                        </a:rPr>
                        <a:t>6</a:t>
                      </a:r>
                      <a:endParaRPr lang="en-US"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Цагаан тугалганы баяжмалын үнэ</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мян.төг/тн</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80,500.0</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06"/>
                  </a:ext>
                </a:extLst>
              </a:tr>
              <a:tr h="133333">
                <a:tc>
                  <a:txBody>
                    <a:bodyPr/>
                    <a:lstStyle/>
                    <a:p>
                      <a:pPr algn="ctr" fontAlgn="t">
                        <a:buNone/>
                      </a:pPr>
                      <a:r>
                        <a:rPr lang="en-US" sz="800" u="none" strike="noStrike">
                          <a:solidFill>
                            <a:schemeClr val="bg1"/>
                          </a:solidFill>
                          <a:effectLst/>
                          <a:latin typeface="Arial" panose="020B0604020202020204" pitchFamily="34" charset="0"/>
                          <a:cs typeface="Arial" panose="020B0604020202020204" pitchFamily="34" charset="0"/>
                        </a:rPr>
                        <a:t>7</a:t>
                      </a:r>
                      <a:endParaRPr lang="en-US"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Вольфрамын баяжмалын үнэ</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мян.төг/тн</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40,000.0</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07"/>
                  </a:ext>
                </a:extLst>
              </a:tr>
              <a:tr h="133333">
                <a:tc>
                  <a:txBody>
                    <a:bodyPr/>
                    <a:lstStyle/>
                    <a:p>
                      <a:pPr algn="ctr" fontAlgn="t">
                        <a:buNone/>
                      </a:pPr>
                      <a:r>
                        <a:rPr lang="en-US" sz="800" u="none" strike="noStrike">
                          <a:solidFill>
                            <a:schemeClr val="bg1"/>
                          </a:solidFill>
                          <a:effectLst/>
                          <a:latin typeface="Arial" panose="020B0604020202020204" pitchFamily="34" charset="0"/>
                          <a:cs typeface="Arial" panose="020B0604020202020204" pitchFamily="34" charset="0"/>
                        </a:rPr>
                        <a:t>8</a:t>
                      </a:r>
                      <a:endParaRPr lang="en-US"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Нийт борлуулалтын орлого</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сая төг.</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127,726.6</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08"/>
                  </a:ext>
                </a:extLst>
              </a:tr>
              <a:tr h="133333">
                <a:tc>
                  <a:txBody>
                    <a:bodyPr/>
                    <a:lstStyle/>
                    <a:p>
                      <a:pPr algn="ctr" fontAlgn="t">
                        <a:buNone/>
                      </a:pPr>
                      <a:r>
                        <a:rPr lang="en-US" sz="800" u="none" strike="noStrike">
                          <a:solidFill>
                            <a:schemeClr val="bg1"/>
                          </a:solidFill>
                          <a:effectLst/>
                          <a:latin typeface="Arial" panose="020B0604020202020204" pitchFamily="34" charset="0"/>
                          <a:cs typeface="Arial" panose="020B0604020202020204" pitchFamily="34" charset="0"/>
                        </a:rPr>
                        <a:t>9</a:t>
                      </a:r>
                      <a:endParaRPr lang="en-US"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Үйл ажиллагааны нийт зардал</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сая төг.</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87,297.4</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09"/>
                  </a:ext>
                </a:extLst>
              </a:tr>
              <a:tr h="133333">
                <a:tc>
                  <a:txBody>
                    <a:bodyPr/>
                    <a:lstStyle/>
                    <a:p>
                      <a:pPr algn="ctr" fontAlgn="t">
                        <a:buNone/>
                      </a:pPr>
                      <a:r>
                        <a:rPr lang="en-US" sz="800" u="none" strike="noStrike">
                          <a:solidFill>
                            <a:schemeClr val="bg1"/>
                          </a:solidFill>
                          <a:effectLst/>
                          <a:latin typeface="Arial" panose="020B0604020202020204" pitchFamily="34" charset="0"/>
                          <a:cs typeface="Arial" panose="020B0604020202020204" pitchFamily="34" charset="0"/>
                        </a:rPr>
                        <a:t>10</a:t>
                      </a:r>
                      <a:endParaRPr lang="en-US"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Татварын өмнөх ашиг</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сая төг.</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40,429.2</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10"/>
                  </a:ext>
                </a:extLst>
              </a:tr>
              <a:tr h="133333">
                <a:tc>
                  <a:txBody>
                    <a:bodyPr/>
                    <a:lstStyle/>
                    <a:p>
                      <a:pPr algn="ctr" fontAlgn="t">
                        <a:buNone/>
                      </a:pPr>
                      <a:r>
                        <a:rPr lang="en-US" sz="800" u="none" strike="noStrike">
                          <a:solidFill>
                            <a:schemeClr val="bg1"/>
                          </a:solidFill>
                          <a:effectLst/>
                          <a:latin typeface="Arial" panose="020B0604020202020204" pitchFamily="34" charset="0"/>
                          <a:cs typeface="Arial" panose="020B0604020202020204" pitchFamily="34" charset="0"/>
                        </a:rPr>
                        <a:t>11</a:t>
                      </a:r>
                      <a:endParaRPr lang="en-US"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ААНОАТ -10% ба 25%</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сая төг.</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5,081.3</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11"/>
                  </a:ext>
                </a:extLst>
              </a:tr>
              <a:tr h="133333">
                <a:tc>
                  <a:txBody>
                    <a:bodyPr/>
                    <a:lstStyle/>
                    <a:p>
                      <a:pPr algn="ctr" fontAlgn="t">
                        <a:buNone/>
                      </a:pPr>
                      <a:r>
                        <a:rPr lang="en-US" sz="800" u="none" strike="noStrike">
                          <a:solidFill>
                            <a:schemeClr val="bg1"/>
                          </a:solidFill>
                          <a:effectLst/>
                          <a:latin typeface="Arial" panose="020B0604020202020204" pitchFamily="34" charset="0"/>
                          <a:cs typeface="Arial" panose="020B0604020202020204" pitchFamily="34" charset="0"/>
                        </a:rPr>
                        <a:t>12</a:t>
                      </a:r>
                      <a:endParaRPr lang="en-US"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Цэвэр ашиг</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сая төг.</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35,347.9</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12"/>
                  </a:ext>
                </a:extLst>
              </a:tr>
              <a:tr h="133333">
                <a:tc>
                  <a:txBody>
                    <a:bodyPr/>
                    <a:lstStyle/>
                    <a:p>
                      <a:pPr algn="ctr" fontAlgn="t">
                        <a:buNone/>
                      </a:pPr>
                      <a:r>
                        <a:rPr lang="en-US" sz="800" u="none" strike="noStrike">
                          <a:solidFill>
                            <a:schemeClr val="bg1"/>
                          </a:solidFill>
                          <a:effectLst/>
                          <a:latin typeface="Arial" panose="020B0604020202020204" pitchFamily="34" charset="0"/>
                          <a:cs typeface="Arial" panose="020B0604020202020204" pitchFamily="34" charset="0"/>
                        </a:rPr>
                        <a:t>13</a:t>
                      </a:r>
                      <a:endParaRPr lang="en-US"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ҮАМУ</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сая төг.</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39,623.0</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13"/>
                  </a:ext>
                </a:extLst>
              </a:tr>
              <a:tr h="133333">
                <a:tc>
                  <a:txBody>
                    <a:bodyPr/>
                    <a:lstStyle/>
                    <a:p>
                      <a:pPr algn="ctr" fontAlgn="t">
                        <a:buNone/>
                      </a:pPr>
                      <a:r>
                        <a:rPr lang="en-US" sz="800" u="none" strike="noStrike">
                          <a:solidFill>
                            <a:schemeClr val="bg1"/>
                          </a:solidFill>
                          <a:effectLst/>
                          <a:latin typeface="Arial" panose="020B0604020202020204" pitchFamily="34" charset="0"/>
                          <a:cs typeface="Arial" panose="020B0604020202020204" pitchFamily="34" charset="0"/>
                        </a:rPr>
                        <a:t>14</a:t>
                      </a:r>
                      <a:endParaRPr lang="en-US"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Хөрөнгө оруулалтын нийт дүн</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сая төг.</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(7,597.4)</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14"/>
                  </a:ext>
                </a:extLst>
              </a:tr>
              <a:tr h="133333">
                <a:tc>
                  <a:txBody>
                    <a:bodyPr/>
                    <a:lstStyle/>
                    <a:p>
                      <a:pPr algn="ctr" fontAlgn="t">
                        <a:buNone/>
                      </a:pPr>
                      <a:r>
                        <a:rPr lang="en-US" sz="800" u="none" strike="noStrike">
                          <a:solidFill>
                            <a:schemeClr val="bg1"/>
                          </a:solidFill>
                          <a:effectLst/>
                          <a:latin typeface="Arial" panose="020B0604020202020204" pitchFamily="34" charset="0"/>
                          <a:cs typeface="Arial" panose="020B0604020202020204" pitchFamily="34" charset="0"/>
                        </a:rPr>
                        <a:t>15</a:t>
                      </a:r>
                      <a:endParaRPr lang="en-US"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Хөрөнгө оруулалтын дараах мөнгөн урсгал</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сая төг.</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33,867.7</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15"/>
                  </a:ext>
                </a:extLst>
              </a:tr>
              <a:tr h="133333">
                <a:tc>
                  <a:txBody>
                    <a:bodyPr/>
                    <a:lstStyle/>
                    <a:p>
                      <a:pPr algn="ctr" fontAlgn="t">
                        <a:buNone/>
                      </a:pPr>
                      <a:r>
                        <a:rPr lang="en-US" sz="800" u="none" strike="noStrike">
                          <a:solidFill>
                            <a:schemeClr val="bg1"/>
                          </a:solidFill>
                          <a:effectLst/>
                          <a:latin typeface="Arial" panose="020B0604020202020204" pitchFamily="34" charset="0"/>
                          <a:cs typeface="Arial" panose="020B0604020202020204" pitchFamily="34" charset="0"/>
                        </a:rPr>
                        <a:t>16</a:t>
                      </a:r>
                      <a:endParaRPr lang="en-US"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Хуримтлагдсан ХОДМУ</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сая төг.</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33,867.7</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16"/>
                  </a:ext>
                </a:extLst>
              </a:tr>
              <a:tr h="133333">
                <a:tc>
                  <a:txBody>
                    <a:bodyPr/>
                    <a:lstStyle/>
                    <a:p>
                      <a:pPr algn="ctr" fontAlgn="t">
                        <a:buNone/>
                      </a:pPr>
                      <a:r>
                        <a:rPr lang="en-US" sz="800" u="none" strike="noStrike">
                          <a:solidFill>
                            <a:schemeClr val="bg1"/>
                          </a:solidFill>
                          <a:effectLst/>
                          <a:latin typeface="Arial" panose="020B0604020202020204" pitchFamily="34" charset="0"/>
                          <a:cs typeface="Arial" panose="020B0604020202020204" pitchFamily="34" charset="0"/>
                        </a:rPr>
                        <a:t>17</a:t>
                      </a:r>
                      <a:endParaRPr lang="en-US"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Өнөөгийн цэвэр үнэ цэн (NPV, 10%)</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сая төг.</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18,997.5</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17"/>
                  </a:ext>
                </a:extLst>
              </a:tr>
              <a:tr h="133333">
                <a:tc>
                  <a:txBody>
                    <a:bodyPr/>
                    <a:lstStyle/>
                    <a:p>
                      <a:pPr algn="ctr" fontAlgn="t">
                        <a:buNone/>
                      </a:pPr>
                      <a:r>
                        <a:rPr lang="en-US" sz="800" u="none" strike="noStrike">
                          <a:solidFill>
                            <a:schemeClr val="bg1"/>
                          </a:solidFill>
                          <a:effectLst/>
                          <a:latin typeface="Arial" panose="020B0604020202020204" pitchFamily="34" charset="0"/>
                          <a:cs typeface="Arial" panose="020B0604020202020204" pitchFamily="34" charset="0"/>
                        </a:rPr>
                        <a:t>18</a:t>
                      </a:r>
                      <a:endParaRPr lang="en-US"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Өгөөжийн дотоод норм, IRR</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51.6%</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18"/>
                  </a:ext>
                </a:extLst>
              </a:tr>
              <a:tr h="133333">
                <a:tc>
                  <a:txBody>
                    <a:bodyPr/>
                    <a:lstStyle/>
                    <a:p>
                      <a:pPr algn="ctr" fontAlgn="t">
                        <a:buNone/>
                      </a:pPr>
                      <a:r>
                        <a:rPr lang="en-US" sz="800" b="0" i="0" u="none" strike="noStrike" dirty="0">
                          <a:solidFill>
                            <a:schemeClr val="bg1"/>
                          </a:solidFill>
                          <a:effectLst/>
                          <a:latin typeface="Arial" panose="020B0604020202020204" pitchFamily="34" charset="0"/>
                          <a:cs typeface="Arial" panose="020B0604020202020204" pitchFamily="34" charset="0"/>
                        </a:rPr>
                        <a:t>19</a:t>
                      </a:r>
                    </a:p>
                  </a:txBody>
                  <a:tcPr marL="6350" marR="6350" marT="6350" marB="0">
                    <a:noFill/>
                  </a:tcPr>
                </a:tc>
                <a:tc>
                  <a:txBody>
                    <a:bodyPr/>
                    <a:lstStyle/>
                    <a:p>
                      <a:pPr algn="l" fontAlgn="t">
                        <a:buNone/>
                      </a:pPr>
                      <a:r>
                        <a:rPr lang="mn-MN" sz="800" u="none" strike="noStrike">
                          <a:solidFill>
                            <a:schemeClr val="bg1"/>
                          </a:solidFill>
                          <a:effectLst/>
                          <a:latin typeface="Arial" panose="020B0604020202020204" pitchFamily="34" charset="0"/>
                          <a:cs typeface="Arial" panose="020B0604020202020204" pitchFamily="34" charset="0"/>
                        </a:rPr>
                        <a:t>Хөрөнгө оруулалтаа нөхөх хугацаа</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mn-MN" sz="800" u="none" strike="noStrike">
                          <a:solidFill>
                            <a:schemeClr val="bg1"/>
                          </a:solidFill>
                          <a:effectLst/>
                          <a:latin typeface="Arial" panose="020B0604020202020204" pitchFamily="34" charset="0"/>
                          <a:cs typeface="Arial" panose="020B0604020202020204" pitchFamily="34" charset="0"/>
                        </a:rPr>
                        <a:t>жил</a:t>
                      </a:r>
                      <a:endParaRPr lang="mn-MN" sz="800" b="0" i="0" u="none" strike="noStrike">
                        <a:solidFill>
                          <a:schemeClr val="bg1"/>
                        </a:solidFill>
                        <a:effectLst/>
                        <a:latin typeface="Arial" panose="020B0604020202020204" pitchFamily="34" charset="0"/>
                        <a:cs typeface="Arial" panose="020B0604020202020204" pitchFamily="34" charset="0"/>
                      </a:endParaRPr>
                    </a:p>
                  </a:txBody>
                  <a:tcPr marL="6350" marR="6350" marT="6350" marB="0">
                    <a:noFill/>
                  </a:tcPr>
                </a:tc>
                <a:tc>
                  <a:txBody>
                    <a:bodyPr/>
                    <a:lstStyle/>
                    <a:p>
                      <a:pPr algn="ctr" fontAlgn="t">
                        <a:buNone/>
                      </a:pPr>
                      <a:r>
                        <a:rPr lang="en-US" sz="800" u="none" strike="noStrike" dirty="0">
                          <a:solidFill>
                            <a:schemeClr val="bg1"/>
                          </a:solidFill>
                          <a:effectLst/>
                          <a:latin typeface="Arial" panose="020B0604020202020204" pitchFamily="34" charset="0"/>
                          <a:cs typeface="Arial" panose="020B0604020202020204" pitchFamily="34" charset="0"/>
                        </a:rPr>
                        <a:t>2.7</a:t>
                      </a:r>
                      <a:endParaRPr lang="en-US" sz="800" b="0" i="0" u="none" strike="noStrike" dirty="0">
                        <a:solidFill>
                          <a:schemeClr val="bg1"/>
                        </a:solidFill>
                        <a:effectLst/>
                        <a:latin typeface="Arial" panose="020B0604020202020204" pitchFamily="34" charset="0"/>
                        <a:cs typeface="Arial" panose="020B0604020202020204" pitchFamily="34" charset="0"/>
                      </a:endParaRPr>
                    </a:p>
                  </a:txBody>
                  <a:tcPr marL="6350" marR="6350" marT="6350" marB="0" anchor="ctr">
                    <a:noFill/>
                  </a:tcPr>
                </a:tc>
                <a:extLst>
                  <a:ext uri="{0D108BD9-81ED-4DB2-BD59-A6C34878D82A}">
                    <a16:rowId xmlns:a16="http://schemas.microsoft.com/office/drawing/2014/main" val="10019"/>
                  </a:ext>
                </a:extLst>
              </a:tr>
            </a:tbl>
          </a:graphicData>
        </a:graphic>
      </p:graphicFrame>
      <p:graphicFrame>
        <p:nvGraphicFramePr>
          <p:cNvPr id="7" name="Chart 6">
            <a:extLst>
              <a:ext uri="{FF2B5EF4-FFF2-40B4-BE49-F238E27FC236}">
                <a16:creationId xmlns:a16="http://schemas.microsoft.com/office/drawing/2014/main" id="{D6163403-B578-41DB-B5BC-755C4DD0A597}"/>
              </a:ext>
            </a:extLst>
          </p:cNvPr>
          <p:cNvGraphicFramePr>
            <a:graphicFrameLocks/>
          </p:cNvGraphicFramePr>
          <p:nvPr>
            <p:extLst>
              <p:ext uri="{D42A27DB-BD31-4B8C-83A1-F6EECF244321}">
                <p14:modId xmlns:p14="http://schemas.microsoft.com/office/powerpoint/2010/main" val="3485469718"/>
              </p:ext>
            </p:extLst>
          </p:nvPr>
        </p:nvGraphicFramePr>
        <p:xfrm>
          <a:off x="864153" y="4905403"/>
          <a:ext cx="4694043" cy="1694597"/>
        </p:xfrm>
        <a:graphic>
          <a:graphicData uri="http://schemas.openxmlformats.org/drawingml/2006/chart">
            <c:chart xmlns:c="http://schemas.openxmlformats.org/drawingml/2006/chart" xmlns:r="http://schemas.openxmlformats.org/officeDocument/2006/relationships" r:id="rId3"/>
          </a:graphicData>
        </a:graphic>
      </p:graphicFrame>
      <p:pic>
        <p:nvPicPr>
          <p:cNvPr id="48" name="Picture 47">
            <a:extLst>
              <a:ext uri="{FF2B5EF4-FFF2-40B4-BE49-F238E27FC236}">
                <a16:creationId xmlns:a16="http://schemas.microsoft.com/office/drawing/2014/main" id="{08BD96AE-44BA-43B5-AC7D-F5106ACF89B6}"/>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351924" y="574105"/>
            <a:ext cx="7714493" cy="56798"/>
          </a:xfrm>
          <a:prstGeom prst="rect">
            <a:avLst/>
          </a:prstGeom>
          <a:noFill/>
          <a:ln>
            <a:noFill/>
          </a:ln>
        </p:spPr>
      </p:pic>
      <p:grpSp>
        <p:nvGrpSpPr>
          <p:cNvPr id="47" name="Group 46">
            <a:extLst>
              <a:ext uri="{FF2B5EF4-FFF2-40B4-BE49-F238E27FC236}">
                <a16:creationId xmlns:a16="http://schemas.microsoft.com/office/drawing/2014/main" id="{E708F1D2-B062-4626-917A-50B547A936F1}"/>
              </a:ext>
            </a:extLst>
          </p:cNvPr>
          <p:cNvGrpSpPr/>
          <p:nvPr/>
        </p:nvGrpSpPr>
        <p:grpSpPr>
          <a:xfrm>
            <a:off x="6071030" y="3873892"/>
            <a:ext cx="5786195" cy="2399275"/>
            <a:chOff x="9390207" y="5841124"/>
            <a:chExt cx="8679293" cy="3598913"/>
          </a:xfrm>
        </p:grpSpPr>
        <p:sp>
          <p:nvSpPr>
            <p:cNvPr id="50" name="TextBox 49">
              <a:extLst>
                <a:ext uri="{FF2B5EF4-FFF2-40B4-BE49-F238E27FC236}">
                  <a16:creationId xmlns:a16="http://schemas.microsoft.com/office/drawing/2014/main" id="{4CBBF10B-F323-4F93-ABCE-3072AC5B25CA}"/>
                </a:ext>
              </a:extLst>
            </p:cNvPr>
            <p:cNvSpPr txBox="1"/>
            <p:nvPr/>
          </p:nvSpPr>
          <p:spPr>
            <a:xfrm>
              <a:off x="12012036" y="5946005"/>
              <a:ext cx="2625740" cy="400110"/>
            </a:xfrm>
            <a:prstGeom prst="rect">
              <a:avLst/>
            </a:prstGeom>
            <a:noFill/>
          </p:spPr>
          <p:txBody>
            <a:bodyPr wrap="square">
              <a:spAutoFit/>
            </a:bodyPr>
            <a:lstStyle/>
            <a:p>
              <a:pPr algn="ctr"/>
              <a:r>
                <a:rPr lang="mn-MN" sz="1350" b="1" i="1" dirty="0">
                  <a:solidFill>
                    <a:schemeClr val="bg1"/>
                  </a:solidFill>
                  <a:latin typeface="Arial" panose="020B0604020202020204" pitchFamily="34" charset="0"/>
                  <a:cs typeface="Arial" panose="020B0604020202020204" pitchFamily="34" charset="0"/>
                </a:rPr>
                <a:t>Хугарлын цэгүүд</a:t>
              </a:r>
            </a:p>
          </p:txBody>
        </p:sp>
        <p:sp>
          <p:nvSpPr>
            <p:cNvPr id="51" name="Rectangle: Rounded Corners 50">
              <a:extLst>
                <a:ext uri="{FF2B5EF4-FFF2-40B4-BE49-F238E27FC236}">
                  <a16:creationId xmlns:a16="http://schemas.microsoft.com/office/drawing/2014/main" id="{7D02ABB3-E31E-4EE4-ADA9-BFCF7550EA90}"/>
                </a:ext>
              </a:extLst>
            </p:cNvPr>
            <p:cNvSpPr/>
            <p:nvPr/>
          </p:nvSpPr>
          <p:spPr>
            <a:xfrm>
              <a:off x="11900836" y="5841124"/>
              <a:ext cx="2792085" cy="630000"/>
            </a:xfrm>
            <a:prstGeom prst="round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a:extLst>
                <a:ext uri="{FF2B5EF4-FFF2-40B4-BE49-F238E27FC236}">
                  <a16:creationId xmlns:a16="http://schemas.microsoft.com/office/drawing/2014/main" id="{300AFB96-EF3D-47BB-BF65-C495E554BF7D}"/>
                </a:ext>
              </a:extLst>
            </p:cNvPr>
            <p:cNvCxnSpPr>
              <a:cxnSpLocks/>
            </p:cNvCxnSpPr>
            <p:nvPr/>
          </p:nvCxnSpPr>
          <p:spPr>
            <a:xfrm flipH="1">
              <a:off x="10697986" y="6471124"/>
              <a:ext cx="1597128" cy="1029978"/>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2C81B65-FF4F-4DCB-92B4-07CB2FAF30E2}"/>
                </a:ext>
              </a:extLst>
            </p:cNvPr>
            <p:cNvCxnSpPr>
              <a:cxnSpLocks/>
            </p:cNvCxnSpPr>
            <p:nvPr/>
          </p:nvCxnSpPr>
          <p:spPr>
            <a:xfrm>
              <a:off x="13182600" y="6471124"/>
              <a:ext cx="0" cy="1583918"/>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D90D4A4-B10D-4FA2-9027-63CB8DFD5AC4}"/>
                </a:ext>
              </a:extLst>
            </p:cNvPr>
            <p:cNvCxnSpPr>
              <a:cxnSpLocks/>
            </p:cNvCxnSpPr>
            <p:nvPr/>
          </p:nvCxnSpPr>
          <p:spPr>
            <a:xfrm>
              <a:off x="14258481" y="6471124"/>
              <a:ext cx="1637290" cy="101466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553C33C2-8E2F-4C4B-8FE6-67890C8531CE}"/>
                </a:ext>
              </a:extLst>
            </p:cNvPr>
            <p:cNvSpPr txBox="1"/>
            <p:nvPr/>
          </p:nvSpPr>
          <p:spPr>
            <a:xfrm>
              <a:off x="9399144" y="8000151"/>
              <a:ext cx="1972145" cy="369332"/>
            </a:xfrm>
            <a:prstGeom prst="rect">
              <a:avLst/>
            </a:prstGeom>
            <a:noFill/>
          </p:spPr>
          <p:txBody>
            <a:bodyPr wrap="square">
              <a:spAutoFit/>
            </a:bodyPr>
            <a:lstStyle/>
            <a:p>
              <a:pPr algn="ctr"/>
              <a:r>
                <a:rPr lang="mn-MN" b="1" dirty="0">
                  <a:solidFill>
                    <a:schemeClr val="bg1"/>
                  </a:solidFill>
                  <a:latin typeface="Arial" panose="020B0604020202020204" pitchFamily="34" charset="0"/>
                  <a:cs typeface="Arial" panose="020B0604020202020204" pitchFamily="34" charset="0"/>
                </a:rPr>
                <a:t>25.7%</a:t>
              </a:r>
            </a:p>
          </p:txBody>
        </p:sp>
        <p:sp>
          <p:nvSpPr>
            <p:cNvPr id="59" name="TextBox 58">
              <a:extLst>
                <a:ext uri="{FF2B5EF4-FFF2-40B4-BE49-F238E27FC236}">
                  <a16:creationId xmlns:a16="http://schemas.microsoft.com/office/drawing/2014/main" id="{4828C4EF-5C95-44D8-9C75-FD53C0C6FA37}"/>
                </a:ext>
              </a:extLst>
            </p:cNvPr>
            <p:cNvSpPr txBox="1"/>
            <p:nvPr/>
          </p:nvSpPr>
          <p:spPr>
            <a:xfrm>
              <a:off x="12196527" y="8833285"/>
              <a:ext cx="1972145" cy="369331"/>
            </a:xfrm>
            <a:prstGeom prst="rect">
              <a:avLst/>
            </a:prstGeom>
            <a:noFill/>
          </p:spPr>
          <p:txBody>
            <a:bodyPr wrap="square">
              <a:spAutoFit/>
            </a:bodyPr>
            <a:lstStyle/>
            <a:p>
              <a:pPr algn="ctr"/>
              <a:r>
                <a:rPr lang="mn-MN" b="1" dirty="0">
                  <a:solidFill>
                    <a:schemeClr val="bg1"/>
                  </a:solidFill>
                  <a:latin typeface="Arial" panose="020B0604020202020204" pitchFamily="34" charset="0"/>
                  <a:cs typeface="Arial" panose="020B0604020202020204" pitchFamily="34" charset="0"/>
                </a:rPr>
                <a:t>32.7%</a:t>
              </a:r>
            </a:p>
          </p:txBody>
        </p:sp>
        <p:sp>
          <p:nvSpPr>
            <p:cNvPr id="60" name="TextBox 59">
              <a:extLst>
                <a:ext uri="{FF2B5EF4-FFF2-40B4-BE49-F238E27FC236}">
                  <a16:creationId xmlns:a16="http://schemas.microsoft.com/office/drawing/2014/main" id="{DC4E41D3-63FD-44BD-B20D-6669F1641FEF}"/>
                </a:ext>
              </a:extLst>
            </p:cNvPr>
            <p:cNvSpPr txBox="1"/>
            <p:nvPr/>
          </p:nvSpPr>
          <p:spPr>
            <a:xfrm>
              <a:off x="15237527" y="8055042"/>
              <a:ext cx="2400000" cy="1384995"/>
            </a:xfrm>
            <a:prstGeom prst="rect">
              <a:avLst/>
            </a:prstGeom>
            <a:noFill/>
          </p:spPr>
          <p:txBody>
            <a:bodyPr wrap="square">
              <a:spAutoFit/>
            </a:bodyPr>
            <a:lstStyle/>
            <a:p>
              <a:pPr algn="ctr"/>
              <a:r>
                <a:rPr lang="en-US" b="1" dirty="0">
                  <a:solidFill>
                    <a:schemeClr val="bg1"/>
                  </a:solidFill>
                  <a:latin typeface="Arial" panose="020B0604020202020204" pitchFamily="34" charset="0"/>
                  <a:cs typeface="Arial" panose="020B0604020202020204" pitchFamily="34" charset="0"/>
                </a:rPr>
                <a:t>250% </a:t>
              </a:r>
              <a:r>
                <a:rPr lang="mn-MN" b="1" dirty="0">
                  <a:solidFill>
                    <a:schemeClr val="bg1"/>
                  </a:solidFill>
                  <a:latin typeface="Arial" panose="020B0604020202020204" pitchFamily="34" charset="0"/>
                  <a:cs typeface="Arial" panose="020B0604020202020204" pitchFamily="34" charset="0"/>
                </a:rPr>
                <a:t>буюу 3.5 дахин</a:t>
              </a:r>
            </a:p>
            <a:p>
              <a:pPr algn="ctr"/>
              <a:endParaRPr lang="en-US" b="1" dirty="0">
                <a:solidFill>
                  <a:schemeClr val="bg1"/>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78CADB90-A51B-4E07-B7AF-1F309CBCEF89}"/>
                </a:ext>
              </a:extLst>
            </p:cNvPr>
            <p:cNvSpPr txBox="1"/>
            <p:nvPr/>
          </p:nvSpPr>
          <p:spPr>
            <a:xfrm>
              <a:off x="9390207" y="7570185"/>
              <a:ext cx="1972145" cy="369332"/>
            </a:xfrm>
            <a:prstGeom prst="rect">
              <a:avLst/>
            </a:prstGeom>
            <a:noFill/>
          </p:spPr>
          <p:txBody>
            <a:bodyPr wrap="square">
              <a:spAutoFit/>
            </a:bodyPr>
            <a:lstStyle/>
            <a:p>
              <a:pPr algn="ctr"/>
              <a:r>
                <a:rPr lang="mn-MN" b="1" i="1" dirty="0">
                  <a:solidFill>
                    <a:schemeClr val="bg1"/>
                  </a:solidFill>
                  <a:latin typeface="Arial" panose="020B0604020202020204" pitchFamily="34" charset="0"/>
                  <a:cs typeface="Arial" panose="020B0604020202020204" pitchFamily="34" charset="0"/>
                </a:rPr>
                <a:t>Үнэ</a:t>
              </a:r>
            </a:p>
          </p:txBody>
        </p:sp>
        <p:sp>
          <p:nvSpPr>
            <p:cNvPr id="62" name="TextBox 61">
              <a:extLst>
                <a:ext uri="{FF2B5EF4-FFF2-40B4-BE49-F238E27FC236}">
                  <a16:creationId xmlns:a16="http://schemas.microsoft.com/office/drawing/2014/main" id="{E9DEA743-D74E-41AF-978D-8FA0016E5358}"/>
                </a:ext>
              </a:extLst>
            </p:cNvPr>
            <p:cNvSpPr txBox="1"/>
            <p:nvPr/>
          </p:nvSpPr>
          <p:spPr>
            <a:xfrm>
              <a:off x="11007880" y="8043769"/>
              <a:ext cx="4400000" cy="646331"/>
            </a:xfrm>
            <a:prstGeom prst="rect">
              <a:avLst/>
            </a:prstGeom>
            <a:noFill/>
          </p:spPr>
          <p:txBody>
            <a:bodyPr wrap="square">
              <a:spAutoFit/>
            </a:bodyPr>
            <a:lstStyle/>
            <a:p>
              <a:pPr algn="ctr"/>
              <a:r>
                <a:rPr lang="mn-MN" b="1" i="1" dirty="0">
                  <a:solidFill>
                    <a:schemeClr val="bg1"/>
                  </a:solidFill>
                  <a:latin typeface="Arial" panose="020B0604020202020204" pitchFamily="34" charset="0"/>
                  <a:cs typeface="Arial" panose="020B0604020202020204" pitchFamily="34" charset="0"/>
                </a:rPr>
                <a:t>Үйл ажиллагааны зардал</a:t>
              </a:r>
            </a:p>
          </p:txBody>
        </p:sp>
        <p:sp>
          <p:nvSpPr>
            <p:cNvPr id="63" name="TextBox 62">
              <a:extLst>
                <a:ext uri="{FF2B5EF4-FFF2-40B4-BE49-F238E27FC236}">
                  <a16:creationId xmlns:a16="http://schemas.microsoft.com/office/drawing/2014/main" id="{C48312E6-E5BC-4B20-94A8-DEC8CB03FC5A}"/>
                </a:ext>
              </a:extLst>
            </p:cNvPr>
            <p:cNvSpPr txBox="1"/>
            <p:nvPr/>
          </p:nvSpPr>
          <p:spPr>
            <a:xfrm>
              <a:off x="14453748" y="7586183"/>
              <a:ext cx="3615752" cy="553998"/>
            </a:xfrm>
            <a:prstGeom prst="rect">
              <a:avLst/>
            </a:prstGeom>
            <a:noFill/>
          </p:spPr>
          <p:txBody>
            <a:bodyPr wrap="square">
              <a:spAutoFit/>
            </a:bodyPr>
            <a:lstStyle/>
            <a:p>
              <a:pPr algn="ctr"/>
              <a:r>
                <a:rPr lang="mn-MN" b="1" i="1" dirty="0">
                  <a:solidFill>
                    <a:schemeClr val="bg1"/>
                  </a:solidFill>
                  <a:latin typeface="Arial" panose="020B0604020202020204" pitchFamily="34" charset="0"/>
                  <a:cs typeface="Arial" panose="020B0604020202020204" pitchFamily="34" charset="0"/>
                </a:rPr>
                <a:t>Хөрөнгө оруулалт</a:t>
              </a:r>
            </a:p>
          </p:txBody>
        </p:sp>
        <p:cxnSp>
          <p:nvCxnSpPr>
            <p:cNvPr id="65" name="Straight Arrow Connector 64">
              <a:extLst>
                <a:ext uri="{FF2B5EF4-FFF2-40B4-BE49-F238E27FC236}">
                  <a16:creationId xmlns:a16="http://schemas.microsoft.com/office/drawing/2014/main" id="{1CCC90DB-E935-4FBB-B95C-BCEE50BC908D}"/>
                </a:ext>
              </a:extLst>
            </p:cNvPr>
            <p:cNvCxnSpPr>
              <a:cxnSpLocks/>
              <a:endCxn id="62" idx="1"/>
            </p:cNvCxnSpPr>
            <p:nvPr/>
          </p:nvCxnSpPr>
          <p:spPr>
            <a:xfrm>
              <a:off x="11007881" y="8093465"/>
              <a:ext cx="0" cy="27346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490428C-9B30-41F5-9CCD-BEF2D34F6F45}"/>
                </a:ext>
              </a:extLst>
            </p:cNvPr>
            <p:cNvCxnSpPr>
              <a:cxnSpLocks/>
            </p:cNvCxnSpPr>
            <p:nvPr/>
          </p:nvCxnSpPr>
          <p:spPr>
            <a:xfrm flipV="1">
              <a:off x="13720740" y="8929027"/>
              <a:ext cx="0" cy="40381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93484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0" name="!!Truck" descr="Автосамосвал"/>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24800" y="6464300"/>
            <a:ext cx="330200" cy="330200"/>
          </a:xfrm>
          <a:prstGeom prst="rect">
            <a:avLst/>
          </a:prstGeom>
        </p:spPr>
      </p:pic>
      <p:sp>
        <p:nvSpPr>
          <p:cNvPr id="2" name="Thanks">
            <a:extLst>
              <a:ext uri="{FF2B5EF4-FFF2-40B4-BE49-F238E27FC236}">
                <a16:creationId xmlns:a16="http://schemas.microsoft.com/office/drawing/2014/main" id="{2050B4BE-B94B-437D-B84F-05E09812E867}"/>
              </a:ext>
            </a:extLst>
          </p:cNvPr>
          <p:cNvSpPr txBox="1"/>
          <p:nvPr/>
        </p:nvSpPr>
        <p:spPr>
          <a:xfrm>
            <a:off x="1016000" y="2857500"/>
            <a:ext cx="10160000" cy="762000"/>
          </a:xfrm>
          <a:prstGeom prst="rect">
            <a:avLst/>
          </a:prstGeom>
          <a:noFill/>
        </p:spPr>
        <p:txBody>
          <a:bodyPr vertOverflow="overflow" vert="horz" wrap="square" lIns="0" rIns="0" rtlCol="0" anchor="ctr" anchorCtr="0">
            <a:noAutofit/>
          </a:bodyPr>
          <a:lstStyle/>
          <a:p>
            <a:pPr algn="ctr"/>
            <a:r>
              <a:rPr lang="mn-MN" sz="4000" b="1">
                <a:solidFill>
                  <a:srgbClr val="F2F2F0"/>
                </a:solidFill>
                <a:latin typeface="Arial"/>
                <a:cs typeface="Arial"/>
              </a:rPr>
              <a:t>Анхаарал хандуулсанд баярлалаа</a:t>
            </a:r>
            <a:endParaRPr lang="en-US" sz="4000" b="1">
              <a:solidFill>
                <a:srgbClr val="F2F2F0"/>
              </a:solidFill>
              <a:latin typeface="Arial"/>
              <a:cs typeface="Arial"/>
            </a:endParaRPr>
          </a:p>
        </p:txBody>
      </p:sp>
      <p:sp>
        <p:nvSpPr>
          <p:cNvPr id="3" name="Accent rule">
            <a:extLst>
              <a:ext uri="{FF2B5EF4-FFF2-40B4-BE49-F238E27FC236}">
                <a16:creationId xmlns:a16="http://schemas.microsoft.com/office/drawing/2014/main" id="{90141160-4790-4F14-9787-B767AD3DFBF2}"/>
              </a:ext>
            </a:extLst>
          </p:cNvPr>
          <p:cNvSpPr/>
          <p:nvPr/>
        </p:nvSpPr>
        <p:spPr>
          <a:xfrm>
            <a:off x="5715000" y="3810000"/>
            <a:ext cx="762000" cy="50800"/>
          </a:xfrm>
          <a:prstGeom prst="rect">
            <a:avLst/>
          </a:prstGeom>
          <a:solidFill>
            <a:srgbClr val="F5E61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6269211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FE3C4-AE04-C0BC-1755-BA789745A8DA}"/>
            </a:ext>
          </a:extLst>
        </p:cNvPr>
        <p:cNvGrpSpPr/>
        <p:nvPr/>
      </p:nvGrpSpPr>
      <p:grpSpPr>
        <a:xfrm>
          <a:off x="0" y="0"/>
          <a:ext cx="0" cy="0"/>
          <a:chOff x="0" y="0"/>
          <a:chExt cx="0" cy="0"/>
        </a:xfrm>
      </p:grpSpPr>
      <p:pic>
        <p:nvPicPr>
          <p:cNvPr id="900" name="!!Truck" descr="Автосамосвал">
            <a:extLst>
              <a:ext uri="{FF2B5EF4-FFF2-40B4-BE49-F238E27FC236}">
                <a16:creationId xmlns:a16="http://schemas.microsoft.com/office/drawing/2014/main" id="{3D642BA9-19B3-44CC-32F7-E63F26687C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24800" y="6464300"/>
            <a:ext cx="330200" cy="330200"/>
          </a:xfrm>
          <a:prstGeom prst="rect">
            <a:avLst/>
          </a:prstGeom>
        </p:spPr>
      </p:pic>
      <p:sp>
        <p:nvSpPr>
          <p:cNvPr id="3" name="Accent rule">
            <a:extLst>
              <a:ext uri="{FF2B5EF4-FFF2-40B4-BE49-F238E27FC236}">
                <a16:creationId xmlns:a16="http://schemas.microsoft.com/office/drawing/2014/main" id="{8298A762-BA18-2E6F-6751-B37A59806E08}"/>
              </a:ext>
            </a:extLst>
          </p:cNvPr>
          <p:cNvSpPr/>
          <p:nvPr/>
        </p:nvSpPr>
        <p:spPr>
          <a:xfrm>
            <a:off x="5715000" y="3810000"/>
            <a:ext cx="762000" cy="50800"/>
          </a:xfrm>
          <a:prstGeom prst="rect">
            <a:avLst/>
          </a:prstGeom>
          <a:solidFill>
            <a:srgbClr val="F5E61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3858954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34C56-BF9F-081E-19EF-B495B6B4485F}"/>
            </a:ext>
          </a:extLst>
        </p:cNvPr>
        <p:cNvGrpSpPr/>
        <p:nvPr/>
      </p:nvGrpSpPr>
      <p:grpSpPr>
        <a:xfrm>
          <a:off x="0" y="0"/>
          <a:ext cx="0" cy="0"/>
          <a:chOff x="0" y="0"/>
          <a:chExt cx="0" cy="0"/>
        </a:xfrm>
      </p:grpSpPr>
      <p:pic>
        <p:nvPicPr>
          <p:cNvPr id="900" name="!!Truck" descr="Автосамосвал">
            <a:extLst>
              <a:ext uri="{FF2B5EF4-FFF2-40B4-BE49-F238E27FC236}">
                <a16:creationId xmlns:a16="http://schemas.microsoft.com/office/drawing/2014/main" id="{EA1EB2DB-B139-E039-043E-0EE6CEA651E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24800" y="6464300"/>
            <a:ext cx="330200" cy="330200"/>
          </a:xfrm>
          <a:prstGeom prst="rect">
            <a:avLst/>
          </a:prstGeom>
        </p:spPr>
      </p:pic>
      <p:sp>
        <p:nvSpPr>
          <p:cNvPr id="3" name="Accent rule">
            <a:extLst>
              <a:ext uri="{FF2B5EF4-FFF2-40B4-BE49-F238E27FC236}">
                <a16:creationId xmlns:a16="http://schemas.microsoft.com/office/drawing/2014/main" id="{C2E81C22-32B9-ADBC-3EAF-6416F3355978}"/>
              </a:ext>
            </a:extLst>
          </p:cNvPr>
          <p:cNvSpPr/>
          <p:nvPr/>
        </p:nvSpPr>
        <p:spPr>
          <a:xfrm>
            <a:off x="5715000" y="3810000"/>
            <a:ext cx="762000" cy="50800"/>
          </a:xfrm>
          <a:prstGeom prst="rect">
            <a:avLst/>
          </a:prstGeom>
          <a:solidFill>
            <a:srgbClr val="F5E61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193752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C9A5C-954E-FD6E-374D-0156E587E455}"/>
            </a:ext>
          </a:extLst>
        </p:cNvPr>
        <p:cNvGrpSpPr/>
        <p:nvPr/>
      </p:nvGrpSpPr>
      <p:grpSpPr>
        <a:xfrm>
          <a:off x="0" y="0"/>
          <a:ext cx="0" cy="0"/>
          <a:chOff x="0" y="0"/>
          <a:chExt cx="0" cy="0"/>
        </a:xfrm>
      </p:grpSpPr>
      <p:pic>
        <p:nvPicPr>
          <p:cNvPr id="900" name="!!Truck" descr="Автосамосвал">
            <a:extLst>
              <a:ext uri="{FF2B5EF4-FFF2-40B4-BE49-F238E27FC236}">
                <a16:creationId xmlns:a16="http://schemas.microsoft.com/office/drawing/2014/main" id="{7124D1DE-801A-586E-693C-9387AAD5C8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24800" y="6464300"/>
            <a:ext cx="330200" cy="330200"/>
          </a:xfrm>
          <a:prstGeom prst="rect">
            <a:avLst/>
          </a:prstGeom>
        </p:spPr>
      </p:pic>
      <p:sp>
        <p:nvSpPr>
          <p:cNvPr id="2" name="Thanks">
            <a:extLst>
              <a:ext uri="{FF2B5EF4-FFF2-40B4-BE49-F238E27FC236}">
                <a16:creationId xmlns:a16="http://schemas.microsoft.com/office/drawing/2014/main" id="{68E5DB62-C533-67B3-C5C2-66AB440C1F36}"/>
              </a:ext>
            </a:extLst>
          </p:cNvPr>
          <p:cNvSpPr txBox="1"/>
          <p:nvPr/>
        </p:nvSpPr>
        <p:spPr>
          <a:xfrm>
            <a:off x="-65453" y="782515"/>
            <a:ext cx="10160000" cy="762000"/>
          </a:xfrm>
          <a:prstGeom prst="rect">
            <a:avLst/>
          </a:prstGeom>
          <a:noFill/>
        </p:spPr>
        <p:txBody>
          <a:bodyPr vertOverflow="overflow" vert="horz" wrap="square" lIns="0" rIns="0" rtlCol="0" anchor="ctr" anchorCtr="0">
            <a:noAutofit/>
          </a:bodyPr>
          <a:lstStyle/>
          <a:p>
            <a:pPr algn="ctr"/>
            <a:r>
              <a:rPr lang="mn-MN" sz="4000" b="1" dirty="0">
                <a:solidFill>
                  <a:srgbClr val="F2F2F0"/>
                </a:solidFill>
                <a:latin typeface="Arial"/>
                <a:cs typeface="Arial"/>
              </a:rPr>
              <a:t>Ил уурхайн өнөөгийн байдал</a:t>
            </a:r>
            <a:endParaRPr lang="en-US" sz="4000" b="1" dirty="0">
              <a:solidFill>
                <a:srgbClr val="F2F2F0"/>
              </a:solidFill>
              <a:latin typeface="Arial"/>
              <a:cs typeface="Arial"/>
            </a:endParaRPr>
          </a:p>
        </p:txBody>
      </p:sp>
      <p:pic>
        <p:nvPicPr>
          <p:cNvPr id="5" name="Picture 4">
            <a:extLst>
              <a:ext uri="{FF2B5EF4-FFF2-40B4-BE49-F238E27FC236}">
                <a16:creationId xmlns:a16="http://schemas.microsoft.com/office/drawing/2014/main" id="{2D59F884-F2B3-2B31-18A1-E31DBEB74C8A}"/>
              </a:ext>
            </a:extLst>
          </p:cNvPr>
          <p:cNvPicPr>
            <a:picLocks noChangeAspect="1"/>
          </p:cNvPicPr>
          <p:nvPr/>
        </p:nvPicPr>
        <p:blipFill>
          <a:blip r:embed="rId4"/>
          <a:stretch>
            <a:fillRect/>
          </a:stretch>
        </p:blipFill>
        <p:spPr>
          <a:xfrm>
            <a:off x="615960" y="1687735"/>
            <a:ext cx="6277210" cy="4633344"/>
          </a:xfrm>
          <a:prstGeom prst="rect">
            <a:avLst/>
          </a:prstGeom>
        </p:spPr>
      </p:pic>
      <p:sp>
        <p:nvSpPr>
          <p:cNvPr id="6" name="Thanks">
            <a:extLst>
              <a:ext uri="{FF2B5EF4-FFF2-40B4-BE49-F238E27FC236}">
                <a16:creationId xmlns:a16="http://schemas.microsoft.com/office/drawing/2014/main" id="{C2C7B3B0-48DE-3039-B1D4-8BC27D5D4011}"/>
              </a:ext>
            </a:extLst>
          </p:cNvPr>
          <p:cNvSpPr txBox="1"/>
          <p:nvPr/>
        </p:nvSpPr>
        <p:spPr>
          <a:xfrm>
            <a:off x="7638064" y="2237154"/>
            <a:ext cx="3020169" cy="1767253"/>
          </a:xfrm>
          <a:prstGeom prst="rect">
            <a:avLst/>
          </a:prstGeom>
          <a:noFill/>
        </p:spPr>
        <p:txBody>
          <a:bodyPr vertOverflow="overflow" vert="horz" wrap="square" lIns="0" rIns="0" rtlCol="0" anchor="ctr" anchorCtr="0">
            <a:noAutofit/>
          </a:bodyPr>
          <a:lstStyle/>
          <a:p>
            <a:pPr algn="just"/>
            <a:r>
              <a:rPr lang="mn-MN" sz="1600" b="1" dirty="0">
                <a:solidFill>
                  <a:srgbClr val="F2F2F0"/>
                </a:solidFill>
                <a:latin typeface="Arial"/>
                <a:cs typeface="Arial"/>
              </a:rPr>
              <a:t>Үүсмэл усан сан нь дээд дэвхаргын 3 блок доод давхаргын 2 үндсэн нөөцийн блокийн дээр байрлалтай байна. Энэ нь нийт нөөцийн 80,7 хувийг эзэлж байна. </a:t>
            </a:r>
            <a:endParaRPr lang="en-US" sz="1600" b="1" dirty="0">
              <a:solidFill>
                <a:srgbClr val="F2F2F0"/>
              </a:solidFill>
              <a:latin typeface="Arial"/>
              <a:cs typeface="Arial"/>
            </a:endParaRPr>
          </a:p>
        </p:txBody>
      </p:sp>
    </p:spTree>
    <p:extLst>
      <p:ext uri="{BB962C8B-B14F-4D97-AF65-F5344CB8AC3E}">
        <p14:creationId xmlns:p14="http://schemas.microsoft.com/office/powerpoint/2010/main" val="41064424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9E39F-080F-C10E-3430-601B5B60499F}"/>
            </a:ext>
          </a:extLst>
        </p:cNvPr>
        <p:cNvGrpSpPr/>
        <p:nvPr/>
      </p:nvGrpSpPr>
      <p:grpSpPr>
        <a:xfrm>
          <a:off x="0" y="0"/>
          <a:ext cx="0" cy="0"/>
          <a:chOff x="0" y="0"/>
          <a:chExt cx="0" cy="0"/>
        </a:xfrm>
      </p:grpSpPr>
      <p:pic>
        <p:nvPicPr>
          <p:cNvPr id="900" name="!!Truck" descr="Автосамосвал">
            <a:extLst>
              <a:ext uri="{FF2B5EF4-FFF2-40B4-BE49-F238E27FC236}">
                <a16:creationId xmlns:a16="http://schemas.microsoft.com/office/drawing/2014/main" id="{B5EDAED5-7B44-9A58-114E-C98579D3F0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24800" y="6464300"/>
            <a:ext cx="330200" cy="330200"/>
          </a:xfrm>
          <a:prstGeom prst="rect">
            <a:avLst/>
          </a:prstGeom>
        </p:spPr>
      </p:pic>
      <p:sp>
        <p:nvSpPr>
          <p:cNvPr id="2" name="Thanks">
            <a:extLst>
              <a:ext uri="{FF2B5EF4-FFF2-40B4-BE49-F238E27FC236}">
                <a16:creationId xmlns:a16="http://schemas.microsoft.com/office/drawing/2014/main" id="{67CAE46B-C696-43E2-663D-547583D4C473}"/>
              </a:ext>
            </a:extLst>
          </p:cNvPr>
          <p:cNvSpPr txBox="1"/>
          <p:nvPr/>
        </p:nvSpPr>
        <p:spPr>
          <a:xfrm>
            <a:off x="189524" y="643085"/>
            <a:ext cx="10160000" cy="762000"/>
          </a:xfrm>
          <a:prstGeom prst="rect">
            <a:avLst/>
          </a:prstGeom>
          <a:noFill/>
        </p:spPr>
        <p:txBody>
          <a:bodyPr vertOverflow="overflow" vert="horz" wrap="square" lIns="0" rIns="0" rtlCol="0" anchor="ctr" anchorCtr="0">
            <a:noAutofit/>
          </a:bodyPr>
          <a:lstStyle/>
          <a:p>
            <a:pPr algn="ctr"/>
            <a:r>
              <a:rPr lang="mn-MN" sz="3200" b="1" dirty="0">
                <a:solidFill>
                  <a:srgbClr val="F2F2F0"/>
                </a:solidFill>
                <a:latin typeface="Arial"/>
                <a:cs typeface="Arial"/>
              </a:rPr>
              <a:t>Нүүлгэн шилжүүлсний дараах байдал</a:t>
            </a:r>
            <a:endParaRPr lang="en-US" sz="3200" b="1" dirty="0">
              <a:solidFill>
                <a:srgbClr val="F2F2F0"/>
              </a:solidFill>
              <a:latin typeface="Arial"/>
              <a:cs typeface="Arial"/>
            </a:endParaRPr>
          </a:p>
        </p:txBody>
      </p:sp>
      <p:sp>
        <p:nvSpPr>
          <p:cNvPr id="6" name="Thanks">
            <a:extLst>
              <a:ext uri="{FF2B5EF4-FFF2-40B4-BE49-F238E27FC236}">
                <a16:creationId xmlns:a16="http://schemas.microsoft.com/office/drawing/2014/main" id="{888604A5-B58E-B907-D2B7-BF24CD1116CC}"/>
              </a:ext>
            </a:extLst>
          </p:cNvPr>
          <p:cNvSpPr txBox="1"/>
          <p:nvPr/>
        </p:nvSpPr>
        <p:spPr>
          <a:xfrm>
            <a:off x="7620479" y="1831644"/>
            <a:ext cx="3020169" cy="3433261"/>
          </a:xfrm>
          <a:prstGeom prst="rect">
            <a:avLst/>
          </a:prstGeom>
          <a:noFill/>
        </p:spPr>
        <p:txBody>
          <a:bodyPr vertOverflow="overflow" vert="horz" wrap="square" lIns="0" rIns="0" rtlCol="0" anchor="ctr" anchorCtr="0">
            <a:noAutofit/>
          </a:bodyPr>
          <a:lstStyle/>
          <a:p>
            <a:pPr algn="just"/>
            <a:r>
              <a:rPr lang="mn-MN" sz="1400" b="1" dirty="0">
                <a:solidFill>
                  <a:srgbClr val="F2F2F0"/>
                </a:solidFill>
                <a:cs typeface="Arial"/>
              </a:rPr>
              <a:t>Энэ нуурыг 30 орчим жилийн өмнө компани өөрөө геомембран дэвсэж байгуулсан үүсмэл усан сан. Мембран нь элэгдсэн тул нуурыг шилжүүлэхээр орон нутагтай тохиролцож байна. Ус шавхах тооцоо, шинэ байршил, мэргэжлийн байгууллагаар батлуулах зураг төсөл, суурь бэлтгэх болон шинэ мембраны зардлыг ТЭЗҮ-ийн эдийн засгийн бүлэг, хөрөнгө оруулалтын хэсэгт [8</a:t>
            </a:r>
            <a:r>
              <a:rPr lang="en-US" sz="1400" b="1" dirty="0">
                <a:solidFill>
                  <a:srgbClr val="F2F2F0"/>
                </a:solidFill>
                <a:cs typeface="Arial"/>
              </a:rPr>
              <a:t>50</a:t>
            </a:r>
            <a:r>
              <a:rPr lang="mn-MN" sz="1400" b="1" dirty="0">
                <a:solidFill>
                  <a:srgbClr val="F2F2F0"/>
                </a:solidFill>
                <a:cs typeface="Arial"/>
              </a:rPr>
              <a:t> сая ₮]-өөр тусгасан. Эхний жилд нуургүй блокд олборлох хооронд шилжүүлэлтийг дуусгана</a:t>
            </a:r>
            <a:endParaRPr lang="en-US" sz="1400" b="1" dirty="0">
              <a:solidFill>
                <a:srgbClr val="F2F2F0"/>
              </a:solidFill>
              <a:latin typeface="Arial"/>
              <a:cs typeface="Arial"/>
            </a:endParaRPr>
          </a:p>
        </p:txBody>
      </p:sp>
      <p:pic>
        <p:nvPicPr>
          <p:cNvPr id="4" name="Picture 3">
            <a:extLst>
              <a:ext uri="{FF2B5EF4-FFF2-40B4-BE49-F238E27FC236}">
                <a16:creationId xmlns:a16="http://schemas.microsoft.com/office/drawing/2014/main" id="{14184C27-D207-6A1A-7624-F10CD741823D}"/>
              </a:ext>
            </a:extLst>
          </p:cNvPr>
          <p:cNvPicPr>
            <a:picLocks noChangeAspect="1"/>
          </p:cNvPicPr>
          <p:nvPr/>
        </p:nvPicPr>
        <p:blipFill>
          <a:blip r:embed="rId4"/>
          <a:stretch>
            <a:fillRect/>
          </a:stretch>
        </p:blipFill>
        <p:spPr>
          <a:xfrm>
            <a:off x="911587" y="1827113"/>
            <a:ext cx="6072812" cy="4354587"/>
          </a:xfrm>
          <a:prstGeom prst="rect">
            <a:avLst/>
          </a:prstGeom>
        </p:spPr>
      </p:pic>
    </p:spTree>
    <p:extLst>
      <p:ext uri="{BB962C8B-B14F-4D97-AF65-F5344CB8AC3E}">
        <p14:creationId xmlns:p14="http://schemas.microsoft.com/office/powerpoint/2010/main" val="13151019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BEC1C-7128-F9FC-8D0F-19826A55E10D}"/>
            </a:ext>
          </a:extLst>
        </p:cNvPr>
        <p:cNvGrpSpPr/>
        <p:nvPr/>
      </p:nvGrpSpPr>
      <p:grpSpPr>
        <a:xfrm>
          <a:off x="0" y="0"/>
          <a:ext cx="0" cy="0"/>
          <a:chOff x="0" y="0"/>
          <a:chExt cx="0" cy="0"/>
        </a:xfrm>
      </p:grpSpPr>
      <p:pic>
        <p:nvPicPr>
          <p:cNvPr id="900" name="!!Truck" descr="Автосамосвал">
            <a:extLst>
              <a:ext uri="{FF2B5EF4-FFF2-40B4-BE49-F238E27FC236}">
                <a16:creationId xmlns:a16="http://schemas.microsoft.com/office/drawing/2014/main" id="{90DB5395-C5DC-2256-1F2F-BF0DA55CF90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24800" y="6464300"/>
            <a:ext cx="330200" cy="330200"/>
          </a:xfrm>
          <a:prstGeom prst="rect">
            <a:avLst/>
          </a:prstGeom>
        </p:spPr>
      </p:pic>
      <p:sp>
        <p:nvSpPr>
          <p:cNvPr id="2" name="Thanks">
            <a:extLst>
              <a:ext uri="{FF2B5EF4-FFF2-40B4-BE49-F238E27FC236}">
                <a16:creationId xmlns:a16="http://schemas.microsoft.com/office/drawing/2014/main" id="{D96EB430-A99D-D481-B0D8-9AA68950D047}"/>
              </a:ext>
            </a:extLst>
          </p:cNvPr>
          <p:cNvSpPr txBox="1"/>
          <p:nvPr/>
        </p:nvSpPr>
        <p:spPr>
          <a:xfrm>
            <a:off x="189524" y="643085"/>
            <a:ext cx="10160000" cy="762000"/>
          </a:xfrm>
          <a:prstGeom prst="rect">
            <a:avLst/>
          </a:prstGeom>
          <a:noFill/>
        </p:spPr>
        <p:txBody>
          <a:bodyPr vertOverflow="overflow" vert="horz" wrap="square" lIns="0" rIns="0" rtlCol="0" anchor="ctr" anchorCtr="0">
            <a:noAutofit/>
          </a:bodyPr>
          <a:lstStyle/>
          <a:p>
            <a:pPr algn="ctr"/>
            <a:r>
              <a:rPr lang="mn-MN" sz="3200" b="1" dirty="0">
                <a:solidFill>
                  <a:srgbClr val="F2F2F0"/>
                </a:solidFill>
                <a:latin typeface="Arial"/>
                <a:cs typeface="Arial"/>
              </a:rPr>
              <a:t>Нүүлгэн шилжүүлсний дараах байдал</a:t>
            </a:r>
            <a:endParaRPr lang="en-US" sz="3200" b="1" dirty="0">
              <a:solidFill>
                <a:srgbClr val="F2F2F0"/>
              </a:solidFill>
              <a:latin typeface="Arial"/>
              <a:cs typeface="Arial"/>
            </a:endParaRPr>
          </a:p>
        </p:txBody>
      </p:sp>
      <p:sp>
        <p:nvSpPr>
          <p:cNvPr id="6" name="Thanks">
            <a:extLst>
              <a:ext uri="{FF2B5EF4-FFF2-40B4-BE49-F238E27FC236}">
                <a16:creationId xmlns:a16="http://schemas.microsoft.com/office/drawing/2014/main" id="{E31E621A-4C49-76D3-EC1E-3D5E7531AE66}"/>
              </a:ext>
            </a:extLst>
          </p:cNvPr>
          <p:cNvSpPr txBox="1"/>
          <p:nvPr/>
        </p:nvSpPr>
        <p:spPr>
          <a:xfrm>
            <a:off x="7620479" y="1831644"/>
            <a:ext cx="3020169" cy="3433261"/>
          </a:xfrm>
          <a:prstGeom prst="rect">
            <a:avLst/>
          </a:prstGeom>
          <a:noFill/>
        </p:spPr>
        <p:txBody>
          <a:bodyPr vertOverflow="overflow" vert="horz" wrap="square" lIns="0" rIns="0" rtlCol="0" anchor="ctr" anchorCtr="0">
            <a:noAutofit/>
          </a:bodyPr>
          <a:lstStyle/>
          <a:p>
            <a:r>
              <a:rPr lang="mn-MN" sz="1400" b="1" dirty="0"/>
              <a:t>Ус:</a:t>
            </a:r>
            <a:r>
              <a:rPr lang="mn-MN" sz="1400" dirty="0"/>
              <a:t> 692.55 мян.м³, 45 хоногт шилжүүлнэ.</a:t>
            </a:r>
          </a:p>
          <a:p>
            <a:r>
              <a:rPr lang="mn-MN" sz="1400" b="1" dirty="0"/>
              <a:t>Насос:</a:t>
            </a:r>
            <a:r>
              <a:rPr lang="mn-MN" sz="1400" dirty="0"/>
              <a:t> К200-150-315 марк, 3 ширхэг (2 нь ажиллаж, 1 нь нөөцөд), тус бүр 45 кВт.</a:t>
            </a:r>
          </a:p>
          <a:p>
            <a:r>
              <a:rPr lang="mn-MN" sz="1400" b="1" dirty="0"/>
              <a:t>Хоолой:</a:t>
            </a:r>
            <a:r>
              <a:rPr lang="mn-MN" sz="1400" dirty="0"/>
              <a:t> дотоод диаметр 400 мм-ийн </a:t>
            </a:r>
            <a:r>
              <a:rPr lang="en-US" sz="1400" dirty="0"/>
              <a:t>HDPE (</a:t>
            </a:r>
            <a:r>
              <a:rPr lang="mn-MN" sz="1400" dirty="0"/>
              <a:t>өндөр нягттай полиэтилен), 450 м.</a:t>
            </a:r>
          </a:p>
          <a:p>
            <a:r>
              <a:rPr lang="mn-MN" sz="1400" b="1" dirty="0"/>
              <a:t>Далан:</a:t>
            </a:r>
            <a:r>
              <a:rPr lang="mn-MN" sz="1400" dirty="0"/>
              <a:t> 475 м урт.</a:t>
            </a:r>
          </a:p>
          <a:p>
            <a:r>
              <a:rPr lang="mn-MN" sz="1400" b="1" dirty="0"/>
              <a:t>Геомембран:</a:t>
            </a:r>
            <a:r>
              <a:rPr lang="mn-MN" sz="1400" dirty="0"/>
              <a:t> 6,266 м². </a:t>
            </a:r>
          </a:p>
          <a:p>
            <a:r>
              <a:rPr lang="mn-MN" sz="1400" b="1" dirty="0"/>
              <a:t>Цахилгаан:</a:t>
            </a:r>
            <a:r>
              <a:rPr lang="mn-MN" sz="1400" dirty="0"/>
              <a:t> 77.8 мян.кВт.ц.</a:t>
            </a:r>
          </a:p>
        </p:txBody>
      </p:sp>
      <p:pic>
        <p:nvPicPr>
          <p:cNvPr id="4" name="Picture 3">
            <a:extLst>
              <a:ext uri="{FF2B5EF4-FFF2-40B4-BE49-F238E27FC236}">
                <a16:creationId xmlns:a16="http://schemas.microsoft.com/office/drawing/2014/main" id="{8055ECDE-73FD-5950-060A-67320188BC83}"/>
              </a:ext>
            </a:extLst>
          </p:cNvPr>
          <p:cNvPicPr>
            <a:picLocks noChangeAspect="1"/>
          </p:cNvPicPr>
          <p:nvPr/>
        </p:nvPicPr>
        <p:blipFill>
          <a:blip r:embed="rId4"/>
          <a:stretch>
            <a:fillRect/>
          </a:stretch>
        </p:blipFill>
        <p:spPr>
          <a:xfrm>
            <a:off x="911587" y="1827113"/>
            <a:ext cx="6072812" cy="4354587"/>
          </a:xfrm>
          <a:prstGeom prst="rect">
            <a:avLst/>
          </a:prstGeom>
        </p:spPr>
      </p:pic>
    </p:spTree>
    <p:extLst>
      <p:ext uri="{BB962C8B-B14F-4D97-AF65-F5344CB8AC3E}">
        <p14:creationId xmlns:p14="http://schemas.microsoft.com/office/powerpoint/2010/main" val="1806154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1790128420094]">
  <a:themeElements>
    <a:clrScheme name="Keeston Dark">
      <a:dk1>
        <a:srgbClr val="F2F2F0"/>
      </a:dk1>
      <a:lt1>
        <a:srgbClr val="1C1C1E"/>
      </a:lt1>
      <a:dk2>
        <a:srgbClr val="FFFFFF"/>
      </a:dk2>
      <a:lt2>
        <a:srgbClr val="2C2C30"/>
      </a:lt2>
      <a:accent1>
        <a:srgbClr val="F5E614"/>
      </a:accent1>
      <a:accent2>
        <a:srgbClr val="8C8C92"/>
      </a:accent2>
      <a:accent3>
        <a:srgbClr val="D9A21B"/>
      </a:accent3>
      <a:accent4>
        <a:srgbClr val="5E8FB8"/>
      </a:accent4>
      <a:accent5>
        <a:srgbClr val="6FA86A"/>
      </a:accent5>
      <a:accent6>
        <a:srgbClr val="B8B8BC"/>
      </a:accent6>
      <a:hlink>
        <a:srgbClr val="F5E614"/>
      </a:hlink>
      <a:folHlink>
        <a:srgbClr val="D9A21B"/>
      </a:folHlink>
    </a:clrScheme>
    <a:fontScheme name="Keeston">
      <a:majorFont>
        <a:latin typeface="Bahnschrif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eeston [1790128708652]">
  <a:themeElements>
    <a:clrScheme name="Keeston Dark">
      <a:dk1>
        <a:srgbClr val="F2F2F0"/>
      </a:dk1>
      <a:lt1>
        <a:srgbClr val="1C1C1E"/>
      </a:lt1>
      <a:dk2>
        <a:srgbClr val="FFFFFF"/>
      </a:dk2>
      <a:lt2>
        <a:srgbClr val="2C2C30"/>
      </a:lt2>
      <a:accent1>
        <a:srgbClr val="F5E614"/>
      </a:accent1>
      <a:accent2>
        <a:srgbClr val="8C8C92"/>
      </a:accent2>
      <a:accent3>
        <a:srgbClr val="D9A21B"/>
      </a:accent3>
      <a:accent4>
        <a:srgbClr val="5E8FB8"/>
      </a:accent4>
      <a:accent5>
        <a:srgbClr val="6FA86A"/>
      </a:accent5>
      <a:accent6>
        <a:srgbClr val="B8B8BC"/>
      </a:accent6>
      <a:hlink>
        <a:srgbClr val="F5E614"/>
      </a:hlink>
      <a:folHlink>
        <a:srgbClr val="D9A21B"/>
      </a:folHlink>
    </a:clrScheme>
    <a:fontScheme name="Keeston">
      <a:majorFont>
        <a:latin typeface="Bahnschrif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eeston [1790128737936]">
  <a:themeElements>
    <a:clrScheme name="Keeston Dark">
      <a:dk1>
        <a:srgbClr val="F2F2F0"/>
      </a:dk1>
      <a:lt1>
        <a:srgbClr val="1C1C1E"/>
      </a:lt1>
      <a:dk2>
        <a:srgbClr val="FFFFFF"/>
      </a:dk2>
      <a:lt2>
        <a:srgbClr val="2C2C30"/>
      </a:lt2>
      <a:accent1>
        <a:srgbClr val="F5E614"/>
      </a:accent1>
      <a:accent2>
        <a:srgbClr val="8C8C92"/>
      </a:accent2>
      <a:accent3>
        <a:srgbClr val="D9A21B"/>
      </a:accent3>
      <a:accent4>
        <a:srgbClr val="5E8FB8"/>
      </a:accent4>
      <a:accent5>
        <a:srgbClr val="6FA86A"/>
      </a:accent5>
      <a:accent6>
        <a:srgbClr val="B8B8BC"/>
      </a:accent6>
      <a:hlink>
        <a:srgbClr val="F5E614"/>
      </a:hlink>
      <a:folHlink>
        <a:srgbClr val="D9A21B"/>
      </a:folHlink>
    </a:clrScheme>
    <a:fontScheme name="Keeston">
      <a:majorFont>
        <a:latin typeface="Bahnschrif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eeston [1790128878751]">
  <a:themeElements>
    <a:clrScheme name="Keeston Dark">
      <a:dk1>
        <a:srgbClr val="F2F2F0"/>
      </a:dk1>
      <a:lt1>
        <a:srgbClr val="1C1C1E"/>
      </a:lt1>
      <a:dk2>
        <a:srgbClr val="FFFFFF"/>
      </a:dk2>
      <a:lt2>
        <a:srgbClr val="2C2C30"/>
      </a:lt2>
      <a:accent1>
        <a:srgbClr val="F5E614"/>
      </a:accent1>
      <a:accent2>
        <a:srgbClr val="8C8C92"/>
      </a:accent2>
      <a:accent3>
        <a:srgbClr val="D9A21B"/>
      </a:accent3>
      <a:accent4>
        <a:srgbClr val="5E8FB8"/>
      </a:accent4>
      <a:accent5>
        <a:srgbClr val="6FA86A"/>
      </a:accent5>
      <a:accent6>
        <a:srgbClr val="B8B8BC"/>
      </a:accent6>
      <a:hlink>
        <a:srgbClr val="F5E614"/>
      </a:hlink>
      <a:folHlink>
        <a:srgbClr val="D9A21B"/>
      </a:folHlink>
    </a:clrScheme>
    <a:fontScheme name="Keeston">
      <a:majorFont>
        <a:latin typeface="Bahnschrif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Keeston [1790128901313]">
  <a:themeElements>
    <a:clrScheme name="Keeston Dark">
      <a:dk1>
        <a:srgbClr val="F2F2F0"/>
      </a:dk1>
      <a:lt1>
        <a:srgbClr val="1C1C1E"/>
      </a:lt1>
      <a:dk2>
        <a:srgbClr val="FFFFFF"/>
      </a:dk2>
      <a:lt2>
        <a:srgbClr val="2C2C30"/>
      </a:lt2>
      <a:accent1>
        <a:srgbClr val="F5E614"/>
      </a:accent1>
      <a:accent2>
        <a:srgbClr val="8C8C92"/>
      </a:accent2>
      <a:accent3>
        <a:srgbClr val="D9A21B"/>
      </a:accent3>
      <a:accent4>
        <a:srgbClr val="5E8FB8"/>
      </a:accent4>
      <a:accent5>
        <a:srgbClr val="6FA86A"/>
      </a:accent5>
      <a:accent6>
        <a:srgbClr val="B8B8BC"/>
      </a:accent6>
      <a:hlink>
        <a:srgbClr val="F5E614"/>
      </a:hlink>
      <a:folHlink>
        <a:srgbClr val="D9A21B"/>
      </a:folHlink>
    </a:clrScheme>
    <a:fontScheme name="Keeston">
      <a:majorFont>
        <a:latin typeface="Bahnschrif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Keeston [1790129077466]">
  <a:themeElements>
    <a:clrScheme name="Keeston Dark">
      <a:dk1>
        <a:srgbClr val="F2F2F0"/>
      </a:dk1>
      <a:lt1>
        <a:srgbClr val="1C1C1E"/>
      </a:lt1>
      <a:dk2>
        <a:srgbClr val="FFFFFF"/>
      </a:dk2>
      <a:lt2>
        <a:srgbClr val="2C2C30"/>
      </a:lt2>
      <a:accent1>
        <a:srgbClr val="F5E614"/>
      </a:accent1>
      <a:accent2>
        <a:srgbClr val="8C8C92"/>
      </a:accent2>
      <a:accent3>
        <a:srgbClr val="D9A21B"/>
      </a:accent3>
      <a:accent4>
        <a:srgbClr val="5E8FB8"/>
      </a:accent4>
      <a:accent5>
        <a:srgbClr val="6FA86A"/>
      </a:accent5>
      <a:accent6>
        <a:srgbClr val="B8B8BC"/>
      </a:accent6>
      <a:hlink>
        <a:srgbClr val="F5E614"/>
      </a:hlink>
      <a:folHlink>
        <a:srgbClr val="D9A21B"/>
      </a:folHlink>
    </a:clrScheme>
    <a:fontScheme name="Keeston">
      <a:majorFont>
        <a:latin typeface="Bahnschrif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Keeston [1790129143176]">
  <a:themeElements>
    <a:clrScheme name="Keeston Dark">
      <a:dk1>
        <a:srgbClr val="F2F2F0"/>
      </a:dk1>
      <a:lt1>
        <a:srgbClr val="1C1C1E"/>
      </a:lt1>
      <a:dk2>
        <a:srgbClr val="FFFFFF"/>
      </a:dk2>
      <a:lt2>
        <a:srgbClr val="2C2C30"/>
      </a:lt2>
      <a:accent1>
        <a:srgbClr val="F5E614"/>
      </a:accent1>
      <a:accent2>
        <a:srgbClr val="8C8C92"/>
      </a:accent2>
      <a:accent3>
        <a:srgbClr val="D9A21B"/>
      </a:accent3>
      <a:accent4>
        <a:srgbClr val="5E8FB8"/>
      </a:accent4>
      <a:accent5>
        <a:srgbClr val="6FA86A"/>
      </a:accent5>
      <a:accent6>
        <a:srgbClr val="B8B8BC"/>
      </a:accent6>
      <a:hlink>
        <a:srgbClr val="F5E614"/>
      </a:hlink>
      <a:folHlink>
        <a:srgbClr val="D9A21B"/>
      </a:folHlink>
    </a:clrScheme>
    <a:fontScheme name="Keeston">
      <a:majorFont>
        <a:latin typeface="Bahnschrif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Keeston [1790129153724]">
  <a:themeElements>
    <a:clrScheme name="Keeston Dark">
      <a:dk1>
        <a:srgbClr val="F2F2F0"/>
      </a:dk1>
      <a:lt1>
        <a:srgbClr val="1C1C1E"/>
      </a:lt1>
      <a:dk2>
        <a:srgbClr val="FFFFFF"/>
      </a:dk2>
      <a:lt2>
        <a:srgbClr val="2C2C30"/>
      </a:lt2>
      <a:accent1>
        <a:srgbClr val="F5E614"/>
      </a:accent1>
      <a:accent2>
        <a:srgbClr val="8C8C92"/>
      </a:accent2>
      <a:accent3>
        <a:srgbClr val="D9A21B"/>
      </a:accent3>
      <a:accent4>
        <a:srgbClr val="5E8FB8"/>
      </a:accent4>
      <a:accent5>
        <a:srgbClr val="6FA86A"/>
      </a:accent5>
      <a:accent6>
        <a:srgbClr val="B8B8BC"/>
      </a:accent6>
      <a:hlink>
        <a:srgbClr val="F5E614"/>
      </a:hlink>
      <a:folHlink>
        <a:srgbClr val="D9A21B"/>
      </a:folHlink>
    </a:clrScheme>
    <a:fontScheme name="Keeston">
      <a:majorFont>
        <a:latin typeface="Bahnschrif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Keeston [1790129170219]">
  <a:themeElements>
    <a:clrScheme name="Keeston Dark">
      <a:dk1>
        <a:srgbClr val="F2F2F0"/>
      </a:dk1>
      <a:lt1>
        <a:srgbClr val="1C1C1E"/>
      </a:lt1>
      <a:dk2>
        <a:srgbClr val="FFFFFF"/>
      </a:dk2>
      <a:lt2>
        <a:srgbClr val="2C2C30"/>
      </a:lt2>
      <a:accent1>
        <a:srgbClr val="F5E614"/>
      </a:accent1>
      <a:accent2>
        <a:srgbClr val="8C8C92"/>
      </a:accent2>
      <a:accent3>
        <a:srgbClr val="D9A21B"/>
      </a:accent3>
      <a:accent4>
        <a:srgbClr val="5E8FB8"/>
      </a:accent4>
      <a:accent5>
        <a:srgbClr val="6FA86A"/>
      </a:accent5>
      <a:accent6>
        <a:srgbClr val="B8B8BC"/>
      </a:accent6>
      <a:hlink>
        <a:srgbClr val="F5E614"/>
      </a:hlink>
      <a:folHlink>
        <a:srgbClr val="D9A21B"/>
      </a:folHlink>
    </a:clrScheme>
    <a:fontScheme name="Keeston">
      <a:majorFont>
        <a:latin typeface="Bahnschrif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Keeston [1790129208848]">
  <a:themeElements>
    <a:clrScheme name="Keeston Dark">
      <a:dk1>
        <a:srgbClr val="F2F2F0"/>
      </a:dk1>
      <a:lt1>
        <a:srgbClr val="1C1C1E"/>
      </a:lt1>
      <a:dk2>
        <a:srgbClr val="FFFFFF"/>
      </a:dk2>
      <a:lt2>
        <a:srgbClr val="2C2C30"/>
      </a:lt2>
      <a:accent1>
        <a:srgbClr val="F5E614"/>
      </a:accent1>
      <a:accent2>
        <a:srgbClr val="8C8C92"/>
      </a:accent2>
      <a:accent3>
        <a:srgbClr val="D9A21B"/>
      </a:accent3>
      <a:accent4>
        <a:srgbClr val="5E8FB8"/>
      </a:accent4>
      <a:accent5>
        <a:srgbClr val="6FA86A"/>
      </a:accent5>
      <a:accent6>
        <a:srgbClr val="B8B8BC"/>
      </a:accent6>
      <a:hlink>
        <a:srgbClr val="F5E614"/>
      </a:hlink>
      <a:folHlink>
        <a:srgbClr val="D9A21B"/>
      </a:folHlink>
    </a:clrScheme>
    <a:fontScheme name="Keeston">
      <a:majorFont>
        <a:latin typeface="Bahnschrif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Keeston [1790130337643]">
  <a:themeElements>
    <a:clrScheme name="Keeston Dark">
      <a:dk1>
        <a:srgbClr val="F2F2F0"/>
      </a:dk1>
      <a:lt1>
        <a:srgbClr val="1C1C1E"/>
      </a:lt1>
      <a:dk2>
        <a:srgbClr val="FFFFFF"/>
      </a:dk2>
      <a:lt2>
        <a:srgbClr val="2C2C30"/>
      </a:lt2>
      <a:accent1>
        <a:srgbClr val="F5E614"/>
      </a:accent1>
      <a:accent2>
        <a:srgbClr val="8C8C92"/>
      </a:accent2>
      <a:accent3>
        <a:srgbClr val="D9A21B"/>
      </a:accent3>
      <a:accent4>
        <a:srgbClr val="5E8FB8"/>
      </a:accent4>
      <a:accent5>
        <a:srgbClr val="6FA86A"/>
      </a:accent5>
      <a:accent6>
        <a:srgbClr val="B8B8BC"/>
      </a:accent6>
      <a:hlink>
        <a:srgbClr val="F5E614"/>
      </a:hlink>
      <a:folHlink>
        <a:srgbClr val="D9A21B"/>
      </a:folHlink>
    </a:clrScheme>
    <a:fontScheme name="Keeston">
      <a:majorFont>
        <a:latin typeface="Bahnschrif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Keeston [1790131591556]">
  <a:themeElements>
    <a:clrScheme name="Keeston Dark">
      <a:dk1>
        <a:srgbClr val="F2F2F0"/>
      </a:dk1>
      <a:lt1>
        <a:srgbClr val="1C1C1E"/>
      </a:lt1>
      <a:dk2>
        <a:srgbClr val="FFFFFF"/>
      </a:dk2>
      <a:lt2>
        <a:srgbClr val="2C2C30"/>
      </a:lt2>
      <a:accent1>
        <a:srgbClr val="F5E614"/>
      </a:accent1>
      <a:accent2>
        <a:srgbClr val="8C8C92"/>
      </a:accent2>
      <a:accent3>
        <a:srgbClr val="D9A21B"/>
      </a:accent3>
      <a:accent4>
        <a:srgbClr val="5E8FB8"/>
      </a:accent4>
      <a:accent5>
        <a:srgbClr val="6FA86A"/>
      </a:accent5>
      <a:accent6>
        <a:srgbClr val="B8B8BC"/>
      </a:accent6>
      <a:hlink>
        <a:srgbClr val="F5E614"/>
      </a:hlink>
      <a:folHlink>
        <a:srgbClr val="D9A21B"/>
      </a:folHlink>
    </a:clrScheme>
    <a:fontScheme name="Keeston">
      <a:majorFont>
        <a:latin typeface="Bahnschrif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1d46880-e630-4eae-b31e-a382dcbe0a17}">
  <we:reference id="WA200010001" version="1.0.0.1" store="en-US" storeType="OMEX"/>
  <we:alternateReferences/>
  <we:properties>
    <we:property name="Microsoft.Office.CampaignId" value="&quot;none&quot;"/>
    <we:property name="claude.fileId" value="&quot;32a5d543-61e6-4126-8612-9fd26e448aeb&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D401524DC532D42A0E0ED886331A72B" ma:contentTypeVersion="13" ma:contentTypeDescription="Create a new document." ma:contentTypeScope="" ma:versionID="d936d863d335d354da51eb78ca1ae338">
  <xsd:schema xmlns:xsd="http://www.w3.org/2001/XMLSchema" xmlns:xs="http://www.w3.org/2001/XMLSchema" xmlns:p="http://schemas.microsoft.com/office/2006/metadata/properties" xmlns:ns2="f577acbf-5b0b-4b4f-9948-268e97f8d3a4" xmlns:ns3="b1e4d6ee-9f6f-43f8-a618-24f3d84da28f" targetNamespace="http://schemas.microsoft.com/office/2006/metadata/properties" ma:root="true" ma:fieldsID="5fbac08d56b1b04aa33acbc31e882ce9" ns2:_="" ns3:_="">
    <xsd:import namespace="f577acbf-5b0b-4b4f-9948-268e97f8d3a4"/>
    <xsd:import namespace="b1e4d6ee-9f6f-43f8-a618-24f3d84da28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3:LastSharedByUser" minOccurs="0"/>
                <xsd:element ref="ns3:LastSharedByTime" minOccurs="0"/>
                <xsd:element ref="ns2:Document_x0020_Purpose" minOccurs="0"/>
                <xsd:element ref="ns2:Initiatives" minOccurs="0"/>
                <xsd:element ref="ns2:MediaServiceDateTaken" minOccurs="0"/>
                <xsd:element ref="ns2:MediaServiceAutoTags"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77acbf-5b0b-4b4f-9948-268e97f8d3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Document_x0020_Purpose" ma:index="14" nillable="true" ma:displayName="Document Purpose" ma:default="Informational" ma:format="Dropdown" ma:internalName="Document_x0020_Purpose">
      <xsd:simpleType>
        <xsd:restriction base="dms:Choice">
          <xsd:enumeration value="Informational"/>
          <xsd:enumeration value="Feature Spec"/>
          <xsd:enumeration value="Engineering Design"/>
          <xsd:enumeration value="Planning"/>
        </xsd:restriction>
      </xsd:simpleType>
    </xsd:element>
    <xsd:element name="Initiatives" ma:index="15" nillable="true" ma:displayName="Initiatives" ma:description="List of initiatives related to this document" ma:internalName="Initiatives">
      <xsd:complexType>
        <xsd:complexContent>
          <xsd:extension base="dms:MultiChoice">
            <xsd:sequence>
              <xsd:element name="Value" maxOccurs="unbounded" minOccurs="0" nillable="true">
                <xsd:simpleType>
                  <xsd:restriction base="dms:Choice">
                    <xsd:enumeration value="Add-in MAU"/>
                    <xsd:enumeration value="Custom Functions"/>
                    <xsd:enumeration value="Data &amp; Analytics"/>
                    <xsd:enumeration value="DevEx: Portals &amp; Programs"/>
                    <xsd:enumeration value="DevEx: Tools &amp; Libraries"/>
                    <xsd:enumeration value="Engineering"/>
                    <xsd:enumeration value="Excel API"/>
                    <xsd:enumeration value="In-Market Support"/>
                    <xsd:enumeration value="Maker Access"/>
                    <xsd:enumeration value="SDX Runtime &amp; Partners"/>
                    <xsd:enumeration value="SDX Service Delivery"/>
                    <xsd:enumeration value="SDX API &amp; Pipeline"/>
                    <xsd:enumeration value="Shield &amp; OCE"/>
                  </xsd:restriction>
                </xsd:simpleType>
              </xsd:element>
            </xsd:sequence>
          </xsd:extension>
        </xsd:complexContent>
      </xsd:complexType>
    </xsd:element>
    <xsd:element name="MediaServiceDateTaken" ma:index="16" nillable="true" ma:displayName="MediaServiceDateTaken" ma:hidden="true" ma:internalName="MediaServiceDateTaken" ma:readOnly="true">
      <xsd:simpleType>
        <xsd:restriction base="dms:Text"/>
      </xsd:simpleType>
    </xsd:element>
    <xsd:element name="MediaServiceAutoTags" ma:index="17" nillable="true" ma:displayName="MediaServiceAutoTags" ma:internalName="MediaServiceAutoTags" ma:readOnly="true">
      <xsd:simpleType>
        <xsd:restriction base="dms:Text"/>
      </xsd:simpleType>
    </xsd:element>
    <xsd:element name="MediaServiceOCR" ma:index="18" nillable="true" ma:displayName="MediaServiceOCR" ma:internalName="MediaServiceOCR" ma:readOnly="true">
      <xsd:simpleType>
        <xsd:restriction base="dms:Note">
          <xsd:maxLength value="255"/>
        </xsd:restriction>
      </xsd:simpleType>
    </xsd:element>
    <xsd:element name="MediaServiceLocation" ma:index="19" nillable="true" ma:displayName="MediaServic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e4d6ee-9f6f-43f8-a618-24f3d84da28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LastSharedByUser" ma:index="12" nillable="true" ma:displayName="Last Shared By User" ma:hidden="true" ma:internalName="LastSharedByUser" ma:readOnly="true">
      <xsd:simpleType>
        <xsd:restriction base="dms:Note"/>
      </xsd:simpleType>
    </xsd:element>
    <xsd:element name="LastSharedByTime" ma:index="13"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Document_x0020_Purpose xmlns="f577acbf-5b0b-4b4f-9948-268e97f8d3a4">Informational</Document_x0020_Purpose>
    <Initiatives xmlns="f577acbf-5b0b-4b4f-9948-268e97f8d3a4"/>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9EAE08-AAD0-49B9-BF66-164C225CC5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577acbf-5b0b-4b4f-9948-268e97f8d3a4"/>
    <ds:schemaRef ds:uri="b1e4d6ee-9f6f-43f8-a618-24f3d84da2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17AB1FA-2F28-4684-9230-02ACEB6C0B0A}">
  <ds:schemaRefs>
    <ds:schemaRef ds:uri="b1e4d6ee-9f6f-43f8-a618-24f3d84da28f"/>
    <ds:schemaRef ds:uri="http://purl.org/dc/terms/"/>
    <ds:schemaRef ds:uri="http://schemas.openxmlformats.org/package/2006/metadata/core-properties"/>
    <ds:schemaRef ds:uri="f577acbf-5b0b-4b4f-9948-268e97f8d3a4"/>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E21AFCC0-734A-4A90-A597-A1CB34860DC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3712</TotalTime>
  <Words>2260</Words>
  <Application>Microsoft Office PowerPoint</Application>
  <PresentationFormat>Widescreen</PresentationFormat>
  <Paragraphs>798</Paragraphs>
  <Slides>23</Slides>
  <Notes>4</Notes>
  <HiddenSlides>0</HiddenSlides>
  <MMClips>0</MMClips>
  <ScaleCrop>false</ScaleCrop>
  <HeadingPairs>
    <vt:vector size="6" baseType="variant">
      <vt:variant>
        <vt:lpstr>Fonts Used</vt:lpstr>
      </vt:variant>
      <vt:variant>
        <vt:i4>4</vt:i4>
      </vt:variant>
      <vt:variant>
        <vt:lpstr>Theme</vt:lpstr>
      </vt:variant>
      <vt:variant>
        <vt:i4>14</vt:i4>
      </vt:variant>
      <vt:variant>
        <vt:lpstr>Slide Titles</vt:lpstr>
      </vt:variant>
      <vt:variant>
        <vt:i4>23</vt:i4>
      </vt:variant>
    </vt:vector>
  </HeadingPairs>
  <TitlesOfParts>
    <vt:vector size="41" baseType="lpstr">
      <vt:lpstr>Arial</vt:lpstr>
      <vt:lpstr>Bahnschrift</vt:lpstr>
      <vt:lpstr>Calibri</vt:lpstr>
      <vt:lpstr>Calibri Light</vt:lpstr>
      <vt:lpstr>Office Theme</vt:lpstr>
      <vt:lpstr>Office Theme [1790128420094]</vt:lpstr>
      <vt:lpstr>Keeston [1790128708652]</vt:lpstr>
      <vt:lpstr>Keeston [1790128737936]</vt:lpstr>
      <vt:lpstr>Keeston [1790128878751]</vt:lpstr>
      <vt:lpstr>Keeston [1790128901313]</vt:lpstr>
      <vt:lpstr>Keeston [1790129077466]</vt:lpstr>
      <vt:lpstr>Keeston [1790129143176]</vt:lpstr>
      <vt:lpstr>Keeston [1790129153724]</vt:lpstr>
      <vt:lpstr>Keeston [1790129170219]</vt:lpstr>
      <vt:lpstr>Keeston [1790129208848]</vt:lpstr>
      <vt:lpstr>Keeston [1790130337643]</vt:lpstr>
      <vt:lpstr>Keeston [1790131591556]</vt:lpstr>
      <vt:lpstr>1_Office Theme</vt:lpstr>
      <vt:lpstr>Баруун Хужхааны Жалга-1</vt:lpstr>
      <vt:lpstr>Үндсэн үзүүлэлтүүд</vt:lpstr>
      <vt:lpstr>Тодотгох үндэслэл</vt:lpstr>
      <vt:lpstr>Ордын байршил, геологийн судалгаа</vt:lpstr>
      <vt:lpstr>Ордын нөөц</vt:lpstr>
      <vt:lpstr>Нөөцийн блокийн байршил</vt:lpstr>
      <vt:lpstr>Авто тээвэртэй, дотоод болон гадаад овоолготой ашиглалтын систем</vt:lpstr>
      <vt:lpstr>Ил уурхайн хүрээ, календарь төлөвлөлт</vt:lpstr>
      <vt:lpstr>Технологи туршилтын үр дүн</vt:lpstr>
      <vt:lpstr>Баяжуулалтын технологи</vt:lpstr>
      <vt:lpstr>Дэд бүтэц</vt:lpstr>
      <vt:lpstr>Ажиллах хүчин ба Хөдөлмөр хамгаалал</vt:lpstr>
      <vt:lpstr>Уурхайн хаалт, нөхөн сэргээлт</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dc:creator>
  <cp:lastModifiedBy>uurka</cp:lastModifiedBy>
  <cp:revision>58</cp:revision>
  <dcterms:created xsi:type="dcterms:W3CDTF">2018-06-07T21:39:02Z</dcterms:created>
  <dcterms:modified xsi:type="dcterms:W3CDTF">2026-10-29T05:30:12Z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0x010100CD401524DC532D42A0E0ED886331A72B</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t-dahop@microsoft.com</vt:lpwstr>
  </property>
  <property fmtid="{D5CDD505-2E9C-101B-9397-08002B2CF9AE}" pid="6" name="MSIP_Label_f42aa342-8706-4288-bd11-ebb85995028c_SetDate">
    <vt:lpwstr>2018-06-18T13:45:27.3782680Z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